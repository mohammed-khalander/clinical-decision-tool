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9144000"/>
  <p:notesSz cx="6858000" cy="9144000"/>
  <p:embeddedFontLst>
    <p:embeddedFont>
      <p:font typeface="Roboto"/>
      <p:regular r:id="rId54"/>
      <p:bold r:id="rId55"/>
      <p:italic r:id="rId56"/>
      <p:boldItalic r:id="rId57"/>
    </p:embeddedFont>
    <p:embeddedFont>
      <p:font typeface="Corbel"/>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2" roundtripDataSignature="AMtx7mhIUO2Nyn27IZr8mudPDuesbWln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4A68C9-5836-4588-8373-21824B8CE76E}">
  <a:tblStyle styleId="{BC4A68C9-5836-4588-8373-21824B8CE76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customschemas.google.com/relationships/presentationmetadata" Target="metadata"/><Relationship Id="rId61" Type="http://schemas.openxmlformats.org/officeDocument/2006/relationships/font" Target="fonts/Corbel-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Corbel-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Roboto-bold.fntdata"/><Relationship Id="rId10" Type="http://schemas.openxmlformats.org/officeDocument/2006/relationships/slide" Target="slides/slide4.xml"/><Relationship Id="rId54" Type="http://schemas.openxmlformats.org/officeDocument/2006/relationships/font" Target="fonts/Roboto-regular.fntdata"/><Relationship Id="rId13" Type="http://schemas.openxmlformats.org/officeDocument/2006/relationships/slide" Target="slides/slide7.xml"/><Relationship Id="rId57" Type="http://schemas.openxmlformats.org/officeDocument/2006/relationships/font" Target="fonts/Roboto-boldItalic.fntdata"/><Relationship Id="rId12" Type="http://schemas.openxmlformats.org/officeDocument/2006/relationships/slide" Target="slides/slide6.xml"/><Relationship Id="rId56" Type="http://schemas.openxmlformats.org/officeDocument/2006/relationships/font" Target="fonts/Roboto-italic.fntdata"/><Relationship Id="rId15" Type="http://schemas.openxmlformats.org/officeDocument/2006/relationships/slide" Target="slides/slide9.xml"/><Relationship Id="rId59" Type="http://schemas.openxmlformats.org/officeDocument/2006/relationships/font" Target="fonts/Corbel-bold.fntdata"/><Relationship Id="rId14" Type="http://schemas.openxmlformats.org/officeDocument/2006/relationships/slide" Target="slides/slide8.xml"/><Relationship Id="rId58" Type="http://schemas.openxmlformats.org/officeDocument/2006/relationships/font" Target="fonts/Corbel-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Arpana</a:t>
            </a:r>
            <a:endParaRPr/>
          </a:p>
        </p:txBody>
      </p:sp>
      <p:sp>
        <p:nvSpPr>
          <p:cNvPr id="282" name="Google Shape;282;p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3" name="Google Shape;283;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84" name="Google Shape;28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285" name="Google Shape;285;p1: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Niha</a:t>
            </a:r>
            <a:endParaRPr/>
          </a:p>
        </p:txBody>
      </p:sp>
      <p:sp>
        <p:nvSpPr>
          <p:cNvPr id="294" name="Google Shape;294;p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5" name="Google Shape;295;p3: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296" name="Google Shape;296;p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7" name="Google Shape;29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4: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09" name="Google Shape;309;p4: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310" name="Google Shape;310;p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11" name="Google Shape;311;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322" name="Google Shape;322;p5: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3" name="Google Shape;323;p5: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324" name="Google Shape;324;p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5" name="Google Shape;325;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338" name="Google Shape;338;p6: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39" name="Google Shape;339;p6: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340" name="Google Shape;340;p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41" name="Google Shape;341;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351" name="Google Shape;351;p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2" name="Google Shape;352;p7: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353" name="Google Shape;353;p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4" name="Google Shape;35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3" name="Google Shape;36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7c4491bc67_0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g37c4491bc67_0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7c4491bc67_0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385" name="Google Shape;385;p9: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86" name="Google Shape;386;p9: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387" name="Google Shape;387;p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88" name="Google Shape;388;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7c4491bc67_5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7c4491bc67_5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400" name="Google Shape;400;g37c4491bc67_5_2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01" name="Google Shape;401;g37c4491bc67_5_2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402" name="Google Shape;402;g37c4491bc67_5_2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03" name="Google Shape;403;g37c4491bc67_5_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7c4491bc67_5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7c4491bc67_5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412" name="Google Shape;412;g37c4491bc67_5_5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13" name="Google Shape;413;g37c4491bc67_5_5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414" name="Google Shape;414;g37c4491bc67_5_5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15" name="Google Shape;415;g37c4491bc67_5_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7c4491bc67_5_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37c4491bc67_5_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427" name="Google Shape;427;g37c4491bc67_5_36: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28" name="Google Shape;428;g37c4491bc67_5_36: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429" name="Google Shape;429;g37c4491bc67_5_3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30" name="Google Shape;430;g37c4491bc67_5_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7d255ce0cd_1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7d255ce0cd_1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37d255ce0cd_1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449" name="Google Shape;449;p1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50" name="Google Shape;450;p1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451" name="Google Shape;451;p1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52" name="Google Shape;452;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7c4491bc67_1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7c4491bc67_1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37c4491bc67_1_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7c4491bc67_1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37c4491bc67_1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g37c4491bc67_1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7c4491bc67_8_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g37c4491bc67_8_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g37c4491bc67_8_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89" name="Google Shape;489;g37c4491bc67_8_3: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490" name="Google Shape;490;g37c4491bc67_8_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91" name="Google Shape;491;g37c4491bc67_8_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7c4491bc67_1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g37c4491bc67_1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0" name="Google Shape;500;g37c4491bc67_11_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01" name="Google Shape;501;g37c4491bc67_11_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502" name="Google Shape;502;g37c4491bc67_11_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03" name="Google Shape;503;g37c4491bc67_1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7c4491bc67_11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7c4491bc67_11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37c4491bc67_11_29: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15" name="Google Shape;515;g37c4491bc67_11_29: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516" name="Google Shape;516;g37c4491bc67_11_2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517" name="Google Shape;517;g37c4491bc67_11_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7c4491bc67_11_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g37c4491bc67_11_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g37c4491bc67_11_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7c4491bc67_11_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7c4491bc67_11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8" name="Google Shape;538;g37c4491bc67_11_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7c4491bc67_11_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g37c4491bc67_11_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g37c4491bc67_11_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7c4491bc67_11_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7c4491bc67_11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g37c4491bc67_11_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7c4491bc67_11_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37c4491bc67_11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7c4491bc67_11_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2" name="Google Shape;58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9e1144912c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9e1144912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g39e1144912c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9e1144912c_0_1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39e1144912c_0_1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01" name="Google Shape;601;g39e1144912c_0_17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02" name="Google Shape;602;g39e1144912c_0_177: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03" name="Google Shape;603;g39e1144912c_0_17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04" name="Google Shape;604;g39e1144912c_0_1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9e1144912c_0_3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9e1144912c_0_3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13" name="Google Shape;613;g39e1144912c_0_32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14" name="Google Shape;614;g39e1144912c_0_327: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15" name="Google Shape;615;g39e1144912c_0_32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16" name="Google Shape;616;g39e1144912c_0_3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9e1144912c_0_3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g39e1144912c_0_3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25" name="Google Shape;625;g39e1144912c_0_339: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26" name="Google Shape;626;g39e1144912c_0_339: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27" name="Google Shape;627;g39e1144912c_0_33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28" name="Google Shape;628;g39e1144912c_0_3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9e1144912c_0_3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g39e1144912c_0_3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37" name="Google Shape;637;g39e1144912c_0_35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38" name="Google Shape;638;g39e1144912c_0_35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39" name="Google Shape;639;g39e1144912c_0_35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40" name="Google Shape;640;g39e1144912c_0_3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9e1144912c_0_3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9e1144912c_0_3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49" name="Google Shape;649;g39e1144912c_0_36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50" name="Google Shape;650;g39e1144912c_0_361: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51" name="Google Shape;651;g39e1144912c_0_36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52" name="Google Shape;652;g39e1144912c_0_3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e44f340ae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g3ae44f340ae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61" name="Google Shape;661;g3ae44f340ae_1_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62" name="Google Shape;662;g3ae44f340ae_1_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63" name="Google Shape;663;g3ae44f340ae_1_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64" name="Google Shape;664;g3ae44f340ae_1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ae44f340ae_1_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g3ae44f340ae_1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73" name="Google Shape;673;g3ae44f340ae_1_15: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74" name="Google Shape;674;g3ae44f340ae_1_15: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75" name="Google Shape;675;g3ae44f340ae_1_1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76" name="Google Shape;676;g3ae44f340ae_1_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ae44f340ae_1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g3ae44f340ae_1_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85" name="Google Shape;685;g3ae44f340ae_1_29: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86" name="Google Shape;686;g3ae44f340ae_1_29: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87" name="Google Shape;687;g3ae44f340ae_1_29: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88" name="Google Shape;688;g3ae44f340ae_1_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ae44f340ae_1_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g3ae44f340ae_1_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697" name="Google Shape;697;g3ae44f340ae_1_4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698" name="Google Shape;698;g3ae44f340ae_1_41: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699" name="Google Shape;699;g3ae44f340ae_1_4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00" name="Google Shape;700;g3ae44f340ae_1_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ae44f340ae_1_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ae44f340ae_1_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09" name="Google Shape;709;g3ae44f340ae_1_5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10" name="Google Shape;710;g3ae44f340ae_1_53: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11" name="Google Shape;711;g3ae44f340ae_1_5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12" name="Google Shape;712;g3ae44f340ae_1_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ae44f340ae_1_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2" name="Google Shape;722;g3ae44f340ae_1_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23" name="Google Shape;723;g3ae44f340ae_1_68: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24" name="Google Shape;724;g3ae44f340ae_1_68: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25" name="Google Shape;725;g3ae44f340ae_1_6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26" name="Google Shape;726;g3ae44f340ae_1_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ae44f340ae_1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6" name="Google Shape;736;g3ae44f340ae_1_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37" name="Google Shape;737;g3ae44f340ae_1_82: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38" name="Google Shape;738;g3ae44f340ae_1_82: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39" name="Google Shape;739;g3ae44f340ae_1_8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40" name="Google Shape;740;g3ae44f340ae_1_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ae44f340ae_1_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0" name="Google Shape;750;g3ae44f340ae_1_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51" name="Google Shape;751;g3ae44f340ae_1_95: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52" name="Google Shape;752;g3ae44f340ae_1_95: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53" name="Google Shape;753;g3ae44f340ae_1_9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54" name="Google Shape;754;g3ae44f340ae_1_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ae44f340ae_1_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g3ae44f340ae_1_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65" name="Google Shape;765;g3ae44f340ae_1_110: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66" name="Google Shape;766;g3ae44f340ae_1_110: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67" name="Google Shape;767;g3ae44f340ae_1_11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68" name="Google Shape;768;g3ae44f340ae_1_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3ae44f340ae_1_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g3ae44f340ae_1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77" name="Google Shape;777;g3ae44f340ae_1_124: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78" name="Google Shape;778;g3ae44f340ae_1_124: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79" name="Google Shape;779;g3ae44f340ae_1_1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80" name="Google Shape;780;g3ae44f340ae_1_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ae44f340ae_1_1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g3ae44f340ae_1_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Pooja</a:t>
            </a:r>
            <a:endParaRPr/>
          </a:p>
        </p:txBody>
      </p:sp>
      <p:sp>
        <p:nvSpPr>
          <p:cNvPr id="790" name="Google Shape;790;g3ae44f340ae_1_136: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91" name="Google Shape;791;g3ae44f340ae_1_136: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Clr>
                <a:schemeClr val="dk1"/>
              </a:buClr>
              <a:buSzPts val="1400"/>
              <a:buFont typeface="Calibri"/>
              <a:buNone/>
            </a:pPr>
            <a:r>
              <a:rPr lang="en-US"/>
              <a:t>04-12-2021</a:t>
            </a:r>
            <a:endParaRPr/>
          </a:p>
        </p:txBody>
      </p:sp>
      <p:sp>
        <p:nvSpPr>
          <p:cNvPr id="792" name="Google Shape;792;g3ae44f340ae_1_13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1"/>
              </a:buClr>
              <a:buSzPts val="1400"/>
              <a:buFont typeface="Calibri"/>
              <a:buNone/>
            </a:pPr>
            <a:r>
              <a:t/>
            </a:r>
            <a:endParaRPr/>
          </a:p>
        </p:txBody>
      </p:sp>
      <p:sp>
        <p:nvSpPr>
          <p:cNvPr id="793" name="Google Shape;793;g3ae44f340ae_1_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1" name="Google Shape;80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2" name="Google Shape;802;p17: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03" name="Google Shape;803;p17: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804" name="Google Shape;804;p1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05" name="Google Shape;80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7c4491bc67_1_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3" name="Google Shape;813;g37c4491bc67_1_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4" name="Google Shape;814;g37c4491bc67_1_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7c4491bc67_1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g37c4491bc67_11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g37c4491bc67_11_1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24" name="Google Shape;824;g37c4491bc67_11_11: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825" name="Google Shape;825;g37c4491bc67_11_1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26" name="Google Shape;826;g37c4491bc67_11_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388758f81e8_5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4" name="Google Shape;834;g388758f81e8_5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g388758f81e8_5_16: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36" name="Google Shape;836;g388758f81e8_5_16:notes"/>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r>
              <a:rPr lang="en-US"/>
              <a:t>04-12-2021</a:t>
            </a:r>
            <a:endParaRPr/>
          </a:p>
        </p:txBody>
      </p:sp>
      <p:sp>
        <p:nvSpPr>
          <p:cNvPr id="837" name="Google Shape;837;g388758f81e8_5_1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838" name="Google Shape;838;g388758f81e8_5_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a:t>
            </a:r>
            <a:endParaRPr/>
          </a:p>
        </p:txBody>
      </p:sp>
      <p:sp>
        <p:nvSpPr>
          <p:cNvPr id="846" name="Google Shape;84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20"/>
          <p:cNvGrpSpPr/>
          <p:nvPr/>
        </p:nvGrpSpPr>
        <p:grpSpPr>
          <a:xfrm>
            <a:off x="203200" y="0"/>
            <a:ext cx="3778250" cy="6858001"/>
            <a:chOff x="203200" y="0"/>
            <a:chExt cx="3778250" cy="6858001"/>
          </a:xfrm>
        </p:grpSpPr>
        <p:sp>
          <p:nvSpPr>
            <p:cNvPr id="24" name="Google Shape;24;p20"/>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5" name="Google Shape;25;p20"/>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6" name="Google Shape;26;p20"/>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7" name="Google Shape;27;p20"/>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0B5982"/>
            </a:solidFill>
            <a:ln>
              <a:noFill/>
            </a:ln>
          </p:spPr>
        </p:sp>
        <p:sp>
          <p:nvSpPr>
            <p:cNvPr id="28" name="Google Shape;28;p20"/>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1186C3"/>
            </a:solidFill>
            <a:ln>
              <a:noFill/>
            </a:ln>
          </p:spPr>
        </p:sp>
        <p:sp>
          <p:nvSpPr>
            <p:cNvPr id="29" name="Google Shape;29;p20"/>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0" name="Google Shape;30;p20"/>
          <p:cNvSpPr txBox="1"/>
          <p:nvPr>
            <p:ph type="ctrTitle"/>
          </p:nvPr>
        </p:nvSpPr>
        <p:spPr>
          <a:xfrm>
            <a:off x="1739673" y="914401"/>
            <a:ext cx="6947127"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 type="subTitle"/>
          </p:nvPr>
        </p:nvSpPr>
        <p:spPr>
          <a:xfrm>
            <a:off x="2924238" y="4402666"/>
            <a:ext cx="5762563"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2" name="Google Shape;32;p20"/>
          <p:cNvSpPr txBox="1"/>
          <p:nvPr>
            <p:ph idx="10" type="dt"/>
          </p:nvPr>
        </p:nvSpPr>
        <p:spPr>
          <a:xfrm>
            <a:off x="7325773" y="6117336"/>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1" type="ftr"/>
          </p:nvPr>
        </p:nvSpPr>
        <p:spPr>
          <a:xfrm>
            <a:off x="3623733" y="6117336"/>
            <a:ext cx="360943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0"/>
          <p:cNvSpPr txBox="1"/>
          <p:nvPr>
            <p:ph idx="12" type="sldNum"/>
          </p:nvPr>
        </p:nvSpPr>
        <p:spPr>
          <a:xfrm>
            <a:off x="8275320" y="6117336"/>
            <a:ext cx="4114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ct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ctr">
              <a:spcBef>
                <a:spcPts val="0"/>
              </a:spcBef>
              <a:spcAft>
                <a:spcPts val="0"/>
              </a:spcAft>
              <a:buNone/>
            </a:pPr>
            <a:fld id="{00000000-1234-1234-1234-123412341234}" type="slidenum">
              <a:rPr lang="en-US"/>
              <a:t>‹#›</a:t>
            </a:fld>
            <a:endParaRPr/>
          </a:p>
        </p:txBody>
      </p:sp>
      <p:sp>
        <p:nvSpPr>
          <p:cNvPr id="35" name="Google Shape;35;p20"/>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6" name="Google Shape;36;p20"/>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1"/>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982133" y="2667000"/>
            <a:ext cx="7704667" cy="3332816"/>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0" name="Google Shape;40;p21"/>
          <p:cNvSpPr txBox="1"/>
          <p:nvPr>
            <p:ph idx="10" type="dt"/>
          </p:nvPr>
        </p:nvSpPr>
        <p:spPr>
          <a:xfrm>
            <a:off x="7344329" y="6108173"/>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1" type="ftr"/>
          </p:nvPr>
        </p:nvSpPr>
        <p:spPr>
          <a:xfrm>
            <a:off x="1972647" y="6108173"/>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 name="Shape 43"/>
        <p:cNvGrpSpPr/>
        <p:nvPr/>
      </p:nvGrpSpPr>
      <p:grpSpPr>
        <a:xfrm>
          <a:off x="0" y="0"/>
          <a:ext cx="0" cy="0"/>
          <a:chOff x="0" y="0"/>
          <a:chExt cx="0" cy="0"/>
        </a:xfrm>
      </p:grpSpPr>
      <p:sp>
        <p:nvSpPr>
          <p:cNvPr id="44" name="Google Shape;44;p22"/>
          <p:cNvSpPr txBox="1"/>
          <p:nvPr>
            <p:ph type="title"/>
          </p:nvPr>
        </p:nvSpPr>
        <p:spPr>
          <a:xfrm>
            <a:off x="1986995" y="2666998"/>
            <a:ext cx="6699805"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2"/>
          <p:cNvSpPr txBox="1"/>
          <p:nvPr>
            <p:ph idx="1" type="body"/>
          </p:nvPr>
        </p:nvSpPr>
        <p:spPr>
          <a:xfrm>
            <a:off x="1986998" y="5027070"/>
            <a:ext cx="6699802"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6" name="Google Shape;46;p22"/>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9" name="Shape 49"/>
        <p:cNvGrpSpPr/>
        <p:nvPr/>
      </p:nvGrpSpPr>
      <p:grpSpPr>
        <a:xfrm>
          <a:off x="0" y="0"/>
          <a:ext cx="0" cy="0"/>
          <a:chOff x="0" y="0"/>
          <a:chExt cx="0" cy="0"/>
        </a:xfrm>
      </p:grpSpPr>
      <p:sp>
        <p:nvSpPr>
          <p:cNvPr id="50" name="Google Shape;50;p23"/>
          <p:cNvSpPr txBox="1"/>
          <p:nvPr>
            <p:ph type="title"/>
          </p:nvPr>
        </p:nvSpPr>
        <p:spPr>
          <a:xfrm>
            <a:off x="982133" y="685801"/>
            <a:ext cx="7704667" cy="17525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 type="body"/>
          </p:nvPr>
        </p:nvSpPr>
        <p:spPr>
          <a:xfrm>
            <a:off x="982133" y="2667000"/>
            <a:ext cx="3739896" cy="33686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2" name="Google Shape;52;p23"/>
          <p:cNvSpPr txBox="1"/>
          <p:nvPr>
            <p:ph idx="2" type="body"/>
          </p:nvPr>
        </p:nvSpPr>
        <p:spPr>
          <a:xfrm>
            <a:off x="4946904" y="2667000"/>
            <a:ext cx="3739896" cy="33468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3" name="Google Shape;53;p2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 name="Shape 56"/>
        <p:cNvGrpSpPr/>
        <p:nvPr/>
      </p:nvGrpSpPr>
      <p:grpSpPr>
        <a:xfrm>
          <a:off x="0" y="0"/>
          <a:ext cx="0" cy="0"/>
          <a:chOff x="0" y="0"/>
          <a:chExt cx="0" cy="0"/>
        </a:xfrm>
      </p:grpSpPr>
      <p:sp>
        <p:nvSpPr>
          <p:cNvPr id="57" name="Google Shape;57;p24"/>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4"/>
          <p:cNvSpPr txBox="1"/>
          <p:nvPr>
            <p:ph idx="1" type="body"/>
          </p:nvPr>
        </p:nvSpPr>
        <p:spPr>
          <a:xfrm>
            <a:off x="1329481" y="2658533"/>
            <a:ext cx="345629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59" name="Google Shape;59;p24"/>
          <p:cNvSpPr txBox="1"/>
          <p:nvPr>
            <p:ph idx="2" type="body"/>
          </p:nvPr>
        </p:nvSpPr>
        <p:spPr>
          <a:xfrm>
            <a:off x="1113523"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0" name="Google Shape;60;p24"/>
          <p:cNvSpPr txBox="1"/>
          <p:nvPr>
            <p:ph idx="3" type="body"/>
          </p:nvPr>
        </p:nvSpPr>
        <p:spPr>
          <a:xfrm>
            <a:off x="5161710" y="2667000"/>
            <a:ext cx="3467806"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1186C3"/>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24"/>
          <p:cNvSpPr txBox="1"/>
          <p:nvPr>
            <p:ph idx="4" type="body"/>
          </p:nvPr>
        </p:nvSpPr>
        <p:spPr>
          <a:xfrm>
            <a:off x="4957266" y="3335336"/>
            <a:ext cx="3672248"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24"/>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25"/>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5"/>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5"/>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26"/>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27"/>
          <p:cNvSpPr txBox="1"/>
          <p:nvPr>
            <p:ph type="title"/>
          </p:nvPr>
        </p:nvSpPr>
        <p:spPr>
          <a:xfrm>
            <a:off x="1113524" y="1600200"/>
            <a:ext cx="2662534"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a:off x="3947553" y="685800"/>
            <a:ext cx="4681962"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7" name="Google Shape;77;p27"/>
          <p:cNvSpPr txBox="1"/>
          <p:nvPr>
            <p:ph idx="2" type="body"/>
          </p:nvPr>
        </p:nvSpPr>
        <p:spPr>
          <a:xfrm>
            <a:off x="1113524" y="2971800"/>
            <a:ext cx="2662534"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78" name="Google Shape;78;p27"/>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28"/>
          <p:cNvSpPr txBox="1"/>
          <p:nvPr>
            <p:ph type="title"/>
          </p:nvPr>
        </p:nvSpPr>
        <p:spPr>
          <a:xfrm>
            <a:off x="1112332" y="1752599"/>
            <a:ext cx="4070679"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p:nvPr>
            <p:ph idx="2" type="pic"/>
          </p:nvPr>
        </p:nvSpPr>
        <p:spPr>
          <a:xfrm>
            <a:off x="5697495" y="914400"/>
            <a:ext cx="2461371"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4" name="Google Shape;84;p28"/>
          <p:cNvSpPr txBox="1"/>
          <p:nvPr>
            <p:ph idx="1" type="body"/>
          </p:nvPr>
        </p:nvSpPr>
        <p:spPr>
          <a:xfrm>
            <a:off x="1112332" y="3124199"/>
            <a:ext cx="4070679"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5" name="Google Shape;85;p28"/>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8" name="Shape 88"/>
        <p:cNvGrpSpPr/>
        <p:nvPr/>
      </p:nvGrpSpPr>
      <p:grpSpPr>
        <a:xfrm>
          <a:off x="0" y="0"/>
          <a:ext cx="0" cy="0"/>
          <a:chOff x="0" y="0"/>
          <a:chExt cx="0" cy="0"/>
        </a:xfrm>
      </p:grpSpPr>
      <p:sp>
        <p:nvSpPr>
          <p:cNvPr id="89" name="Google Shape;89;p29"/>
          <p:cNvSpPr txBox="1"/>
          <p:nvPr>
            <p:ph type="title"/>
          </p:nvPr>
        </p:nvSpPr>
        <p:spPr>
          <a:xfrm>
            <a:off x="1113523" y="4732865"/>
            <a:ext cx="751599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9"/>
          <p:cNvSpPr/>
          <p:nvPr>
            <p:ph idx="2" type="pic"/>
          </p:nvPr>
        </p:nvSpPr>
        <p:spPr>
          <a:xfrm>
            <a:off x="1789975" y="932112"/>
            <a:ext cx="6171065"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1" name="Google Shape;91;p29"/>
          <p:cNvSpPr txBox="1"/>
          <p:nvPr>
            <p:ph idx="1" type="body"/>
          </p:nvPr>
        </p:nvSpPr>
        <p:spPr>
          <a:xfrm>
            <a:off x="1113523" y="5299603"/>
            <a:ext cx="751599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2" name="Google Shape;92;p29"/>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9"/>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9"/>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5" name="Shape 95"/>
        <p:cNvGrpSpPr/>
        <p:nvPr/>
      </p:nvGrpSpPr>
      <p:grpSpPr>
        <a:xfrm>
          <a:off x="0" y="0"/>
          <a:ext cx="0" cy="0"/>
          <a:chOff x="0" y="0"/>
          <a:chExt cx="0" cy="0"/>
        </a:xfrm>
      </p:grpSpPr>
      <p:sp>
        <p:nvSpPr>
          <p:cNvPr id="96" name="Google Shape;96;p30"/>
          <p:cNvSpPr txBox="1"/>
          <p:nvPr>
            <p:ph type="title"/>
          </p:nvPr>
        </p:nvSpPr>
        <p:spPr>
          <a:xfrm>
            <a:off x="1113524" y="685800"/>
            <a:ext cx="751599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30"/>
          <p:cNvSpPr txBox="1"/>
          <p:nvPr>
            <p:ph idx="1" type="body"/>
          </p:nvPr>
        </p:nvSpPr>
        <p:spPr>
          <a:xfrm>
            <a:off x="1113524" y="4343400"/>
            <a:ext cx="7515992"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98" name="Google Shape;98;p30"/>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0"/>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1" name="Shape 101"/>
        <p:cNvGrpSpPr/>
        <p:nvPr/>
      </p:nvGrpSpPr>
      <p:grpSpPr>
        <a:xfrm>
          <a:off x="0" y="0"/>
          <a:ext cx="0" cy="0"/>
          <a:chOff x="0" y="0"/>
          <a:chExt cx="0" cy="0"/>
        </a:xfrm>
      </p:grpSpPr>
      <p:sp>
        <p:nvSpPr>
          <p:cNvPr id="102" name="Google Shape;102;p31"/>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3" name="Google Shape;103;p31"/>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4" name="Google Shape;104;p31"/>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1"/>
          <p:cNvSpPr txBox="1"/>
          <p:nvPr>
            <p:ph idx="1" type="body"/>
          </p:nvPr>
        </p:nvSpPr>
        <p:spPr>
          <a:xfrm>
            <a:off x="1598235" y="3428999"/>
            <a:ext cx="6631128"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6" name="Google Shape;106;p31"/>
          <p:cNvSpPr txBox="1"/>
          <p:nvPr>
            <p:ph idx="2" type="body"/>
          </p:nvPr>
        </p:nvSpPr>
        <p:spPr>
          <a:xfrm>
            <a:off x="1113523" y="4343400"/>
            <a:ext cx="751599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7" name="Google Shape;107;p31"/>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1"/>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1"/>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0" name="Shape 110"/>
        <p:cNvGrpSpPr/>
        <p:nvPr/>
      </p:nvGrpSpPr>
      <p:grpSpPr>
        <a:xfrm>
          <a:off x="0" y="0"/>
          <a:ext cx="0" cy="0"/>
          <a:chOff x="0" y="0"/>
          <a:chExt cx="0" cy="0"/>
        </a:xfrm>
      </p:grpSpPr>
      <p:sp>
        <p:nvSpPr>
          <p:cNvPr id="111" name="Google Shape;111;p32"/>
          <p:cNvSpPr txBox="1"/>
          <p:nvPr>
            <p:ph type="title"/>
          </p:nvPr>
        </p:nvSpPr>
        <p:spPr>
          <a:xfrm>
            <a:off x="1113525" y="3308581"/>
            <a:ext cx="751598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2"/>
          <p:cNvSpPr txBox="1"/>
          <p:nvPr>
            <p:ph idx="1" type="body"/>
          </p:nvPr>
        </p:nvSpPr>
        <p:spPr>
          <a:xfrm>
            <a:off x="1113524" y="4777381"/>
            <a:ext cx="751599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3" name="Google Shape;113;p32"/>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2"/>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32"/>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6" name="Shape 116"/>
        <p:cNvGrpSpPr/>
        <p:nvPr/>
      </p:nvGrpSpPr>
      <p:grpSpPr>
        <a:xfrm>
          <a:off x="0" y="0"/>
          <a:ext cx="0" cy="0"/>
          <a:chOff x="0" y="0"/>
          <a:chExt cx="0" cy="0"/>
        </a:xfrm>
      </p:grpSpPr>
      <p:sp>
        <p:nvSpPr>
          <p:cNvPr id="117" name="Google Shape;117;p33"/>
          <p:cNvSpPr txBox="1"/>
          <p:nvPr/>
        </p:nvSpPr>
        <p:spPr>
          <a:xfrm>
            <a:off x="969421" y="863023"/>
            <a:ext cx="45731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8" name="Google Shape;118;p33"/>
          <p:cNvSpPr txBox="1"/>
          <p:nvPr/>
        </p:nvSpPr>
        <p:spPr>
          <a:xfrm>
            <a:off x="8172197" y="2819399"/>
            <a:ext cx="45731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19" name="Google Shape;119;p33"/>
          <p:cNvSpPr txBox="1"/>
          <p:nvPr>
            <p:ph type="title"/>
          </p:nvPr>
        </p:nvSpPr>
        <p:spPr>
          <a:xfrm>
            <a:off x="1426741" y="685801"/>
            <a:ext cx="6974115"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33"/>
          <p:cNvSpPr txBox="1"/>
          <p:nvPr>
            <p:ph idx="1" type="body"/>
          </p:nvPr>
        </p:nvSpPr>
        <p:spPr>
          <a:xfrm>
            <a:off x="1113525" y="3886200"/>
            <a:ext cx="751599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1" name="Google Shape;121;p33"/>
          <p:cNvSpPr txBox="1"/>
          <p:nvPr>
            <p:ph idx="2" type="body"/>
          </p:nvPr>
        </p:nvSpPr>
        <p:spPr>
          <a:xfrm>
            <a:off x="1113524" y="4775200"/>
            <a:ext cx="751599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2" name="Google Shape;122;p33"/>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33"/>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3"/>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5" name="Shape 125"/>
        <p:cNvGrpSpPr/>
        <p:nvPr/>
      </p:nvGrpSpPr>
      <p:grpSpPr>
        <a:xfrm>
          <a:off x="0" y="0"/>
          <a:ext cx="0" cy="0"/>
          <a:chOff x="0" y="0"/>
          <a:chExt cx="0" cy="0"/>
        </a:xfrm>
      </p:grpSpPr>
      <p:sp>
        <p:nvSpPr>
          <p:cNvPr id="126" name="Google Shape;126;p34"/>
          <p:cNvSpPr txBox="1"/>
          <p:nvPr>
            <p:ph type="title"/>
          </p:nvPr>
        </p:nvSpPr>
        <p:spPr>
          <a:xfrm>
            <a:off x="1113525" y="685801"/>
            <a:ext cx="751599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34"/>
          <p:cNvSpPr txBox="1"/>
          <p:nvPr>
            <p:ph idx="1" type="body"/>
          </p:nvPr>
        </p:nvSpPr>
        <p:spPr>
          <a:xfrm>
            <a:off x="1113524" y="3505200"/>
            <a:ext cx="7515992"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8" name="Google Shape;128;p34"/>
          <p:cNvSpPr txBox="1"/>
          <p:nvPr>
            <p:ph idx="2" type="body"/>
          </p:nvPr>
        </p:nvSpPr>
        <p:spPr>
          <a:xfrm>
            <a:off x="1113524" y="4343400"/>
            <a:ext cx="7515992"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9" name="Google Shape;129;p34"/>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34"/>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4"/>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35"/>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5"/>
          <p:cNvSpPr txBox="1"/>
          <p:nvPr>
            <p:ph idx="1" type="body"/>
          </p:nvPr>
        </p:nvSpPr>
        <p:spPr>
          <a:xfrm rot="5400000">
            <a:off x="3155970" y="493164"/>
            <a:ext cx="3356995" cy="7704666"/>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5" name="Google Shape;135;p35"/>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35"/>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35"/>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
        <p:nvSpPr>
          <p:cNvPr id="139" name="Google Shape;139;p36"/>
          <p:cNvSpPr txBox="1"/>
          <p:nvPr>
            <p:ph type="title"/>
          </p:nvPr>
        </p:nvSpPr>
        <p:spPr>
          <a:xfrm rot="5400000">
            <a:off x="5412754" y="2574439"/>
            <a:ext cx="5105400" cy="1328123"/>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36"/>
          <p:cNvSpPr txBox="1"/>
          <p:nvPr>
            <p:ph idx="1" type="body"/>
          </p:nvPr>
        </p:nvSpPr>
        <p:spPr>
          <a:xfrm rot="5400000">
            <a:off x="1569011" y="230314"/>
            <a:ext cx="5105400" cy="6016373"/>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1" name="Google Shape;141;p36"/>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6"/>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6"/>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57" name="Shape 157"/>
        <p:cNvGrpSpPr/>
        <p:nvPr/>
      </p:nvGrpSpPr>
      <p:grpSpPr>
        <a:xfrm>
          <a:off x="0" y="0"/>
          <a:ext cx="0" cy="0"/>
          <a:chOff x="0" y="0"/>
          <a:chExt cx="0" cy="0"/>
        </a:xfrm>
      </p:grpSpPr>
      <p:grpSp>
        <p:nvGrpSpPr>
          <p:cNvPr id="158" name="Google Shape;158;g39e1144912c_0_202"/>
          <p:cNvGrpSpPr/>
          <p:nvPr/>
        </p:nvGrpSpPr>
        <p:grpSpPr>
          <a:xfrm>
            <a:off x="203200" y="0"/>
            <a:ext cx="3778250" cy="6858001"/>
            <a:chOff x="203200" y="0"/>
            <a:chExt cx="3778250" cy="6858001"/>
          </a:xfrm>
        </p:grpSpPr>
        <p:sp>
          <p:nvSpPr>
            <p:cNvPr id="159" name="Google Shape;159;g39e1144912c_0_202"/>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160" name="Google Shape;160;g39e1144912c_0_202"/>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161" name="Google Shape;161;g39e1144912c_0_202"/>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162" name="Google Shape;162;g39e1144912c_0_202"/>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0B5982"/>
            </a:solidFill>
            <a:ln>
              <a:noFill/>
            </a:ln>
          </p:spPr>
        </p:sp>
        <p:sp>
          <p:nvSpPr>
            <p:cNvPr id="163" name="Google Shape;163;g39e1144912c_0_202"/>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1186C3"/>
            </a:solidFill>
            <a:ln>
              <a:noFill/>
            </a:ln>
          </p:spPr>
        </p:sp>
        <p:sp>
          <p:nvSpPr>
            <p:cNvPr id="164" name="Google Shape;164;g39e1144912c_0_202"/>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165" name="Google Shape;165;g39e1144912c_0_202"/>
          <p:cNvSpPr txBox="1"/>
          <p:nvPr>
            <p:ph type="ctrTitle"/>
          </p:nvPr>
        </p:nvSpPr>
        <p:spPr>
          <a:xfrm>
            <a:off x="1739673" y="914401"/>
            <a:ext cx="6947100" cy="34884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5400"/>
              <a:buFont typeface="Corbel"/>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g39e1144912c_0_202"/>
          <p:cNvSpPr txBox="1"/>
          <p:nvPr>
            <p:ph idx="1" type="subTitle"/>
          </p:nvPr>
        </p:nvSpPr>
        <p:spPr>
          <a:xfrm>
            <a:off x="2924238" y="4402666"/>
            <a:ext cx="5762700" cy="1364400"/>
          </a:xfrm>
          <a:prstGeom prst="rect">
            <a:avLst/>
          </a:prstGeom>
          <a:noFill/>
          <a:ln>
            <a:noFill/>
          </a:ln>
        </p:spPr>
        <p:txBody>
          <a:bodyPr anchorCtr="0" anchor="t" bIns="45700" lIns="91425" spcFirstLastPara="1" rIns="91425" wrap="square" tIns="45700">
            <a:normAutofit/>
          </a:bodyPr>
          <a:lstStyle>
            <a:lvl1pPr lvl="0" algn="r">
              <a:spcBef>
                <a:spcPts val="360"/>
              </a:spcBef>
              <a:spcAft>
                <a:spcPts val="0"/>
              </a:spcAft>
              <a:buSzPts val="2610"/>
              <a:buNone/>
              <a:defRPr sz="18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p:txBody>
      </p:sp>
      <p:sp>
        <p:nvSpPr>
          <p:cNvPr id="167" name="Google Shape;167;g39e1144912c_0_202"/>
          <p:cNvSpPr txBox="1"/>
          <p:nvPr>
            <p:ph idx="10" type="dt"/>
          </p:nvPr>
        </p:nvSpPr>
        <p:spPr>
          <a:xfrm>
            <a:off x="7325773" y="6117336"/>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g39e1144912c_0_202"/>
          <p:cNvSpPr txBox="1"/>
          <p:nvPr>
            <p:ph idx="11" type="ftr"/>
          </p:nvPr>
        </p:nvSpPr>
        <p:spPr>
          <a:xfrm>
            <a:off x="3623733" y="6117336"/>
            <a:ext cx="36093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g39e1144912c_0_202"/>
          <p:cNvSpPr txBox="1"/>
          <p:nvPr>
            <p:ph idx="12" type="sldNum"/>
          </p:nvPr>
        </p:nvSpPr>
        <p:spPr>
          <a:xfrm>
            <a:off x="8275320" y="6117336"/>
            <a:ext cx="411600" cy="365100"/>
          </a:xfrm>
          <a:prstGeom prst="rect">
            <a:avLst/>
          </a:prstGeom>
          <a:noFill/>
          <a:ln>
            <a:noFill/>
          </a:ln>
        </p:spPr>
        <p:txBody>
          <a:bodyPr anchorCtr="0" anchor="ctr" bIns="45700" lIns="91425" spcFirstLastPara="1" rIns="91425" wrap="square" tIns="45700">
            <a:noAutofit/>
          </a:bodyPr>
          <a:lstStyle>
            <a:lvl1pPr indent="0" lvl="0" marL="0" algn="ctr">
              <a:spcBef>
                <a:spcPts val="0"/>
              </a:spcBef>
              <a:spcAft>
                <a:spcPts val="0"/>
              </a:spcAft>
              <a:buClr>
                <a:schemeClr val="dk1"/>
              </a:buClr>
              <a:buSzPts val="1000"/>
              <a:buFont typeface="Corbel"/>
              <a:buNone/>
              <a:defRPr/>
            </a:lvl1pPr>
            <a:lvl2pPr indent="0" lvl="1" marL="0" algn="ctr">
              <a:spcBef>
                <a:spcPts val="0"/>
              </a:spcBef>
              <a:spcAft>
                <a:spcPts val="0"/>
              </a:spcAft>
              <a:buClr>
                <a:schemeClr val="dk1"/>
              </a:buClr>
              <a:buSzPts val="1000"/>
              <a:buFont typeface="Corbel"/>
              <a:buNone/>
              <a:defRPr/>
            </a:lvl2pPr>
            <a:lvl3pPr indent="0" lvl="2" marL="0" algn="ctr">
              <a:spcBef>
                <a:spcPts val="0"/>
              </a:spcBef>
              <a:spcAft>
                <a:spcPts val="0"/>
              </a:spcAft>
              <a:buClr>
                <a:schemeClr val="dk1"/>
              </a:buClr>
              <a:buSzPts val="1000"/>
              <a:buFont typeface="Corbel"/>
              <a:buNone/>
              <a:defRPr/>
            </a:lvl3pPr>
            <a:lvl4pPr indent="0" lvl="3" marL="0" algn="ctr">
              <a:spcBef>
                <a:spcPts val="0"/>
              </a:spcBef>
              <a:spcAft>
                <a:spcPts val="0"/>
              </a:spcAft>
              <a:buClr>
                <a:schemeClr val="dk1"/>
              </a:buClr>
              <a:buSzPts val="1000"/>
              <a:buFont typeface="Corbel"/>
              <a:buNone/>
              <a:defRPr/>
            </a:lvl4pPr>
            <a:lvl5pPr indent="0" lvl="4" marL="0" algn="ctr">
              <a:spcBef>
                <a:spcPts val="0"/>
              </a:spcBef>
              <a:spcAft>
                <a:spcPts val="0"/>
              </a:spcAft>
              <a:buClr>
                <a:schemeClr val="dk1"/>
              </a:buClr>
              <a:buSzPts val="1000"/>
              <a:buFont typeface="Corbel"/>
              <a:buNone/>
              <a:defRPr/>
            </a:lvl5pPr>
            <a:lvl6pPr indent="0" lvl="5" marL="0" algn="ctr">
              <a:spcBef>
                <a:spcPts val="0"/>
              </a:spcBef>
              <a:spcAft>
                <a:spcPts val="0"/>
              </a:spcAft>
              <a:buClr>
                <a:schemeClr val="dk1"/>
              </a:buClr>
              <a:buSzPts val="1000"/>
              <a:buFont typeface="Corbel"/>
              <a:buNone/>
              <a:defRPr/>
            </a:lvl6pPr>
            <a:lvl7pPr indent="0" lvl="6" marL="0" algn="ctr">
              <a:spcBef>
                <a:spcPts val="0"/>
              </a:spcBef>
              <a:spcAft>
                <a:spcPts val="0"/>
              </a:spcAft>
              <a:buClr>
                <a:schemeClr val="dk1"/>
              </a:buClr>
              <a:buSzPts val="1000"/>
              <a:buFont typeface="Corbel"/>
              <a:buNone/>
              <a:defRPr/>
            </a:lvl7pPr>
            <a:lvl8pPr indent="0" lvl="7" marL="0" algn="ctr">
              <a:spcBef>
                <a:spcPts val="0"/>
              </a:spcBef>
              <a:spcAft>
                <a:spcPts val="0"/>
              </a:spcAft>
              <a:buClr>
                <a:schemeClr val="dk1"/>
              </a:buClr>
              <a:buSzPts val="1000"/>
              <a:buFont typeface="Corbel"/>
              <a:buNone/>
              <a:defRPr/>
            </a:lvl8pPr>
            <a:lvl9pPr indent="0" lvl="8" marL="0" algn="ctr">
              <a:spcBef>
                <a:spcPts val="0"/>
              </a:spcBef>
              <a:spcAft>
                <a:spcPts val="0"/>
              </a:spcAft>
              <a:buClr>
                <a:schemeClr val="dk1"/>
              </a:buClr>
              <a:buSzPts val="1000"/>
              <a:buFont typeface="Corbel"/>
              <a:buNone/>
              <a:defRPr/>
            </a:lvl9pPr>
          </a:lstStyle>
          <a:p>
            <a:pPr indent="0" lvl="0" marL="0" rtl="0" algn="ctr">
              <a:spcBef>
                <a:spcPts val="0"/>
              </a:spcBef>
              <a:spcAft>
                <a:spcPts val="0"/>
              </a:spcAft>
              <a:buNone/>
            </a:pPr>
            <a:fld id="{00000000-1234-1234-1234-123412341234}" type="slidenum">
              <a:rPr lang="en-US"/>
              <a:t>‹#›</a:t>
            </a:fld>
            <a:endParaRPr/>
          </a:p>
        </p:txBody>
      </p:sp>
      <p:sp>
        <p:nvSpPr>
          <p:cNvPr id="170" name="Google Shape;170;g39e1144912c_0_202"/>
          <p:cNvSpPr/>
          <p:nvPr/>
        </p:nvSpPr>
        <p:spPr>
          <a:xfrm>
            <a:off x="203200" y="3771900"/>
            <a:ext cx="36195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171" name="Google Shape;171;g39e1144912c_0_202"/>
          <p:cNvSpPr/>
          <p:nvPr/>
        </p:nvSpPr>
        <p:spPr>
          <a:xfrm>
            <a:off x="560388" y="3867150"/>
            <a:ext cx="61913" cy="80963"/>
          </a:xfrm>
          <a:custGeom>
            <a:rect b="b" l="l" r="r" t="t"/>
            <a:pathLst>
              <a:path extrusionOk="0" h="51" w="39">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2" name="Shape 172"/>
        <p:cNvGrpSpPr/>
        <p:nvPr/>
      </p:nvGrpSpPr>
      <p:grpSpPr>
        <a:xfrm>
          <a:off x="0" y="0"/>
          <a:ext cx="0" cy="0"/>
          <a:chOff x="0" y="0"/>
          <a:chExt cx="0" cy="0"/>
        </a:xfrm>
      </p:grpSpPr>
      <p:sp>
        <p:nvSpPr>
          <p:cNvPr id="173" name="Google Shape;173;g39e1144912c_0_217"/>
          <p:cNvSpPr txBox="1"/>
          <p:nvPr>
            <p:ph type="title"/>
          </p:nvPr>
        </p:nvSpPr>
        <p:spPr>
          <a:xfrm>
            <a:off x="982133" y="457201"/>
            <a:ext cx="7704600"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g39e1144912c_0_217"/>
          <p:cNvSpPr txBox="1"/>
          <p:nvPr>
            <p:ph idx="1" type="body"/>
          </p:nvPr>
        </p:nvSpPr>
        <p:spPr>
          <a:xfrm>
            <a:off x="982133" y="2667000"/>
            <a:ext cx="7704600" cy="3332700"/>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175" name="Google Shape;175;g39e1144912c_0_217"/>
          <p:cNvSpPr txBox="1"/>
          <p:nvPr>
            <p:ph idx="10" type="dt"/>
          </p:nvPr>
        </p:nvSpPr>
        <p:spPr>
          <a:xfrm>
            <a:off x="7344329" y="6108173"/>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g39e1144912c_0_217"/>
          <p:cNvSpPr txBox="1"/>
          <p:nvPr>
            <p:ph idx="11" type="ftr"/>
          </p:nvPr>
        </p:nvSpPr>
        <p:spPr>
          <a:xfrm>
            <a:off x="1972647" y="6108173"/>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g39e1144912c_0_217"/>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8" name="Shape 178"/>
        <p:cNvGrpSpPr/>
        <p:nvPr/>
      </p:nvGrpSpPr>
      <p:grpSpPr>
        <a:xfrm>
          <a:off x="0" y="0"/>
          <a:ext cx="0" cy="0"/>
          <a:chOff x="0" y="0"/>
          <a:chExt cx="0" cy="0"/>
        </a:xfrm>
      </p:grpSpPr>
      <p:sp>
        <p:nvSpPr>
          <p:cNvPr id="179" name="Google Shape;179;g39e1144912c_0_223"/>
          <p:cNvSpPr txBox="1"/>
          <p:nvPr>
            <p:ph type="title"/>
          </p:nvPr>
        </p:nvSpPr>
        <p:spPr>
          <a:xfrm>
            <a:off x="1986995" y="2666998"/>
            <a:ext cx="6699900" cy="23601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000"/>
              <a:buFont typeface="Corbel"/>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g39e1144912c_0_223"/>
          <p:cNvSpPr txBox="1"/>
          <p:nvPr>
            <p:ph idx="1" type="body"/>
          </p:nvPr>
        </p:nvSpPr>
        <p:spPr>
          <a:xfrm>
            <a:off x="1986998" y="5027070"/>
            <a:ext cx="669990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181" name="Google Shape;181;g39e1144912c_0_223"/>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g39e1144912c_0_223"/>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g39e1144912c_0_223"/>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4" name="Shape 184"/>
        <p:cNvGrpSpPr/>
        <p:nvPr/>
      </p:nvGrpSpPr>
      <p:grpSpPr>
        <a:xfrm>
          <a:off x="0" y="0"/>
          <a:ext cx="0" cy="0"/>
          <a:chOff x="0" y="0"/>
          <a:chExt cx="0" cy="0"/>
        </a:xfrm>
      </p:grpSpPr>
      <p:sp>
        <p:nvSpPr>
          <p:cNvPr id="185" name="Google Shape;185;g39e1144912c_0_229"/>
          <p:cNvSpPr txBox="1"/>
          <p:nvPr>
            <p:ph type="title"/>
          </p:nvPr>
        </p:nvSpPr>
        <p:spPr>
          <a:xfrm>
            <a:off x="982133" y="685801"/>
            <a:ext cx="7704600" cy="17526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g39e1144912c_0_229"/>
          <p:cNvSpPr txBox="1"/>
          <p:nvPr>
            <p:ph idx="1" type="body"/>
          </p:nvPr>
        </p:nvSpPr>
        <p:spPr>
          <a:xfrm>
            <a:off x="982133" y="2667000"/>
            <a:ext cx="3739800" cy="3368700"/>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187" name="Google Shape;187;g39e1144912c_0_229"/>
          <p:cNvSpPr txBox="1"/>
          <p:nvPr>
            <p:ph idx="2" type="body"/>
          </p:nvPr>
        </p:nvSpPr>
        <p:spPr>
          <a:xfrm>
            <a:off x="4946904" y="2667000"/>
            <a:ext cx="3739800" cy="3346800"/>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188" name="Google Shape;188;g39e1144912c_0_229"/>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g39e1144912c_0_229"/>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g39e1144912c_0_229"/>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1" name="Shape 191"/>
        <p:cNvGrpSpPr/>
        <p:nvPr/>
      </p:nvGrpSpPr>
      <p:grpSpPr>
        <a:xfrm>
          <a:off x="0" y="0"/>
          <a:ext cx="0" cy="0"/>
          <a:chOff x="0" y="0"/>
          <a:chExt cx="0" cy="0"/>
        </a:xfrm>
      </p:grpSpPr>
      <p:sp>
        <p:nvSpPr>
          <p:cNvPr id="192" name="Google Shape;192;g39e1144912c_0_236"/>
          <p:cNvSpPr txBox="1"/>
          <p:nvPr>
            <p:ph type="title"/>
          </p:nvPr>
        </p:nvSpPr>
        <p:spPr>
          <a:xfrm>
            <a:off x="982133" y="457201"/>
            <a:ext cx="7704600"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g39e1144912c_0_236"/>
          <p:cNvSpPr txBox="1"/>
          <p:nvPr>
            <p:ph idx="1" type="body"/>
          </p:nvPr>
        </p:nvSpPr>
        <p:spPr>
          <a:xfrm>
            <a:off x="1329481" y="2658533"/>
            <a:ext cx="34563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1186C3"/>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194" name="Google Shape;194;g39e1144912c_0_236"/>
          <p:cNvSpPr txBox="1"/>
          <p:nvPr>
            <p:ph idx="2" type="body"/>
          </p:nvPr>
        </p:nvSpPr>
        <p:spPr>
          <a:xfrm>
            <a:off x="1113523" y="3335336"/>
            <a:ext cx="3672300" cy="266520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195" name="Google Shape;195;g39e1144912c_0_236"/>
          <p:cNvSpPr txBox="1"/>
          <p:nvPr>
            <p:ph idx="3" type="body"/>
          </p:nvPr>
        </p:nvSpPr>
        <p:spPr>
          <a:xfrm>
            <a:off x="5161710" y="2667000"/>
            <a:ext cx="3467700" cy="576300"/>
          </a:xfrm>
          <a:prstGeom prst="rect">
            <a:avLst/>
          </a:prstGeom>
          <a:noFill/>
          <a:ln>
            <a:noFill/>
          </a:ln>
        </p:spPr>
        <p:txBody>
          <a:bodyPr anchorCtr="0" anchor="b" bIns="45700" lIns="91425" spcFirstLastPara="1" rIns="91425" wrap="square" tIns="45700">
            <a:noAutofit/>
          </a:bodyPr>
          <a:lstStyle>
            <a:lvl1pPr indent="-228600" lvl="0" marL="457200" algn="l">
              <a:spcBef>
                <a:spcPts val="560"/>
              </a:spcBef>
              <a:spcAft>
                <a:spcPts val="0"/>
              </a:spcAft>
              <a:buSzPts val="4060"/>
              <a:buNone/>
              <a:defRPr b="0" sz="2800">
                <a:solidFill>
                  <a:srgbClr val="1186C3"/>
                </a:solidFill>
              </a:defRPr>
            </a:lvl1pPr>
            <a:lvl2pPr indent="-228600" lvl="1" marL="914400" algn="l">
              <a:spcBef>
                <a:spcPts val="600"/>
              </a:spcBef>
              <a:spcAft>
                <a:spcPts val="0"/>
              </a:spcAft>
              <a:buSzPts val="2900"/>
              <a:buNone/>
              <a:defRPr b="1" sz="2000"/>
            </a:lvl2pPr>
            <a:lvl3pPr indent="-228600" lvl="2" marL="1371600" algn="l">
              <a:spcBef>
                <a:spcPts val="600"/>
              </a:spcBef>
              <a:spcAft>
                <a:spcPts val="0"/>
              </a:spcAft>
              <a:buSzPts val="2610"/>
              <a:buNone/>
              <a:defRPr b="1" sz="1800"/>
            </a:lvl3pPr>
            <a:lvl4pPr indent="-228600" lvl="3" marL="1828800" algn="l">
              <a:spcBef>
                <a:spcPts val="600"/>
              </a:spcBef>
              <a:spcAft>
                <a:spcPts val="0"/>
              </a:spcAft>
              <a:buSzPts val="2320"/>
              <a:buNone/>
              <a:defRPr b="1" sz="1600"/>
            </a:lvl4pPr>
            <a:lvl5pPr indent="-228600" lvl="4" marL="2286000" algn="l">
              <a:spcBef>
                <a:spcPts val="600"/>
              </a:spcBef>
              <a:spcAft>
                <a:spcPts val="0"/>
              </a:spcAft>
              <a:buSzPts val="2320"/>
              <a:buNone/>
              <a:defRPr b="1" sz="1600"/>
            </a:lvl5pPr>
            <a:lvl6pPr indent="-228600" lvl="5" marL="2743200" algn="l">
              <a:spcBef>
                <a:spcPts val="600"/>
              </a:spcBef>
              <a:spcAft>
                <a:spcPts val="0"/>
              </a:spcAft>
              <a:buSzPts val="2320"/>
              <a:buNone/>
              <a:defRPr b="1" sz="1600"/>
            </a:lvl6pPr>
            <a:lvl7pPr indent="-228600" lvl="6" marL="3200400" algn="l">
              <a:spcBef>
                <a:spcPts val="600"/>
              </a:spcBef>
              <a:spcAft>
                <a:spcPts val="0"/>
              </a:spcAft>
              <a:buSzPts val="2320"/>
              <a:buNone/>
              <a:defRPr b="1" sz="1600"/>
            </a:lvl7pPr>
            <a:lvl8pPr indent="-228600" lvl="7" marL="3657600" algn="l">
              <a:spcBef>
                <a:spcPts val="600"/>
              </a:spcBef>
              <a:spcAft>
                <a:spcPts val="0"/>
              </a:spcAft>
              <a:buSzPts val="2320"/>
              <a:buNone/>
              <a:defRPr b="1" sz="1600"/>
            </a:lvl8pPr>
            <a:lvl9pPr indent="-228600" lvl="8" marL="4114800" algn="l">
              <a:spcBef>
                <a:spcPts val="600"/>
              </a:spcBef>
              <a:spcAft>
                <a:spcPts val="600"/>
              </a:spcAft>
              <a:buSzPts val="2320"/>
              <a:buNone/>
              <a:defRPr b="1" sz="1600"/>
            </a:lvl9pPr>
          </a:lstStyle>
          <a:p/>
        </p:txBody>
      </p:sp>
      <p:sp>
        <p:nvSpPr>
          <p:cNvPr id="196" name="Google Shape;196;g39e1144912c_0_236"/>
          <p:cNvSpPr txBox="1"/>
          <p:nvPr>
            <p:ph idx="4" type="body"/>
          </p:nvPr>
        </p:nvSpPr>
        <p:spPr>
          <a:xfrm>
            <a:off x="4957266" y="3335336"/>
            <a:ext cx="3672300" cy="266520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sz="1800"/>
            </a:lvl1pPr>
            <a:lvl2pPr indent="-375919" lvl="1" marL="914400" algn="l">
              <a:spcBef>
                <a:spcPts val="600"/>
              </a:spcBef>
              <a:spcAft>
                <a:spcPts val="0"/>
              </a:spcAft>
              <a:buSzPts val="2320"/>
              <a:buChar char="•"/>
              <a:defRPr sz="1600"/>
            </a:lvl2pPr>
            <a:lvl3pPr indent="-357505" lvl="2" marL="1371600" algn="l">
              <a:spcBef>
                <a:spcPts val="600"/>
              </a:spcBef>
              <a:spcAft>
                <a:spcPts val="0"/>
              </a:spcAft>
              <a:buSzPts val="2030"/>
              <a:buChar char="•"/>
              <a:defRPr sz="1400"/>
            </a:lvl3pPr>
            <a:lvl4pPr indent="-339089" lvl="3" marL="1828800" algn="l">
              <a:spcBef>
                <a:spcPts val="600"/>
              </a:spcBef>
              <a:spcAft>
                <a:spcPts val="0"/>
              </a:spcAft>
              <a:buSzPts val="1740"/>
              <a:buChar char="•"/>
              <a:defRPr sz="1200"/>
            </a:lvl4pPr>
            <a:lvl5pPr indent="-339089" lvl="4" marL="2286000" algn="l">
              <a:spcBef>
                <a:spcPts val="600"/>
              </a:spcBef>
              <a:spcAft>
                <a:spcPts val="0"/>
              </a:spcAft>
              <a:buSzPts val="1740"/>
              <a:buChar char="•"/>
              <a:defRPr sz="1200"/>
            </a:lvl5pPr>
            <a:lvl6pPr indent="-339089" lvl="5" marL="2743200" algn="l">
              <a:spcBef>
                <a:spcPts val="600"/>
              </a:spcBef>
              <a:spcAft>
                <a:spcPts val="0"/>
              </a:spcAft>
              <a:buSzPts val="1740"/>
              <a:buChar char="•"/>
              <a:defRPr sz="1200"/>
            </a:lvl6pPr>
            <a:lvl7pPr indent="-339089" lvl="6" marL="3200400" algn="l">
              <a:spcBef>
                <a:spcPts val="600"/>
              </a:spcBef>
              <a:spcAft>
                <a:spcPts val="0"/>
              </a:spcAft>
              <a:buSzPts val="1740"/>
              <a:buChar char="•"/>
              <a:defRPr sz="1200"/>
            </a:lvl7pPr>
            <a:lvl8pPr indent="-339090" lvl="7" marL="3657600" algn="l">
              <a:spcBef>
                <a:spcPts val="600"/>
              </a:spcBef>
              <a:spcAft>
                <a:spcPts val="0"/>
              </a:spcAft>
              <a:buSzPts val="1740"/>
              <a:buChar char="•"/>
              <a:defRPr sz="1200"/>
            </a:lvl8pPr>
            <a:lvl9pPr indent="-339090" lvl="8" marL="4114800" algn="l">
              <a:spcBef>
                <a:spcPts val="600"/>
              </a:spcBef>
              <a:spcAft>
                <a:spcPts val="600"/>
              </a:spcAft>
              <a:buSzPts val="1740"/>
              <a:buChar char="•"/>
              <a:defRPr sz="1200"/>
            </a:lvl9pPr>
          </a:lstStyle>
          <a:p/>
        </p:txBody>
      </p:sp>
      <p:sp>
        <p:nvSpPr>
          <p:cNvPr id="197" name="Google Shape;197;g39e1144912c_0_236"/>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g39e1144912c_0_236"/>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g39e1144912c_0_236"/>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0" name="Shape 200"/>
        <p:cNvGrpSpPr/>
        <p:nvPr/>
      </p:nvGrpSpPr>
      <p:grpSpPr>
        <a:xfrm>
          <a:off x="0" y="0"/>
          <a:ext cx="0" cy="0"/>
          <a:chOff x="0" y="0"/>
          <a:chExt cx="0" cy="0"/>
        </a:xfrm>
      </p:grpSpPr>
      <p:sp>
        <p:nvSpPr>
          <p:cNvPr id="201" name="Google Shape;201;g39e1144912c_0_245"/>
          <p:cNvSpPr txBox="1"/>
          <p:nvPr>
            <p:ph type="title"/>
          </p:nvPr>
        </p:nvSpPr>
        <p:spPr>
          <a:xfrm>
            <a:off x="982133" y="457201"/>
            <a:ext cx="7704600"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g39e1144912c_0_245"/>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g39e1144912c_0_245"/>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g39e1144912c_0_245"/>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5" name="Shape 205"/>
        <p:cNvGrpSpPr/>
        <p:nvPr/>
      </p:nvGrpSpPr>
      <p:grpSpPr>
        <a:xfrm>
          <a:off x="0" y="0"/>
          <a:ext cx="0" cy="0"/>
          <a:chOff x="0" y="0"/>
          <a:chExt cx="0" cy="0"/>
        </a:xfrm>
      </p:grpSpPr>
      <p:sp>
        <p:nvSpPr>
          <p:cNvPr id="206" name="Google Shape;206;g39e1144912c_0_250"/>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g39e1144912c_0_250"/>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8" name="Google Shape;208;g39e1144912c_0_250"/>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9" name="Shape 209"/>
        <p:cNvGrpSpPr/>
        <p:nvPr/>
      </p:nvGrpSpPr>
      <p:grpSpPr>
        <a:xfrm>
          <a:off x="0" y="0"/>
          <a:ext cx="0" cy="0"/>
          <a:chOff x="0" y="0"/>
          <a:chExt cx="0" cy="0"/>
        </a:xfrm>
      </p:grpSpPr>
      <p:sp>
        <p:nvSpPr>
          <p:cNvPr id="210" name="Google Shape;210;g39e1144912c_0_254"/>
          <p:cNvSpPr txBox="1"/>
          <p:nvPr>
            <p:ph type="title"/>
          </p:nvPr>
        </p:nvSpPr>
        <p:spPr>
          <a:xfrm>
            <a:off x="1113524" y="1600200"/>
            <a:ext cx="2662500"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g39e1144912c_0_254"/>
          <p:cNvSpPr txBox="1"/>
          <p:nvPr>
            <p:ph idx="1" type="body"/>
          </p:nvPr>
        </p:nvSpPr>
        <p:spPr>
          <a:xfrm>
            <a:off x="3947553" y="685800"/>
            <a:ext cx="4682100" cy="5105400"/>
          </a:xfrm>
          <a:prstGeom prst="rect">
            <a:avLst/>
          </a:prstGeom>
          <a:noFill/>
          <a:ln>
            <a:noFill/>
          </a:ln>
        </p:spPr>
        <p:txBody>
          <a:bodyPr anchorCtr="0" anchor="ctr" bIns="45700" lIns="91425" spcFirstLastPara="1" rIns="91425" wrap="square" tIns="45700">
            <a:normAutofit/>
          </a:bodyPr>
          <a:lstStyle>
            <a:lvl1pPr indent="-412750" lvl="0" marL="457200" algn="l">
              <a:spcBef>
                <a:spcPts val="400"/>
              </a:spcBef>
              <a:spcAft>
                <a:spcPts val="0"/>
              </a:spcAft>
              <a:buSzPts val="2900"/>
              <a:buChar char="•"/>
              <a:defRPr sz="2000"/>
            </a:lvl1pPr>
            <a:lvl2pPr indent="-394335" lvl="1" marL="914400" algn="l">
              <a:spcBef>
                <a:spcPts val="600"/>
              </a:spcBef>
              <a:spcAft>
                <a:spcPts val="0"/>
              </a:spcAft>
              <a:buSzPts val="2610"/>
              <a:buChar char="•"/>
              <a:defRPr sz="1800"/>
            </a:lvl2pPr>
            <a:lvl3pPr indent="-375919" lvl="2" marL="1371600" algn="l">
              <a:spcBef>
                <a:spcPts val="600"/>
              </a:spcBef>
              <a:spcAft>
                <a:spcPts val="0"/>
              </a:spcAft>
              <a:buSzPts val="2320"/>
              <a:buChar char="•"/>
              <a:defRPr sz="1600"/>
            </a:lvl3pPr>
            <a:lvl4pPr indent="-357505" lvl="3" marL="1828800" algn="l">
              <a:spcBef>
                <a:spcPts val="600"/>
              </a:spcBef>
              <a:spcAft>
                <a:spcPts val="0"/>
              </a:spcAft>
              <a:buSzPts val="2030"/>
              <a:buChar char="•"/>
              <a:defRPr sz="1400"/>
            </a:lvl4pPr>
            <a:lvl5pPr indent="-357504" lvl="4" marL="2286000" algn="l">
              <a:spcBef>
                <a:spcPts val="600"/>
              </a:spcBef>
              <a:spcAft>
                <a:spcPts val="0"/>
              </a:spcAft>
              <a:buSzPts val="2030"/>
              <a:buChar char="•"/>
              <a:defRPr sz="1400"/>
            </a:lvl5pPr>
            <a:lvl6pPr indent="-357504" lvl="5" marL="2743200" algn="l">
              <a:spcBef>
                <a:spcPts val="600"/>
              </a:spcBef>
              <a:spcAft>
                <a:spcPts val="0"/>
              </a:spcAft>
              <a:buSzPts val="2030"/>
              <a:buChar char="•"/>
              <a:defRPr sz="1400"/>
            </a:lvl6pPr>
            <a:lvl7pPr indent="-357504" lvl="6" marL="3200400" algn="l">
              <a:spcBef>
                <a:spcPts val="600"/>
              </a:spcBef>
              <a:spcAft>
                <a:spcPts val="0"/>
              </a:spcAft>
              <a:buSzPts val="2030"/>
              <a:buChar char="•"/>
              <a:defRPr sz="1400"/>
            </a:lvl7pPr>
            <a:lvl8pPr indent="-357504" lvl="7" marL="3657600" algn="l">
              <a:spcBef>
                <a:spcPts val="600"/>
              </a:spcBef>
              <a:spcAft>
                <a:spcPts val="0"/>
              </a:spcAft>
              <a:buSzPts val="2030"/>
              <a:buChar char="•"/>
              <a:defRPr sz="1400"/>
            </a:lvl8pPr>
            <a:lvl9pPr indent="-357504" lvl="8" marL="4114800" algn="l">
              <a:spcBef>
                <a:spcPts val="600"/>
              </a:spcBef>
              <a:spcAft>
                <a:spcPts val="600"/>
              </a:spcAft>
              <a:buSzPts val="2030"/>
              <a:buChar char="•"/>
              <a:defRPr sz="1400"/>
            </a:lvl9pPr>
          </a:lstStyle>
          <a:p/>
        </p:txBody>
      </p:sp>
      <p:sp>
        <p:nvSpPr>
          <p:cNvPr id="212" name="Google Shape;212;g39e1144912c_0_254"/>
          <p:cNvSpPr txBox="1"/>
          <p:nvPr>
            <p:ph idx="2" type="body"/>
          </p:nvPr>
        </p:nvSpPr>
        <p:spPr>
          <a:xfrm>
            <a:off x="1113524" y="2971800"/>
            <a:ext cx="2662500"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20"/>
              </a:spcBef>
              <a:spcAft>
                <a:spcPts val="0"/>
              </a:spcAft>
              <a:buSzPts val="2320"/>
              <a:buNone/>
              <a:defRPr sz="16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213" name="Google Shape;213;g39e1144912c_0_254"/>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g39e1144912c_0_254"/>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g39e1144912c_0_254"/>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6" name="Shape 216"/>
        <p:cNvGrpSpPr/>
        <p:nvPr/>
      </p:nvGrpSpPr>
      <p:grpSpPr>
        <a:xfrm>
          <a:off x="0" y="0"/>
          <a:ext cx="0" cy="0"/>
          <a:chOff x="0" y="0"/>
          <a:chExt cx="0" cy="0"/>
        </a:xfrm>
      </p:grpSpPr>
      <p:sp>
        <p:nvSpPr>
          <p:cNvPr id="217" name="Google Shape;217;g39e1144912c_0_261"/>
          <p:cNvSpPr txBox="1"/>
          <p:nvPr>
            <p:ph type="title"/>
          </p:nvPr>
        </p:nvSpPr>
        <p:spPr>
          <a:xfrm>
            <a:off x="1112332" y="1752599"/>
            <a:ext cx="4070700" cy="13716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800"/>
              <a:buFont typeface="Corbel"/>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g39e1144912c_0_261"/>
          <p:cNvSpPr/>
          <p:nvPr>
            <p:ph idx="2" type="pic"/>
          </p:nvPr>
        </p:nvSpPr>
        <p:spPr>
          <a:xfrm>
            <a:off x="5697495" y="914400"/>
            <a:ext cx="2461500"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219" name="Google Shape;219;g39e1144912c_0_261"/>
          <p:cNvSpPr txBox="1"/>
          <p:nvPr>
            <p:ph idx="1" type="body"/>
          </p:nvPr>
        </p:nvSpPr>
        <p:spPr>
          <a:xfrm>
            <a:off x="1112332" y="3124199"/>
            <a:ext cx="4070700" cy="1828800"/>
          </a:xfrm>
          <a:prstGeom prst="rect">
            <a:avLst/>
          </a:prstGeom>
          <a:noFill/>
          <a:ln>
            <a:noFill/>
          </a:ln>
        </p:spPr>
        <p:txBody>
          <a:bodyPr anchorCtr="0" anchor="ctr" bIns="45700" lIns="91425" spcFirstLastPara="1" rIns="91425" wrap="square" tIns="45700">
            <a:normAutofit/>
          </a:bodyPr>
          <a:lstStyle>
            <a:lvl1pPr indent="-228600" lvl="0" marL="457200" algn="ctr">
              <a:spcBef>
                <a:spcPts val="360"/>
              </a:spcBef>
              <a:spcAft>
                <a:spcPts val="0"/>
              </a:spcAft>
              <a:buSzPts val="2610"/>
              <a:buNone/>
              <a:defRPr sz="18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220" name="Google Shape;220;g39e1144912c_0_261"/>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g39e1144912c_0_261"/>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g39e1144912c_0_261"/>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223" name="Shape 223"/>
        <p:cNvGrpSpPr/>
        <p:nvPr/>
      </p:nvGrpSpPr>
      <p:grpSpPr>
        <a:xfrm>
          <a:off x="0" y="0"/>
          <a:ext cx="0" cy="0"/>
          <a:chOff x="0" y="0"/>
          <a:chExt cx="0" cy="0"/>
        </a:xfrm>
      </p:grpSpPr>
      <p:sp>
        <p:nvSpPr>
          <p:cNvPr id="224" name="Google Shape;224;g39e1144912c_0_268"/>
          <p:cNvSpPr txBox="1"/>
          <p:nvPr>
            <p:ph type="title"/>
          </p:nvPr>
        </p:nvSpPr>
        <p:spPr>
          <a:xfrm>
            <a:off x="1113523" y="4732865"/>
            <a:ext cx="7515900" cy="5667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rbel"/>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g39e1144912c_0_268"/>
          <p:cNvSpPr/>
          <p:nvPr>
            <p:ph idx="2" type="pic"/>
          </p:nvPr>
        </p:nvSpPr>
        <p:spPr>
          <a:xfrm>
            <a:off x="1789975" y="932112"/>
            <a:ext cx="6171000" cy="3165000"/>
          </a:xfrm>
          <a:prstGeom prst="roundRect">
            <a:avLst>
              <a:gd fmla="val 4380" name="adj"/>
            </a:avLst>
          </a:prstGeom>
          <a:noFill/>
          <a:ln cap="flat" cmpd="sng" w="38100">
            <a:solidFill>
              <a:schemeClr val="lt2"/>
            </a:solidFill>
            <a:prstDash val="solid"/>
            <a:round/>
            <a:headEnd len="sm" w="sm" type="none"/>
            <a:tailEnd len="sm" w="sm" type="none"/>
          </a:ln>
        </p:spPr>
      </p:sp>
      <p:sp>
        <p:nvSpPr>
          <p:cNvPr id="226" name="Google Shape;226;g39e1144912c_0_268"/>
          <p:cNvSpPr txBox="1"/>
          <p:nvPr>
            <p:ph idx="1" type="body"/>
          </p:nvPr>
        </p:nvSpPr>
        <p:spPr>
          <a:xfrm>
            <a:off x="1113523" y="5299603"/>
            <a:ext cx="7515900" cy="493800"/>
          </a:xfrm>
          <a:prstGeom prst="rect">
            <a:avLst/>
          </a:prstGeom>
          <a:noFill/>
          <a:ln>
            <a:noFill/>
          </a:ln>
        </p:spPr>
        <p:txBody>
          <a:bodyPr anchorCtr="0" anchor="ctr" bIns="45700" lIns="91425" spcFirstLastPara="1" rIns="91425" wrap="square" tIns="45700">
            <a:normAutofit/>
          </a:bodyPr>
          <a:lstStyle>
            <a:lvl1pPr indent="-228600" lvl="0" marL="457200" algn="ctr">
              <a:spcBef>
                <a:spcPts val="280"/>
              </a:spcBef>
              <a:spcAft>
                <a:spcPts val="0"/>
              </a:spcAft>
              <a:buSzPts val="2030"/>
              <a:buNone/>
              <a:defRPr sz="1400"/>
            </a:lvl1pPr>
            <a:lvl2pPr indent="-228600" lvl="1" marL="914400" algn="l">
              <a:spcBef>
                <a:spcPts val="600"/>
              </a:spcBef>
              <a:spcAft>
                <a:spcPts val="0"/>
              </a:spcAft>
              <a:buSzPts val="1740"/>
              <a:buNone/>
              <a:defRPr sz="1200"/>
            </a:lvl2pPr>
            <a:lvl3pPr indent="-228600" lvl="2" marL="1371600" algn="l">
              <a:spcBef>
                <a:spcPts val="600"/>
              </a:spcBef>
              <a:spcAft>
                <a:spcPts val="0"/>
              </a:spcAft>
              <a:buSzPts val="1450"/>
              <a:buNone/>
              <a:defRPr sz="1000"/>
            </a:lvl3pPr>
            <a:lvl4pPr indent="-228600" lvl="3" marL="1828800" algn="l">
              <a:spcBef>
                <a:spcPts val="600"/>
              </a:spcBef>
              <a:spcAft>
                <a:spcPts val="0"/>
              </a:spcAft>
              <a:buSzPts val="1305"/>
              <a:buNone/>
              <a:defRPr sz="900"/>
            </a:lvl4pPr>
            <a:lvl5pPr indent="-228600" lvl="4" marL="2286000" algn="l">
              <a:spcBef>
                <a:spcPts val="600"/>
              </a:spcBef>
              <a:spcAft>
                <a:spcPts val="0"/>
              </a:spcAft>
              <a:buSzPts val="1305"/>
              <a:buNone/>
              <a:defRPr sz="900"/>
            </a:lvl5pPr>
            <a:lvl6pPr indent="-228600" lvl="5" marL="2743200" algn="l">
              <a:spcBef>
                <a:spcPts val="600"/>
              </a:spcBef>
              <a:spcAft>
                <a:spcPts val="0"/>
              </a:spcAft>
              <a:buSzPts val="1305"/>
              <a:buNone/>
              <a:defRPr sz="900"/>
            </a:lvl6pPr>
            <a:lvl7pPr indent="-228600" lvl="6" marL="3200400" algn="l">
              <a:spcBef>
                <a:spcPts val="600"/>
              </a:spcBef>
              <a:spcAft>
                <a:spcPts val="0"/>
              </a:spcAft>
              <a:buSzPts val="1305"/>
              <a:buNone/>
              <a:defRPr sz="900"/>
            </a:lvl7pPr>
            <a:lvl8pPr indent="-228600" lvl="7" marL="3657600" algn="l">
              <a:spcBef>
                <a:spcPts val="600"/>
              </a:spcBef>
              <a:spcAft>
                <a:spcPts val="0"/>
              </a:spcAft>
              <a:buSzPts val="1305"/>
              <a:buNone/>
              <a:defRPr sz="900"/>
            </a:lvl8pPr>
            <a:lvl9pPr indent="-228600" lvl="8" marL="4114800" algn="l">
              <a:spcBef>
                <a:spcPts val="600"/>
              </a:spcBef>
              <a:spcAft>
                <a:spcPts val="600"/>
              </a:spcAft>
              <a:buSzPts val="1305"/>
              <a:buNone/>
              <a:defRPr sz="900"/>
            </a:lvl9pPr>
          </a:lstStyle>
          <a:p/>
        </p:txBody>
      </p:sp>
      <p:sp>
        <p:nvSpPr>
          <p:cNvPr id="227" name="Google Shape;227;g39e1144912c_0_268"/>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g39e1144912c_0_268"/>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g39e1144912c_0_268"/>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230" name="Shape 230"/>
        <p:cNvGrpSpPr/>
        <p:nvPr/>
      </p:nvGrpSpPr>
      <p:grpSpPr>
        <a:xfrm>
          <a:off x="0" y="0"/>
          <a:ext cx="0" cy="0"/>
          <a:chOff x="0" y="0"/>
          <a:chExt cx="0" cy="0"/>
        </a:xfrm>
      </p:grpSpPr>
      <p:sp>
        <p:nvSpPr>
          <p:cNvPr id="231" name="Google Shape;231;g39e1144912c_0_275"/>
          <p:cNvSpPr txBox="1"/>
          <p:nvPr>
            <p:ph type="title"/>
          </p:nvPr>
        </p:nvSpPr>
        <p:spPr>
          <a:xfrm>
            <a:off x="1113524" y="685800"/>
            <a:ext cx="7515900" cy="3048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g39e1144912c_0_275"/>
          <p:cNvSpPr txBox="1"/>
          <p:nvPr>
            <p:ph idx="1" type="body"/>
          </p:nvPr>
        </p:nvSpPr>
        <p:spPr>
          <a:xfrm>
            <a:off x="1113524" y="4343400"/>
            <a:ext cx="7515900"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233" name="Google Shape;233;g39e1144912c_0_275"/>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g39e1144912c_0_275"/>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5" name="Google Shape;235;g39e1144912c_0_275"/>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236" name="Shape 236"/>
        <p:cNvGrpSpPr/>
        <p:nvPr/>
      </p:nvGrpSpPr>
      <p:grpSpPr>
        <a:xfrm>
          <a:off x="0" y="0"/>
          <a:ext cx="0" cy="0"/>
          <a:chOff x="0" y="0"/>
          <a:chExt cx="0" cy="0"/>
        </a:xfrm>
      </p:grpSpPr>
      <p:sp>
        <p:nvSpPr>
          <p:cNvPr id="237" name="Google Shape;237;g39e1144912c_0_281"/>
          <p:cNvSpPr txBox="1"/>
          <p:nvPr/>
        </p:nvSpPr>
        <p:spPr>
          <a:xfrm>
            <a:off x="969421" y="863023"/>
            <a:ext cx="4572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238" name="Google Shape;238;g39e1144912c_0_281"/>
          <p:cNvSpPr txBox="1"/>
          <p:nvPr/>
        </p:nvSpPr>
        <p:spPr>
          <a:xfrm>
            <a:off x="8172197" y="2819399"/>
            <a:ext cx="457200" cy="5847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239" name="Google Shape;239;g39e1144912c_0_281"/>
          <p:cNvSpPr txBox="1"/>
          <p:nvPr>
            <p:ph type="title"/>
          </p:nvPr>
        </p:nvSpPr>
        <p:spPr>
          <a:xfrm>
            <a:off x="1426741" y="685801"/>
            <a:ext cx="6974100"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g39e1144912c_0_281"/>
          <p:cNvSpPr txBox="1"/>
          <p:nvPr>
            <p:ph idx="1" type="body"/>
          </p:nvPr>
        </p:nvSpPr>
        <p:spPr>
          <a:xfrm>
            <a:off x="1598235" y="3428999"/>
            <a:ext cx="6631200" cy="381000"/>
          </a:xfrm>
          <a:prstGeom prst="rect">
            <a:avLst/>
          </a:prstGeom>
          <a:noFill/>
          <a:ln>
            <a:noFill/>
          </a:ln>
        </p:spPr>
        <p:txBody>
          <a:bodyPr anchorCtr="0" anchor="ctr" bIns="45700" lIns="91425" spcFirstLastPara="1" rIns="91425" wrap="square" tIns="45700">
            <a:normAutofit/>
          </a:bodyPr>
          <a:lstStyle>
            <a:lvl1pPr indent="-228600" lvl="0" marL="457200" algn="l">
              <a:spcBef>
                <a:spcPts val="360"/>
              </a:spcBef>
              <a:spcAft>
                <a:spcPts val="0"/>
              </a:spcAft>
              <a:buSzPts val="2610"/>
              <a:buFont typeface="Corbel"/>
              <a:buNone/>
              <a:defRPr sz="1800"/>
            </a:lvl1pPr>
            <a:lvl2pPr indent="-228600" lvl="1" marL="914400" algn="l">
              <a:spcBef>
                <a:spcPts val="600"/>
              </a:spcBef>
              <a:spcAft>
                <a:spcPts val="0"/>
              </a:spcAft>
              <a:buSzPts val="2900"/>
              <a:buFont typeface="Corbel"/>
              <a:buNone/>
              <a:defRPr/>
            </a:lvl2pPr>
            <a:lvl3pPr indent="-228600" lvl="2" marL="1371600" algn="l">
              <a:spcBef>
                <a:spcPts val="600"/>
              </a:spcBef>
              <a:spcAft>
                <a:spcPts val="0"/>
              </a:spcAft>
              <a:buSzPts val="2610"/>
              <a:buFont typeface="Corbel"/>
              <a:buNone/>
              <a:defRPr/>
            </a:lvl3pPr>
            <a:lvl4pPr indent="-228600" lvl="3" marL="1828800" algn="l">
              <a:spcBef>
                <a:spcPts val="600"/>
              </a:spcBef>
              <a:spcAft>
                <a:spcPts val="0"/>
              </a:spcAft>
              <a:buSzPts val="2320"/>
              <a:buFont typeface="Corbel"/>
              <a:buNone/>
              <a:defRPr/>
            </a:lvl4pPr>
            <a:lvl5pPr indent="-228600" lvl="4" marL="2286000" algn="l">
              <a:spcBef>
                <a:spcPts val="600"/>
              </a:spcBef>
              <a:spcAft>
                <a:spcPts val="0"/>
              </a:spcAft>
              <a:buSzPts val="2030"/>
              <a:buFont typeface="Corbel"/>
              <a:buNone/>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41" name="Google Shape;241;g39e1144912c_0_281"/>
          <p:cNvSpPr txBox="1"/>
          <p:nvPr>
            <p:ph idx="2" type="body"/>
          </p:nvPr>
        </p:nvSpPr>
        <p:spPr>
          <a:xfrm>
            <a:off x="1113523" y="4343400"/>
            <a:ext cx="7515900" cy="1447800"/>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242" name="Google Shape;242;g39e1144912c_0_281"/>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g39e1144912c_0_281"/>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g39e1144912c_0_281"/>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245" name="Shape 245"/>
        <p:cNvGrpSpPr/>
        <p:nvPr/>
      </p:nvGrpSpPr>
      <p:grpSpPr>
        <a:xfrm>
          <a:off x="0" y="0"/>
          <a:ext cx="0" cy="0"/>
          <a:chOff x="0" y="0"/>
          <a:chExt cx="0" cy="0"/>
        </a:xfrm>
      </p:grpSpPr>
      <p:sp>
        <p:nvSpPr>
          <p:cNvPr id="246" name="Google Shape;246;g39e1144912c_0_290"/>
          <p:cNvSpPr txBox="1"/>
          <p:nvPr>
            <p:ph type="title"/>
          </p:nvPr>
        </p:nvSpPr>
        <p:spPr>
          <a:xfrm>
            <a:off x="1113525" y="3308581"/>
            <a:ext cx="7515900" cy="14688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3200"/>
              <a:buFont typeface="Corbel"/>
              <a:buNone/>
              <a:defRPr b="0" sz="32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g39e1144912c_0_290"/>
          <p:cNvSpPr txBox="1"/>
          <p:nvPr>
            <p:ph idx="1" type="body"/>
          </p:nvPr>
        </p:nvSpPr>
        <p:spPr>
          <a:xfrm>
            <a:off x="1113524" y="4777381"/>
            <a:ext cx="7515900" cy="860400"/>
          </a:xfrm>
          <a:prstGeom prst="rect">
            <a:avLst/>
          </a:prstGeom>
          <a:noFill/>
          <a:ln>
            <a:noFill/>
          </a:ln>
        </p:spPr>
        <p:txBody>
          <a:bodyPr anchorCtr="0" anchor="t" bIns="45700" lIns="91425" spcFirstLastPara="1" rIns="91425" wrap="square" tIns="45700">
            <a:normAutofit/>
          </a:bodyPr>
          <a:lstStyle>
            <a:lvl1pPr indent="-228600" lvl="0" marL="457200" algn="r">
              <a:spcBef>
                <a:spcPts val="400"/>
              </a:spcBef>
              <a:spcAft>
                <a:spcPts val="0"/>
              </a:spcAft>
              <a:buSzPts val="2900"/>
              <a:buNone/>
              <a:defRPr sz="20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248" name="Google Shape;248;g39e1144912c_0_290"/>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9" name="Google Shape;249;g39e1144912c_0_290"/>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g39e1144912c_0_290"/>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251" name="Shape 251"/>
        <p:cNvGrpSpPr/>
        <p:nvPr/>
      </p:nvGrpSpPr>
      <p:grpSpPr>
        <a:xfrm>
          <a:off x="0" y="0"/>
          <a:ext cx="0" cy="0"/>
          <a:chOff x="0" y="0"/>
          <a:chExt cx="0" cy="0"/>
        </a:xfrm>
      </p:grpSpPr>
      <p:sp>
        <p:nvSpPr>
          <p:cNvPr id="252" name="Google Shape;252;g39e1144912c_0_296"/>
          <p:cNvSpPr txBox="1"/>
          <p:nvPr/>
        </p:nvSpPr>
        <p:spPr>
          <a:xfrm>
            <a:off x="969421" y="863023"/>
            <a:ext cx="457200" cy="584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253" name="Google Shape;253;g39e1144912c_0_296"/>
          <p:cNvSpPr txBox="1"/>
          <p:nvPr/>
        </p:nvSpPr>
        <p:spPr>
          <a:xfrm>
            <a:off x="8172197" y="2819399"/>
            <a:ext cx="457200" cy="5847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Corbel"/>
              <a:buNone/>
            </a:pPr>
            <a:r>
              <a:rPr b="0" lang="en-US" sz="8000" cap="none">
                <a:solidFill>
                  <a:schemeClr val="dk1"/>
                </a:solidFill>
                <a:latin typeface="Corbel"/>
                <a:ea typeface="Corbel"/>
                <a:cs typeface="Corbel"/>
                <a:sym typeface="Corbel"/>
              </a:rPr>
              <a:t>”</a:t>
            </a:r>
            <a:endParaRPr/>
          </a:p>
        </p:txBody>
      </p:sp>
      <p:sp>
        <p:nvSpPr>
          <p:cNvPr id="254" name="Google Shape;254;g39e1144912c_0_296"/>
          <p:cNvSpPr txBox="1"/>
          <p:nvPr>
            <p:ph type="title"/>
          </p:nvPr>
        </p:nvSpPr>
        <p:spPr>
          <a:xfrm>
            <a:off x="1426741" y="685801"/>
            <a:ext cx="6974100" cy="2743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3200"/>
              <a:buFont typeface="Corbel"/>
              <a:buNone/>
              <a:defRPr b="0" sz="32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5" name="Google Shape;255;g39e1144912c_0_296"/>
          <p:cNvSpPr txBox="1"/>
          <p:nvPr>
            <p:ph idx="1" type="body"/>
          </p:nvPr>
        </p:nvSpPr>
        <p:spPr>
          <a:xfrm>
            <a:off x="1113525" y="3886200"/>
            <a:ext cx="7515900" cy="888900"/>
          </a:xfrm>
          <a:prstGeom prst="rect">
            <a:avLst/>
          </a:prstGeom>
          <a:noFill/>
          <a:ln>
            <a:noFill/>
          </a:ln>
        </p:spPr>
        <p:txBody>
          <a:bodyPr anchorCtr="0" anchor="b" bIns="45700" lIns="91425" spcFirstLastPara="1" rIns="91425" wrap="square" tIns="45700">
            <a:normAutofit/>
          </a:bodyPr>
          <a:lstStyle>
            <a:lvl1pPr indent="-228600" lvl="0" marL="457200" algn="r">
              <a:spcBef>
                <a:spcPts val="480"/>
              </a:spcBef>
              <a:spcAft>
                <a:spcPts val="0"/>
              </a:spcAft>
              <a:buSzPts val="3480"/>
              <a:buNone/>
              <a:defRPr b="0" sz="24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56" name="Google Shape;256;g39e1144912c_0_296"/>
          <p:cNvSpPr txBox="1"/>
          <p:nvPr>
            <p:ph idx="2" type="body"/>
          </p:nvPr>
        </p:nvSpPr>
        <p:spPr>
          <a:xfrm>
            <a:off x="1113524" y="4775200"/>
            <a:ext cx="7515900" cy="1016100"/>
          </a:xfrm>
          <a:prstGeom prst="rect">
            <a:avLst/>
          </a:prstGeom>
          <a:noFill/>
          <a:ln>
            <a:noFill/>
          </a:ln>
        </p:spPr>
        <p:txBody>
          <a:bodyPr anchorCtr="0" anchor="t" bIns="45700" lIns="91425" spcFirstLastPara="1" rIns="91425" wrap="square" tIns="45700">
            <a:normAutofit/>
          </a:bodyPr>
          <a:lstStyle>
            <a:lvl1pPr indent="-228600" lvl="0" marL="457200" algn="r">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257" name="Google Shape;257;g39e1144912c_0_296"/>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g39e1144912c_0_296"/>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g39e1144912c_0_296"/>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260" name="Shape 260"/>
        <p:cNvGrpSpPr/>
        <p:nvPr/>
      </p:nvGrpSpPr>
      <p:grpSpPr>
        <a:xfrm>
          <a:off x="0" y="0"/>
          <a:ext cx="0" cy="0"/>
          <a:chOff x="0" y="0"/>
          <a:chExt cx="0" cy="0"/>
        </a:xfrm>
      </p:grpSpPr>
      <p:sp>
        <p:nvSpPr>
          <p:cNvPr id="261" name="Google Shape;261;g39e1144912c_0_305"/>
          <p:cNvSpPr txBox="1"/>
          <p:nvPr>
            <p:ph type="title"/>
          </p:nvPr>
        </p:nvSpPr>
        <p:spPr>
          <a:xfrm>
            <a:off x="1113525" y="685801"/>
            <a:ext cx="7515900" cy="27273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2" name="Google Shape;262;g39e1144912c_0_305"/>
          <p:cNvSpPr txBox="1"/>
          <p:nvPr>
            <p:ph idx="1" type="body"/>
          </p:nvPr>
        </p:nvSpPr>
        <p:spPr>
          <a:xfrm>
            <a:off x="1113524" y="3505200"/>
            <a:ext cx="7515900" cy="838200"/>
          </a:xfrm>
          <a:prstGeom prst="rect">
            <a:avLst/>
          </a:prstGeom>
          <a:noFill/>
          <a:ln>
            <a:noFill/>
          </a:ln>
        </p:spPr>
        <p:txBody>
          <a:bodyPr anchorCtr="0" anchor="b" bIns="45700" lIns="91425" spcFirstLastPara="1" rIns="91425" wrap="square" tIns="45700">
            <a:normAutofit/>
          </a:bodyPr>
          <a:lstStyle>
            <a:lvl1pPr indent="-228600" lvl="0" marL="457200" algn="l">
              <a:spcBef>
                <a:spcPts val="560"/>
              </a:spcBef>
              <a:spcAft>
                <a:spcPts val="0"/>
              </a:spcAft>
              <a:buSzPts val="4060"/>
              <a:buNone/>
              <a:defRPr b="0" sz="2800" cap="none">
                <a:solidFill>
                  <a:schemeClr val="dk1"/>
                </a:solidFill>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63" name="Google Shape;263;g39e1144912c_0_305"/>
          <p:cNvSpPr txBox="1"/>
          <p:nvPr>
            <p:ph idx="2" type="body"/>
          </p:nvPr>
        </p:nvSpPr>
        <p:spPr>
          <a:xfrm>
            <a:off x="1113524" y="4343400"/>
            <a:ext cx="7515900" cy="1447800"/>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2610"/>
              <a:buNone/>
              <a:defRPr sz="1800">
                <a:solidFill>
                  <a:schemeClr val="dk1"/>
                </a:solidFill>
              </a:defRPr>
            </a:lvl1pPr>
            <a:lvl2pPr indent="-228600" lvl="1" marL="914400" algn="l">
              <a:spcBef>
                <a:spcPts val="600"/>
              </a:spcBef>
              <a:spcAft>
                <a:spcPts val="0"/>
              </a:spcAft>
              <a:buSzPts val="2610"/>
              <a:buNone/>
              <a:defRPr sz="1800">
                <a:solidFill>
                  <a:srgbClr val="888888"/>
                </a:solidFill>
              </a:defRPr>
            </a:lvl2pPr>
            <a:lvl3pPr indent="-228600" lvl="2" marL="1371600" algn="l">
              <a:spcBef>
                <a:spcPts val="600"/>
              </a:spcBef>
              <a:spcAft>
                <a:spcPts val="0"/>
              </a:spcAft>
              <a:buSzPts val="2320"/>
              <a:buNone/>
              <a:defRPr sz="1600">
                <a:solidFill>
                  <a:srgbClr val="888888"/>
                </a:solidFill>
              </a:defRPr>
            </a:lvl3pPr>
            <a:lvl4pPr indent="-228600" lvl="3" marL="1828800" algn="l">
              <a:spcBef>
                <a:spcPts val="600"/>
              </a:spcBef>
              <a:spcAft>
                <a:spcPts val="0"/>
              </a:spcAft>
              <a:buSzPts val="2030"/>
              <a:buNone/>
              <a:defRPr sz="1400">
                <a:solidFill>
                  <a:srgbClr val="888888"/>
                </a:solidFill>
              </a:defRPr>
            </a:lvl4pPr>
            <a:lvl5pPr indent="-228600" lvl="4" marL="2286000" algn="l">
              <a:spcBef>
                <a:spcPts val="600"/>
              </a:spcBef>
              <a:spcAft>
                <a:spcPts val="0"/>
              </a:spcAft>
              <a:buSzPts val="2030"/>
              <a:buNone/>
              <a:defRPr sz="1400">
                <a:solidFill>
                  <a:srgbClr val="888888"/>
                </a:solidFill>
              </a:defRPr>
            </a:lvl5pPr>
            <a:lvl6pPr indent="-228600" lvl="5" marL="2743200" algn="l">
              <a:spcBef>
                <a:spcPts val="600"/>
              </a:spcBef>
              <a:spcAft>
                <a:spcPts val="0"/>
              </a:spcAft>
              <a:buSzPts val="2030"/>
              <a:buNone/>
              <a:defRPr sz="1400">
                <a:solidFill>
                  <a:srgbClr val="888888"/>
                </a:solidFill>
              </a:defRPr>
            </a:lvl6pPr>
            <a:lvl7pPr indent="-228600" lvl="6" marL="3200400" algn="l">
              <a:spcBef>
                <a:spcPts val="600"/>
              </a:spcBef>
              <a:spcAft>
                <a:spcPts val="0"/>
              </a:spcAft>
              <a:buSzPts val="2030"/>
              <a:buNone/>
              <a:defRPr sz="1400">
                <a:solidFill>
                  <a:srgbClr val="888888"/>
                </a:solidFill>
              </a:defRPr>
            </a:lvl7pPr>
            <a:lvl8pPr indent="-228600" lvl="7" marL="3657600" algn="l">
              <a:spcBef>
                <a:spcPts val="600"/>
              </a:spcBef>
              <a:spcAft>
                <a:spcPts val="0"/>
              </a:spcAft>
              <a:buSzPts val="2030"/>
              <a:buNone/>
              <a:defRPr sz="1400">
                <a:solidFill>
                  <a:srgbClr val="888888"/>
                </a:solidFill>
              </a:defRPr>
            </a:lvl8pPr>
            <a:lvl9pPr indent="-228600" lvl="8" marL="4114800" algn="l">
              <a:spcBef>
                <a:spcPts val="600"/>
              </a:spcBef>
              <a:spcAft>
                <a:spcPts val="600"/>
              </a:spcAft>
              <a:buSzPts val="2030"/>
              <a:buNone/>
              <a:defRPr sz="1400">
                <a:solidFill>
                  <a:srgbClr val="888888"/>
                </a:solidFill>
              </a:defRPr>
            </a:lvl9pPr>
          </a:lstStyle>
          <a:p/>
        </p:txBody>
      </p:sp>
      <p:sp>
        <p:nvSpPr>
          <p:cNvPr id="264" name="Google Shape;264;g39e1144912c_0_305"/>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5" name="Google Shape;265;g39e1144912c_0_305"/>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g39e1144912c_0_305"/>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67" name="Shape 267"/>
        <p:cNvGrpSpPr/>
        <p:nvPr/>
      </p:nvGrpSpPr>
      <p:grpSpPr>
        <a:xfrm>
          <a:off x="0" y="0"/>
          <a:ext cx="0" cy="0"/>
          <a:chOff x="0" y="0"/>
          <a:chExt cx="0" cy="0"/>
        </a:xfrm>
      </p:grpSpPr>
      <p:sp>
        <p:nvSpPr>
          <p:cNvPr id="268" name="Google Shape;268;g39e1144912c_0_312"/>
          <p:cNvSpPr txBox="1"/>
          <p:nvPr>
            <p:ph type="title"/>
          </p:nvPr>
        </p:nvSpPr>
        <p:spPr>
          <a:xfrm>
            <a:off x="982133" y="457201"/>
            <a:ext cx="7704600" cy="19812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g39e1144912c_0_312"/>
          <p:cNvSpPr txBox="1"/>
          <p:nvPr>
            <p:ph idx="1" type="body"/>
          </p:nvPr>
        </p:nvSpPr>
        <p:spPr>
          <a:xfrm rot="5400000">
            <a:off x="3156000" y="493200"/>
            <a:ext cx="3357000" cy="770460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70" name="Google Shape;270;g39e1144912c_0_312"/>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1" name="Google Shape;271;g39e1144912c_0_312"/>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2" name="Google Shape;272;g39e1144912c_0_312"/>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3" name="Shape 273"/>
        <p:cNvGrpSpPr/>
        <p:nvPr/>
      </p:nvGrpSpPr>
      <p:grpSpPr>
        <a:xfrm>
          <a:off x="0" y="0"/>
          <a:ext cx="0" cy="0"/>
          <a:chOff x="0" y="0"/>
          <a:chExt cx="0" cy="0"/>
        </a:xfrm>
      </p:grpSpPr>
      <p:sp>
        <p:nvSpPr>
          <p:cNvPr id="274" name="Google Shape;274;g39e1144912c_0_318"/>
          <p:cNvSpPr txBox="1"/>
          <p:nvPr>
            <p:ph type="title"/>
          </p:nvPr>
        </p:nvSpPr>
        <p:spPr>
          <a:xfrm rot="5400000">
            <a:off x="5412766" y="2574450"/>
            <a:ext cx="5105400" cy="1328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g39e1144912c_0_318"/>
          <p:cNvSpPr txBox="1"/>
          <p:nvPr>
            <p:ph idx="1" type="body"/>
          </p:nvPr>
        </p:nvSpPr>
        <p:spPr>
          <a:xfrm rot="5400000">
            <a:off x="1568947" y="230250"/>
            <a:ext cx="5105400" cy="601650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600"/>
              </a:spcBef>
              <a:spcAft>
                <a:spcPts val="0"/>
              </a:spcAft>
              <a:buSzPts val="2610"/>
              <a:buChar char="•"/>
              <a:defRPr/>
            </a:lvl2pPr>
            <a:lvl3pPr indent="-394335" lvl="2" marL="1371600" algn="l">
              <a:spcBef>
                <a:spcPts val="600"/>
              </a:spcBef>
              <a:spcAft>
                <a:spcPts val="0"/>
              </a:spcAft>
              <a:buSzPts val="2610"/>
              <a:buChar char="•"/>
              <a:defRPr/>
            </a:lvl3pPr>
            <a:lvl4pPr indent="-394335" lvl="3" marL="1828800" algn="l">
              <a:spcBef>
                <a:spcPts val="600"/>
              </a:spcBef>
              <a:spcAft>
                <a:spcPts val="0"/>
              </a:spcAft>
              <a:buSzPts val="2610"/>
              <a:buChar char="•"/>
              <a:defRPr/>
            </a:lvl4pPr>
            <a:lvl5pPr indent="-394335" lvl="4" marL="2286000" algn="l">
              <a:spcBef>
                <a:spcPts val="600"/>
              </a:spcBef>
              <a:spcAft>
                <a:spcPts val="0"/>
              </a:spcAft>
              <a:buSzPts val="2610"/>
              <a:buChar char="•"/>
              <a:defRPr/>
            </a:lvl5pPr>
            <a:lvl6pPr indent="-394335" lvl="5" marL="2743200" algn="l">
              <a:spcBef>
                <a:spcPts val="600"/>
              </a:spcBef>
              <a:spcAft>
                <a:spcPts val="0"/>
              </a:spcAft>
              <a:buSzPts val="2610"/>
              <a:buChar char="•"/>
              <a:defRPr/>
            </a:lvl6pPr>
            <a:lvl7pPr indent="-394335" lvl="6" marL="3200400" algn="l">
              <a:spcBef>
                <a:spcPts val="600"/>
              </a:spcBef>
              <a:spcAft>
                <a:spcPts val="0"/>
              </a:spcAft>
              <a:buSzPts val="2610"/>
              <a:buChar char="•"/>
              <a:defRPr/>
            </a:lvl7pPr>
            <a:lvl8pPr indent="-394334" lvl="7" marL="3657600" algn="l">
              <a:spcBef>
                <a:spcPts val="600"/>
              </a:spcBef>
              <a:spcAft>
                <a:spcPts val="0"/>
              </a:spcAft>
              <a:buSzPts val="2610"/>
              <a:buChar char="•"/>
              <a:defRPr/>
            </a:lvl8pPr>
            <a:lvl9pPr indent="-394334" lvl="8" marL="4114800" algn="l">
              <a:spcBef>
                <a:spcPts val="600"/>
              </a:spcBef>
              <a:spcAft>
                <a:spcPts val="600"/>
              </a:spcAft>
              <a:buSzPts val="2610"/>
              <a:buChar char="•"/>
              <a:defRPr/>
            </a:lvl9pPr>
          </a:lstStyle>
          <a:p/>
        </p:txBody>
      </p:sp>
      <p:sp>
        <p:nvSpPr>
          <p:cNvPr id="276" name="Google Shape;276;g39e1144912c_0_318"/>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g39e1144912c_0_318"/>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g39e1144912c_0_318"/>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000"/>
              <a:buFont typeface="Corbel"/>
              <a:buNone/>
              <a:defRPr/>
            </a:lvl1pPr>
            <a:lvl2pPr indent="0" lvl="1" marL="0" algn="r">
              <a:spcBef>
                <a:spcPts val="0"/>
              </a:spcBef>
              <a:spcAft>
                <a:spcPts val="0"/>
              </a:spcAft>
              <a:buClr>
                <a:schemeClr val="dk1"/>
              </a:buClr>
              <a:buSzPts val="1000"/>
              <a:buFont typeface="Corbel"/>
              <a:buNone/>
              <a:defRPr/>
            </a:lvl2pPr>
            <a:lvl3pPr indent="0" lvl="2" marL="0" algn="r">
              <a:spcBef>
                <a:spcPts val="0"/>
              </a:spcBef>
              <a:spcAft>
                <a:spcPts val="0"/>
              </a:spcAft>
              <a:buClr>
                <a:schemeClr val="dk1"/>
              </a:buClr>
              <a:buSzPts val="1000"/>
              <a:buFont typeface="Corbel"/>
              <a:buNone/>
              <a:defRPr/>
            </a:lvl3pPr>
            <a:lvl4pPr indent="0" lvl="3" marL="0" algn="r">
              <a:spcBef>
                <a:spcPts val="0"/>
              </a:spcBef>
              <a:spcAft>
                <a:spcPts val="0"/>
              </a:spcAft>
              <a:buClr>
                <a:schemeClr val="dk1"/>
              </a:buClr>
              <a:buSzPts val="1000"/>
              <a:buFont typeface="Corbel"/>
              <a:buNone/>
              <a:defRPr/>
            </a:lvl4pPr>
            <a:lvl5pPr indent="0" lvl="4" marL="0" algn="r">
              <a:spcBef>
                <a:spcPts val="0"/>
              </a:spcBef>
              <a:spcAft>
                <a:spcPts val="0"/>
              </a:spcAft>
              <a:buClr>
                <a:schemeClr val="dk1"/>
              </a:buClr>
              <a:buSzPts val="1000"/>
              <a:buFont typeface="Corbel"/>
              <a:buNone/>
              <a:defRPr/>
            </a:lvl5pPr>
            <a:lvl6pPr indent="0" lvl="5" marL="0" algn="r">
              <a:spcBef>
                <a:spcPts val="0"/>
              </a:spcBef>
              <a:spcAft>
                <a:spcPts val="0"/>
              </a:spcAft>
              <a:buClr>
                <a:schemeClr val="dk1"/>
              </a:buClr>
              <a:buSzPts val="1000"/>
              <a:buFont typeface="Corbel"/>
              <a:buNone/>
              <a:defRPr/>
            </a:lvl6pPr>
            <a:lvl7pPr indent="0" lvl="6" marL="0" algn="r">
              <a:spcBef>
                <a:spcPts val="0"/>
              </a:spcBef>
              <a:spcAft>
                <a:spcPts val="0"/>
              </a:spcAft>
              <a:buClr>
                <a:schemeClr val="dk1"/>
              </a:buClr>
              <a:buSzPts val="1000"/>
              <a:buFont typeface="Corbel"/>
              <a:buNone/>
              <a:defRPr/>
            </a:lvl7pPr>
            <a:lvl8pPr indent="0" lvl="7" marL="0" algn="r">
              <a:spcBef>
                <a:spcPts val="0"/>
              </a:spcBef>
              <a:spcAft>
                <a:spcPts val="0"/>
              </a:spcAft>
              <a:buClr>
                <a:schemeClr val="dk1"/>
              </a:buClr>
              <a:buSzPts val="1000"/>
              <a:buFont typeface="Corbel"/>
              <a:buNone/>
              <a:defRPr/>
            </a:lvl8pPr>
            <a:lvl9pPr indent="0" lvl="8" marL="0" algn="r">
              <a:spcBef>
                <a:spcPts val="0"/>
              </a:spcBef>
              <a:spcAft>
                <a:spcPts val="0"/>
              </a:spcAft>
              <a:buClr>
                <a:schemeClr val="dk1"/>
              </a:buClr>
              <a:buSzPts val="10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3.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image" Target="../media/image2.pn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theme" Target="../theme/theme1.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grpSp>
        <p:nvGrpSpPr>
          <p:cNvPr id="10" name="Google Shape;10;p19"/>
          <p:cNvGrpSpPr/>
          <p:nvPr/>
        </p:nvGrpSpPr>
        <p:grpSpPr>
          <a:xfrm>
            <a:off x="0" y="0"/>
            <a:ext cx="2132013" cy="6858001"/>
            <a:chOff x="0" y="0"/>
            <a:chExt cx="2132013" cy="6858001"/>
          </a:xfrm>
        </p:grpSpPr>
        <p:sp>
          <p:nvSpPr>
            <p:cNvPr id="11" name="Google Shape;11;p1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1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1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1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0B5982"/>
            </a:solidFill>
            <a:ln>
              <a:noFill/>
            </a:ln>
          </p:spPr>
        </p:sp>
        <p:sp>
          <p:nvSpPr>
            <p:cNvPr id="15" name="Google Shape;15;p1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186C3"/>
            </a:solidFill>
            <a:ln>
              <a:noFill/>
            </a:ln>
          </p:spPr>
        </p:sp>
        <p:sp>
          <p:nvSpPr>
            <p:cNvPr id="16" name="Google Shape;16;p1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19"/>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19"/>
          <p:cNvSpPr txBox="1"/>
          <p:nvPr>
            <p:ph idx="1" type="body"/>
          </p:nvPr>
        </p:nvSpPr>
        <p:spPr>
          <a:xfrm>
            <a:off x="982134" y="2667000"/>
            <a:ext cx="7704666" cy="3356995"/>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19"/>
          <p:cNvSpPr txBox="1"/>
          <p:nvPr>
            <p:ph idx="10" type="dt"/>
          </p:nvPr>
        </p:nvSpPr>
        <p:spPr>
          <a:xfrm>
            <a:off x="7358679" y="6116070"/>
            <a:ext cx="857473"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19"/>
          <p:cNvSpPr txBox="1"/>
          <p:nvPr>
            <p:ph idx="11" type="ftr"/>
          </p:nvPr>
        </p:nvSpPr>
        <p:spPr>
          <a:xfrm>
            <a:off x="1986997" y="6116070"/>
            <a:ext cx="5314517"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19"/>
          <p:cNvSpPr txBox="1"/>
          <p:nvPr>
            <p:ph idx="12" type="sldNum"/>
          </p:nvPr>
        </p:nvSpPr>
        <p:spPr>
          <a:xfrm>
            <a:off x="8273317" y="6116070"/>
            <a:ext cx="413483"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44" name="Shape 144"/>
        <p:cNvGrpSpPr/>
        <p:nvPr/>
      </p:nvGrpSpPr>
      <p:grpSpPr>
        <a:xfrm>
          <a:off x="0" y="0"/>
          <a:ext cx="0" cy="0"/>
          <a:chOff x="0" y="0"/>
          <a:chExt cx="0" cy="0"/>
        </a:xfrm>
      </p:grpSpPr>
      <p:grpSp>
        <p:nvGrpSpPr>
          <p:cNvPr id="145" name="Google Shape;145;g39e1144912c_0_189"/>
          <p:cNvGrpSpPr/>
          <p:nvPr/>
        </p:nvGrpSpPr>
        <p:grpSpPr>
          <a:xfrm>
            <a:off x="0" y="0"/>
            <a:ext cx="2132013" cy="6858001"/>
            <a:chOff x="0" y="0"/>
            <a:chExt cx="2132013" cy="6858001"/>
          </a:xfrm>
        </p:grpSpPr>
        <p:sp>
          <p:nvSpPr>
            <p:cNvPr id="146" name="Google Shape;146;g39e1144912c_0_189"/>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47" name="Google Shape;147;g39e1144912c_0_189"/>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48" name="Google Shape;148;g39e1144912c_0_189"/>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9" name="Google Shape;149;g39e1144912c_0_189"/>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0B5982"/>
            </a:solidFill>
            <a:ln>
              <a:noFill/>
            </a:ln>
          </p:spPr>
        </p:sp>
        <p:sp>
          <p:nvSpPr>
            <p:cNvPr id="150" name="Google Shape;150;g39e1144912c_0_189"/>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1186C3"/>
            </a:solidFill>
            <a:ln>
              <a:noFill/>
            </a:ln>
          </p:spPr>
        </p:sp>
        <p:sp>
          <p:nvSpPr>
            <p:cNvPr id="151" name="Google Shape;151;g39e1144912c_0_189"/>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52" name="Google Shape;152;g39e1144912c_0_189"/>
          <p:cNvSpPr txBox="1"/>
          <p:nvPr>
            <p:ph type="title"/>
          </p:nvPr>
        </p:nvSpPr>
        <p:spPr>
          <a:xfrm>
            <a:off x="982133" y="457201"/>
            <a:ext cx="7704600" cy="19812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algn="l">
              <a:spcBef>
                <a:spcPts val="0"/>
              </a:spcBef>
              <a:spcAft>
                <a:spcPts val="0"/>
              </a:spcAft>
              <a:buSzPts val="1400"/>
              <a:buNone/>
              <a:defRPr b="0" i="0" sz="1800" u="none" cap="none" strike="noStrike">
                <a:solidFill>
                  <a:schemeClr val="dk2"/>
                </a:solidFill>
              </a:defRPr>
            </a:lvl2pPr>
            <a:lvl3pPr lvl="2" marR="0" algn="l">
              <a:spcBef>
                <a:spcPts val="0"/>
              </a:spcBef>
              <a:spcAft>
                <a:spcPts val="0"/>
              </a:spcAft>
              <a:buSzPts val="1400"/>
              <a:buNone/>
              <a:defRPr b="0" i="0" sz="1800" u="none" cap="none" strike="noStrike">
                <a:solidFill>
                  <a:schemeClr val="dk2"/>
                </a:solidFill>
              </a:defRPr>
            </a:lvl3pPr>
            <a:lvl4pPr lvl="3" marR="0" algn="l">
              <a:spcBef>
                <a:spcPts val="0"/>
              </a:spcBef>
              <a:spcAft>
                <a:spcPts val="0"/>
              </a:spcAft>
              <a:buSzPts val="1400"/>
              <a:buNone/>
              <a:defRPr b="0" i="0" sz="1800" u="none" cap="none" strike="noStrike">
                <a:solidFill>
                  <a:schemeClr val="dk2"/>
                </a:solidFill>
              </a:defRPr>
            </a:lvl4pPr>
            <a:lvl5pPr lvl="4" marR="0" algn="l">
              <a:spcBef>
                <a:spcPts val="0"/>
              </a:spcBef>
              <a:spcAft>
                <a:spcPts val="0"/>
              </a:spcAft>
              <a:buSzPts val="1400"/>
              <a:buNone/>
              <a:defRPr b="0" i="0" sz="1800" u="none" cap="none" strike="noStrike">
                <a:solidFill>
                  <a:schemeClr val="dk2"/>
                </a:solidFill>
              </a:defRPr>
            </a:lvl5pPr>
            <a:lvl6pPr lvl="5" marR="0" algn="l">
              <a:spcBef>
                <a:spcPts val="0"/>
              </a:spcBef>
              <a:spcAft>
                <a:spcPts val="0"/>
              </a:spcAft>
              <a:buSzPts val="1400"/>
              <a:buNone/>
              <a:defRPr b="0" i="0" sz="1800" u="none" cap="none" strike="noStrike">
                <a:solidFill>
                  <a:schemeClr val="dk2"/>
                </a:solidFill>
              </a:defRPr>
            </a:lvl6pPr>
            <a:lvl7pPr lvl="6" marR="0" algn="l">
              <a:spcBef>
                <a:spcPts val="0"/>
              </a:spcBef>
              <a:spcAft>
                <a:spcPts val="0"/>
              </a:spcAft>
              <a:buSzPts val="1400"/>
              <a:buNone/>
              <a:defRPr b="0" i="0" sz="1800" u="none" cap="none" strike="noStrike">
                <a:solidFill>
                  <a:schemeClr val="dk2"/>
                </a:solidFill>
              </a:defRPr>
            </a:lvl7pPr>
            <a:lvl8pPr lvl="7" marR="0" algn="l">
              <a:spcBef>
                <a:spcPts val="0"/>
              </a:spcBef>
              <a:spcAft>
                <a:spcPts val="0"/>
              </a:spcAft>
              <a:buSzPts val="1400"/>
              <a:buNone/>
              <a:defRPr b="0" i="0" sz="1800" u="none" cap="none" strike="noStrike">
                <a:solidFill>
                  <a:schemeClr val="dk2"/>
                </a:solidFill>
              </a:defRPr>
            </a:lvl8pPr>
            <a:lvl9pPr lvl="8" marR="0" algn="l">
              <a:spcBef>
                <a:spcPts val="0"/>
              </a:spcBef>
              <a:spcAft>
                <a:spcPts val="0"/>
              </a:spcAft>
              <a:buSzPts val="1400"/>
              <a:buNone/>
              <a:defRPr b="0" i="0" sz="1800" u="none" cap="none" strike="noStrike">
                <a:solidFill>
                  <a:schemeClr val="dk2"/>
                </a:solidFill>
              </a:defRPr>
            </a:lvl9pPr>
          </a:lstStyle>
          <a:p/>
        </p:txBody>
      </p:sp>
      <p:sp>
        <p:nvSpPr>
          <p:cNvPr id="153" name="Google Shape;153;g39e1144912c_0_189"/>
          <p:cNvSpPr txBox="1"/>
          <p:nvPr>
            <p:ph idx="1" type="body"/>
          </p:nvPr>
        </p:nvSpPr>
        <p:spPr>
          <a:xfrm>
            <a:off x="982134" y="2667000"/>
            <a:ext cx="7704600" cy="3357000"/>
          </a:xfrm>
          <a:prstGeom prst="rect">
            <a:avLst/>
          </a:prstGeom>
          <a:noFill/>
          <a:ln>
            <a:noFill/>
          </a:ln>
        </p:spPr>
        <p:txBody>
          <a:bodyPr anchorCtr="0" anchor="ctr" bIns="45700" lIns="91425" spcFirstLastPara="1" rIns="91425" wrap="square" tIns="45700">
            <a:normAutofit/>
          </a:bodyPr>
          <a:lstStyle>
            <a:lvl1pPr indent="-449580" lvl="0" marL="457200" marR="0" algn="l">
              <a:spcBef>
                <a:spcPts val="48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algn="l">
              <a:spcBef>
                <a:spcPts val="600"/>
              </a:spcBef>
              <a:spcAft>
                <a:spcPts val="0"/>
              </a:spcAft>
              <a:buClr>
                <a:srgbClr val="1186C3"/>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algn="l">
              <a:spcBef>
                <a:spcPts val="600"/>
              </a:spcBef>
              <a:spcAft>
                <a:spcPts val="0"/>
              </a:spcAft>
              <a:buClr>
                <a:srgbClr val="1186C3"/>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algn="l">
              <a:spcBef>
                <a:spcPts val="600"/>
              </a:spcBef>
              <a:spcAft>
                <a:spcPts val="0"/>
              </a:spcAft>
              <a:buClr>
                <a:srgbClr val="1186C3"/>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algn="l">
              <a:spcBef>
                <a:spcPts val="600"/>
              </a:spcBef>
              <a:spcAft>
                <a:spcPts val="0"/>
              </a:spcAft>
              <a:buClr>
                <a:srgbClr val="1186C3"/>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algn="l">
              <a:spcBef>
                <a:spcPts val="600"/>
              </a:spcBef>
              <a:spcAft>
                <a:spcPts val="600"/>
              </a:spcAft>
              <a:buClr>
                <a:srgbClr val="1186C3"/>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54" name="Google Shape;154;g39e1144912c_0_189"/>
          <p:cNvSpPr txBox="1"/>
          <p:nvPr>
            <p:ph idx="10" type="dt"/>
          </p:nvPr>
        </p:nvSpPr>
        <p:spPr>
          <a:xfrm>
            <a:off x="7358679" y="6116070"/>
            <a:ext cx="857400" cy="3651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5" name="Google Shape;155;g39e1144912c_0_189"/>
          <p:cNvSpPr txBox="1"/>
          <p:nvPr>
            <p:ph idx="11" type="ftr"/>
          </p:nvPr>
        </p:nvSpPr>
        <p:spPr>
          <a:xfrm>
            <a:off x="1986997" y="6116070"/>
            <a:ext cx="53145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00" u="none" cap="none" strike="noStrike">
                <a:solidFill>
                  <a:schemeClr val="dk1"/>
                </a:solidFill>
                <a:latin typeface="Corbel"/>
                <a:ea typeface="Corbel"/>
                <a:cs typeface="Corbel"/>
                <a:sym typeface="Corbel"/>
              </a:defRPr>
            </a:lvl1pPr>
            <a:lvl2pPr lvl="1" marR="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56" name="Google Shape;156;g39e1144912c_0_189"/>
          <p:cNvSpPr txBox="1"/>
          <p:nvPr>
            <p:ph idx="12" type="sldNum"/>
          </p:nvPr>
        </p:nvSpPr>
        <p:spPr>
          <a:xfrm>
            <a:off x="8273317" y="6116070"/>
            <a:ext cx="4134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1pPr>
            <a:lvl2pPr indent="0" lvl="1"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2pPr>
            <a:lvl3pPr indent="0" lvl="2"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3pPr>
            <a:lvl4pPr indent="0" lvl="3"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4pPr>
            <a:lvl5pPr indent="0" lvl="4"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5pPr>
            <a:lvl6pPr indent="0" lvl="5"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6pPr>
            <a:lvl7pPr indent="0" lvl="6"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7pPr>
            <a:lvl8pPr indent="0" lvl="7"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8pPr>
            <a:lvl9pPr indent="0" lvl="8" marL="0" marR="0" algn="r">
              <a:spcBef>
                <a:spcPts val="0"/>
              </a:spcBef>
              <a:spcAft>
                <a:spcPts val="0"/>
              </a:spcAft>
              <a:buClr>
                <a:schemeClr val="dk1"/>
              </a:buClr>
              <a:buSzPts val="1000"/>
              <a:buFont typeface="Corbe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 id="2147483682" r:id="rId17"/>
    <p:sldLayoutId id="2147483683"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6.xml"/><Relationship Id="rId3" Type="http://schemas.openxmlformats.org/officeDocument/2006/relationships/image" Target="../media/image7.pn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7.xml"/><Relationship Id="rId3" Type="http://schemas.openxmlformats.org/officeDocument/2006/relationships/image" Target="../media/image7.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8.xml"/><Relationship Id="rId3" Type="http://schemas.openxmlformats.org/officeDocument/2006/relationships/image" Target="../media/image7.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0.xml"/><Relationship Id="rId3" Type="http://schemas.openxmlformats.org/officeDocument/2006/relationships/image" Target="../media/image7.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1.xml"/><Relationship Id="rId3" Type="http://schemas.openxmlformats.org/officeDocument/2006/relationships/image" Target="../media/image7.png"/><Relationship Id="rId4" Type="http://schemas.openxmlformats.org/officeDocument/2006/relationships/image" Target="../media/image25.png"/><Relationship Id="rId5"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2.xml"/><Relationship Id="rId3" Type="http://schemas.openxmlformats.org/officeDocument/2006/relationships/image" Target="../media/image7.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s://pmc.ncbi.nlm.nih.gov/articles/PMC10991287/" TargetMode="External"/><Relationship Id="rId4" Type="http://schemas.openxmlformats.org/officeDocument/2006/relationships/hyperlink" Target="https://pmc.ncbi.nlm.nih.gov/articles/PMC10378171/" TargetMode="External"/><Relationship Id="rId5"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hyperlink" Target="https://archive.ics.uci.edu?utm_source=chatgpt.com" TargetMode="External"/><Relationship Id="rId4" Type="http://schemas.openxmlformats.org/officeDocument/2006/relationships/hyperlink" Target="https://archive.ics.uci.edu?utm_source=chatgpt.com" TargetMode="External"/><Relationship Id="rId5" Type="http://schemas.openxmlformats.org/officeDocument/2006/relationships/hyperlink" Target="https://ieeexplore.ieee.org/document/11129235" TargetMode="External"/><Relationship Id="rId6" Type="http://schemas.openxmlformats.org/officeDocument/2006/relationships/hyperlink" Target="https://ieeexplore.ieee.org/document/9144587" TargetMode="External"/><Relationship Id="rId7" Type="http://schemas.openxmlformats.org/officeDocument/2006/relationships/hyperlink" Target="https://ieeexplore.ieee.org/document/10272331" TargetMode="External"/><Relationship Id="rId8"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archive.ics.uci.edu/dataset/45/heart+disease" TargetMode="External"/><Relationship Id="rId4" Type="http://schemas.openxmlformats.org/officeDocument/2006/relationships/hyperlink" Target="https://ieeexplore.ieee.org/document/10302290" TargetMode="External"/><Relationship Id="rId5" Type="http://schemas.openxmlformats.org/officeDocument/2006/relationships/hyperlink" Target="https://www.who.int/health-topics/cardiovascular-diseases#tab=tab_1" TargetMode="External"/><Relationship Id="rId6" Type="http://schemas.openxmlformats.org/officeDocument/2006/relationships/hyperlink" Target="https://ieeexplore.ieee.org/document/10122547" TargetMode="External"/><Relationship Id="rId7"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
          <p:cNvSpPr txBox="1"/>
          <p:nvPr>
            <p:ph type="ctrTitle"/>
          </p:nvPr>
        </p:nvSpPr>
        <p:spPr>
          <a:xfrm>
            <a:off x="1784825" y="1314475"/>
            <a:ext cx="6798000" cy="10581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4800"/>
              <a:buFont typeface="Constantia"/>
              <a:buNone/>
            </a:pPr>
            <a:r>
              <a:rPr b="1" lang="en-US" sz="2400">
                <a:solidFill>
                  <a:srgbClr val="1F1F1F"/>
                </a:solidFill>
                <a:highlight>
                  <a:srgbClr val="E9EEF6"/>
                </a:highlight>
                <a:latin typeface="Times New Roman"/>
                <a:ea typeface="Times New Roman"/>
                <a:cs typeface="Times New Roman"/>
                <a:sym typeface="Times New Roman"/>
              </a:rPr>
              <a:t>Predictive Modeling for Cardiovascular Disease: A Systematic Review</a:t>
            </a:r>
            <a:endParaRPr b="1" sz="4600">
              <a:latin typeface="Times New Roman"/>
              <a:ea typeface="Times New Roman"/>
              <a:cs typeface="Times New Roman"/>
              <a:sym typeface="Times New Roman"/>
            </a:endParaRPr>
          </a:p>
        </p:txBody>
      </p:sp>
      <p:sp>
        <p:nvSpPr>
          <p:cNvPr id="288" name="Google Shape;288;p1"/>
          <p:cNvSpPr txBox="1"/>
          <p:nvPr>
            <p:ph idx="1" type="subTitle"/>
          </p:nvPr>
        </p:nvSpPr>
        <p:spPr>
          <a:xfrm>
            <a:off x="2383500" y="3359225"/>
            <a:ext cx="6912900" cy="33123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040"/>
              <a:buNone/>
            </a:pPr>
            <a:r>
              <a:rPr lang="en-US" sz="1800">
                <a:solidFill>
                  <a:srgbClr val="000000"/>
                </a:solidFill>
              </a:rPr>
              <a:t> </a:t>
            </a:r>
            <a:endParaRPr sz="1800">
              <a:solidFill>
                <a:srgbClr val="000000"/>
              </a:solidFill>
            </a:endParaRPr>
          </a:p>
          <a:p>
            <a:pPr indent="0" lvl="0" marL="0" rtl="0" algn="l">
              <a:lnSpc>
                <a:spcPct val="100000"/>
              </a:lnSpc>
              <a:spcBef>
                <a:spcPts val="0"/>
              </a:spcBef>
              <a:spcAft>
                <a:spcPts val="0"/>
              </a:spcAft>
              <a:buSzPts val="2040"/>
              <a:buNone/>
            </a:pPr>
            <a:r>
              <a:rPr lang="en-US" sz="1800">
                <a:solidFill>
                  <a:srgbClr val="000000"/>
                </a:solidFill>
              </a:rPr>
              <a:t>                       </a:t>
            </a:r>
            <a:endParaRPr sz="1800"/>
          </a:p>
          <a:p>
            <a:pPr indent="0" lvl="0" marL="0" rtl="0" algn="ctr">
              <a:lnSpc>
                <a:spcPct val="100000"/>
              </a:lnSpc>
              <a:spcBef>
                <a:spcPts val="480"/>
              </a:spcBef>
              <a:spcAft>
                <a:spcPts val="0"/>
              </a:spcAft>
              <a:buSzPts val="2040"/>
              <a:buNone/>
            </a:pPr>
            <a:r>
              <a:t/>
            </a:r>
            <a:endParaRPr sz="1800">
              <a:solidFill>
                <a:srgbClr val="000000"/>
              </a:solidFill>
            </a:endParaRPr>
          </a:p>
          <a:p>
            <a:pPr indent="0" lvl="0" marL="0" rtl="0" algn="l">
              <a:lnSpc>
                <a:spcPct val="100000"/>
              </a:lnSpc>
              <a:spcBef>
                <a:spcPts val="480"/>
              </a:spcBef>
              <a:spcAft>
                <a:spcPts val="0"/>
              </a:spcAft>
              <a:buSzPts val="2040"/>
              <a:buNone/>
            </a:pPr>
            <a:r>
              <a:t/>
            </a:r>
            <a:endParaRPr sz="1800">
              <a:solidFill>
                <a:srgbClr val="000000"/>
              </a:solidFill>
            </a:endParaRPr>
          </a:p>
          <a:p>
            <a:pPr indent="0" lvl="0" marL="0" rtl="0" algn="ctr">
              <a:lnSpc>
                <a:spcPct val="100000"/>
              </a:lnSpc>
              <a:spcBef>
                <a:spcPts val="480"/>
              </a:spcBef>
              <a:spcAft>
                <a:spcPts val="0"/>
              </a:spcAft>
              <a:buSzPts val="2040"/>
              <a:buNone/>
            </a:pPr>
            <a:r>
              <a:t/>
            </a:r>
            <a:endParaRPr sz="1800">
              <a:solidFill>
                <a:srgbClr val="000000"/>
              </a:solidFill>
            </a:endParaRPr>
          </a:p>
          <a:p>
            <a:pPr indent="0" lvl="0" marL="0" rtl="0" algn="ctr">
              <a:lnSpc>
                <a:spcPct val="100000"/>
              </a:lnSpc>
              <a:spcBef>
                <a:spcPts val="480"/>
              </a:spcBef>
              <a:spcAft>
                <a:spcPts val="0"/>
              </a:spcAft>
              <a:buSzPts val="2040"/>
              <a:buNone/>
            </a:pPr>
            <a:r>
              <a:rPr lang="en-US" sz="1600">
                <a:solidFill>
                  <a:srgbClr val="000000"/>
                </a:solidFill>
                <a:latin typeface="Times New Roman"/>
                <a:ea typeface="Times New Roman"/>
                <a:cs typeface="Times New Roman"/>
                <a:sym typeface="Times New Roman"/>
              </a:rPr>
              <a:t>Guide: </a:t>
            </a:r>
            <a:r>
              <a:rPr b="1" lang="en-US" sz="1600">
                <a:solidFill>
                  <a:srgbClr val="000000"/>
                </a:solidFill>
                <a:latin typeface="Times New Roman"/>
                <a:ea typeface="Times New Roman"/>
                <a:cs typeface="Times New Roman"/>
                <a:sym typeface="Times New Roman"/>
              </a:rPr>
              <a:t>Dr. P Jayarekha</a:t>
            </a:r>
            <a:r>
              <a:rPr lang="en-US" sz="1600">
                <a:solidFill>
                  <a:srgbClr val="000000"/>
                </a:solidFill>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a:p>
            <a:pPr indent="0" lvl="0" marL="0" rtl="0" algn="ctr">
              <a:lnSpc>
                <a:spcPct val="100000"/>
              </a:lnSpc>
              <a:spcBef>
                <a:spcPts val="480"/>
              </a:spcBef>
              <a:spcAft>
                <a:spcPts val="0"/>
              </a:spcAft>
              <a:buSzPts val="2040"/>
              <a:buNone/>
            </a:pPr>
            <a:r>
              <a:rPr lang="en-US" sz="1600">
                <a:solidFill>
                  <a:srgbClr val="000000"/>
                </a:solidFill>
                <a:latin typeface="Times New Roman"/>
                <a:ea typeface="Times New Roman"/>
                <a:cs typeface="Times New Roman"/>
                <a:sym typeface="Times New Roman"/>
              </a:rPr>
              <a:t>Designation: </a:t>
            </a:r>
            <a:r>
              <a:rPr b="1" lang="en-US" sz="1600">
                <a:solidFill>
                  <a:srgbClr val="000000"/>
                </a:solidFill>
                <a:latin typeface="Times New Roman"/>
                <a:ea typeface="Times New Roman"/>
                <a:cs typeface="Times New Roman"/>
                <a:sym typeface="Times New Roman"/>
              </a:rPr>
              <a:t>Professor, BMSCE</a:t>
            </a:r>
            <a:endParaRPr b="1" sz="1600">
              <a:latin typeface="Times New Roman"/>
              <a:ea typeface="Times New Roman"/>
              <a:cs typeface="Times New Roman"/>
              <a:sym typeface="Times New Roman"/>
            </a:endParaRPr>
          </a:p>
          <a:p>
            <a:pPr indent="0" lvl="0" marL="0" rtl="0" algn="ctr">
              <a:lnSpc>
                <a:spcPct val="100000"/>
              </a:lnSpc>
              <a:spcBef>
                <a:spcPts val="480"/>
              </a:spcBef>
              <a:spcAft>
                <a:spcPts val="0"/>
              </a:spcAft>
              <a:buSzPts val="2040"/>
              <a:buNone/>
            </a:pPr>
            <a:r>
              <a:rPr lang="en-US" sz="1600">
                <a:solidFill>
                  <a:srgbClr val="000000"/>
                </a:solidFill>
                <a:latin typeface="Times New Roman"/>
                <a:ea typeface="Times New Roman"/>
                <a:cs typeface="Times New Roman"/>
                <a:sym typeface="Times New Roman"/>
              </a:rPr>
              <a:t>Department of Computer Science &amp; Engineering</a:t>
            </a:r>
            <a:endParaRPr sz="1600">
              <a:latin typeface="Times New Roman"/>
              <a:ea typeface="Times New Roman"/>
              <a:cs typeface="Times New Roman"/>
              <a:sym typeface="Times New Roman"/>
            </a:endParaRPr>
          </a:p>
          <a:p>
            <a:pPr indent="0" lvl="0" marL="0" rtl="0" algn="ctr">
              <a:lnSpc>
                <a:spcPct val="100000"/>
              </a:lnSpc>
              <a:spcBef>
                <a:spcPts val="480"/>
              </a:spcBef>
              <a:spcAft>
                <a:spcPts val="0"/>
              </a:spcAft>
              <a:buSzPts val="2040"/>
              <a:buNone/>
            </a:pPr>
            <a:r>
              <a:rPr lang="en-US" sz="1600">
                <a:solidFill>
                  <a:srgbClr val="000000"/>
                </a:solidFill>
                <a:latin typeface="Times New Roman"/>
                <a:ea typeface="Times New Roman"/>
                <a:cs typeface="Times New Roman"/>
                <a:sym typeface="Times New Roman"/>
              </a:rPr>
              <a:t>B.M.S. College of Engineering</a:t>
            </a:r>
            <a:endParaRPr sz="1600">
              <a:latin typeface="Times New Roman"/>
              <a:ea typeface="Times New Roman"/>
              <a:cs typeface="Times New Roman"/>
              <a:sym typeface="Times New Roman"/>
            </a:endParaRPr>
          </a:p>
        </p:txBody>
      </p:sp>
      <p:pic>
        <p:nvPicPr>
          <p:cNvPr id="289" name="Google Shape;289;p1"/>
          <p:cNvPicPr preferRelativeResize="0"/>
          <p:nvPr/>
        </p:nvPicPr>
        <p:blipFill rotWithShape="1">
          <a:blip r:embed="rId3">
            <a:alphaModFix/>
          </a:blip>
          <a:srcRect b="0" l="0" r="0" t="0"/>
          <a:stretch/>
        </p:blipFill>
        <p:spPr>
          <a:xfrm>
            <a:off x="7644975" y="407211"/>
            <a:ext cx="851975" cy="739035"/>
          </a:xfrm>
          <a:prstGeom prst="rect">
            <a:avLst/>
          </a:prstGeom>
          <a:noFill/>
          <a:ln>
            <a:noFill/>
          </a:ln>
        </p:spPr>
      </p:pic>
      <p:sp>
        <p:nvSpPr>
          <p:cNvPr id="290" name="Google Shape;290;p1"/>
          <p:cNvSpPr txBox="1"/>
          <p:nvPr/>
        </p:nvSpPr>
        <p:spPr>
          <a:xfrm>
            <a:off x="3053255" y="2996805"/>
            <a:ext cx="55734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Makadia Rishit			</a:t>
            </a:r>
            <a:r>
              <a:rPr b="0" i="0" lang="en-US" sz="1800" u="none" cap="none" strike="noStrike">
                <a:solidFill>
                  <a:schemeClr val="dk1"/>
                </a:solidFill>
                <a:latin typeface="Arial"/>
                <a:ea typeface="Arial"/>
                <a:cs typeface="Arial"/>
                <a:sym typeface="Arial"/>
              </a:rPr>
              <a:t>1BM23CS177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Manojkumar			          </a:t>
            </a:r>
            <a:r>
              <a:rPr b="0" i="0" lang="en-US" sz="1800" u="none" cap="none" strike="noStrike">
                <a:solidFill>
                  <a:schemeClr val="dk1"/>
                </a:solidFill>
                <a:latin typeface="Arial"/>
                <a:ea typeface="Arial"/>
                <a:cs typeface="Arial"/>
                <a:sym typeface="Arial"/>
              </a:rPr>
              <a:t>1BM23CS185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Mohammed Kalandar 		</a:t>
            </a:r>
            <a:r>
              <a:rPr b="0" i="0" lang="en-US" sz="1800" u="none" cap="none" strike="noStrike">
                <a:solidFill>
                  <a:schemeClr val="dk1"/>
                </a:solidFill>
                <a:latin typeface="Arial"/>
                <a:ea typeface="Arial"/>
                <a:cs typeface="Arial"/>
                <a:sym typeface="Arial"/>
              </a:rPr>
              <a:t>1BM23CS195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Navneet Kumar			</a:t>
            </a:r>
            <a:r>
              <a:rPr b="0" i="0" lang="en-US" sz="1800" u="none" cap="none" strike="noStrike">
                <a:solidFill>
                  <a:schemeClr val="dk1"/>
                </a:solidFill>
                <a:latin typeface="Arial"/>
                <a:ea typeface="Arial"/>
                <a:cs typeface="Arial"/>
                <a:sym typeface="Arial"/>
              </a:rPr>
              <a:t>1BM23CS207</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
          <p:cNvSpPr txBox="1"/>
          <p:nvPr>
            <p:ph type="title"/>
          </p:nvPr>
        </p:nvSpPr>
        <p:spPr>
          <a:xfrm>
            <a:off x="982133" y="457201"/>
            <a:ext cx="7704667"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Introduction</a:t>
            </a:r>
            <a:endParaRPr b="1" sz="2800"/>
          </a:p>
        </p:txBody>
      </p:sp>
      <p:sp>
        <p:nvSpPr>
          <p:cNvPr id="300" name="Google Shape;300;p3"/>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01" name="Google Shape;301;p3"/>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pic>
        <p:nvPicPr>
          <p:cNvPr id="302" name="Google Shape;302;p3"/>
          <p:cNvPicPr preferRelativeResize="0"/>
          <p:nvPr/>
        </p:nvPicPr>
        <p:blipFill rotWithShape="1">
          <a:blip r:embed="rId4">
            <a:alphaModFix/>
          </a:blip>
          <a:srcRect b="0" l="0" r="0" t="0"/>
          <a:stretch/>
        </p:blipFill>
        <p:spPr>
          <a:xfrm>
            <a:off x="5678926" y="2324151"/>
            <a:ext cx="3099525" cy="3099525"/>
          </a:xfrm>
          <a:prstGeom prst="rect">
            <a:avLst/>
          </a:prstGeom>
          <a:noFill/>
          <a:ln>
            <a:noFill/>
          </a:ln>
        </p:spPr>
      </p:pic>
      <p:sp>
        <p:nvSpPr>
          <p:cNvPr id="303" name="Google Shape;303;p3"/>
          <p:cNvSpPr txBox="1"/>
          <p:nvPr/>
        </p:nvSpPr>
        <p:spPr>
          <a:xfrm>
            <a:off x="733198" y="2596312"/>
            <a:ext cx="4798200" cy="24603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Clr>
                <a:srgbClr val="000000"/>
              </a:buClr>
              <a:buSzPts val="1700"/>
              <a:buFont typeface="Arial"/>
              <a:buNone/>
            </a:pPr>
            <a:r>
              <a:rPr b="0" i="0" lang="en-US" sz="1700" u="none" cap="none" strike="noStrike">
                <a:solidFill>
                  <a:schemeClr val="dk1"/>
                </a:solidFill>
                <a:latin typeface="Times New Roman"/>
                <a:ea typeface="Times New Roman"/>
                <a:cs typeface="Times New Roman"/>
                <a:sym typeface="Times New Roman"/>
              </a:rPr>
              <a:t>Heart disease remains one of the leading causes of mortality worldwide, demanding early and accurate detection. A machine learning–based heart problem prediction model leverages patient data to identify hidden patterns, enhance diagnosis, and support timely intervention. This approach empowers healthcare providers with data-driven insights for improved outcomes and prevention.</a:t>
            </a:r>
            <a:endParaRPr b="0" i="0" sz="1700" u="none" cap="none" strike="noStrike">
              <a:solidFill>
                <a:schemeClr val="dk1"/>
              </a:solidFill>
              <a:latin typeface="Times New Roman"/>
              <a:ea typeface="Times New Roman"/>
              <a:cs typeface="Times New Roman"/>
              <a:sym typeface="Times New Roman"/>
            </a:endParaRPr>
          </a:p>
        </p:txBody>
      </p:sp>
      <p:sp>
        <p:nvSpPr>
          <p:cNvPr id="304" name="Google Shape;304;p3"/>
          <p:cNvSpPr txBox="1"/>
          <p:nvPr/>
        </p:nvSpPr>
        <p:spPr>
          <a:xfrm>
            <a:off x="5678925" y="5423675"/>
            <a:ext cx="2705100" cy="26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rbel"/>
              <a:ea typeface="Corbel"/>
              <a:cs typeface="Corbel"/>
              <a:sym typeface="Corbe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
          <p:cNvSpPr txBox="1"/>
          <p:nvPr>
            <p:ph type="title"/>
          </p:nvPr>
        </p:nvSpPr>
        <p:spPr>
          <a:xfrm>
            <a:off x="1088258" y="1"/>
            <a:ext cx="7704600"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Problem Statement</a:t>
            </a:r>
            <a:endParaRPr b="1" sz="2800"/>
          </a:p>
        </p:txBody>
      </p:sp>
      <p:sp>
        <p:nvSpPr>
          <p:cNvPr id="314" name="Google Shape;314;p4"/>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15" name="Google Shape;315;p4"/>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pic>
        <p:nvPicPr>
          <p:cNvPr id="316" name="Google Shape;316;p4" title="heartAI2.jpg"/>
          <p:cNvPicPr preferRelativeResize="0"/>
          <p:nvPr/>
        </p:nvPicPr>
        <p:blipFill rotWithShape="1">
          <a:blip r:embed="rId4">
            <a:alphaModFix/>
          </a:blip>
          <a:srcRect b="0" l="0" r="0" t="0"/>
          <a:stretch/>
        </p:blipFill>
        <p:spPr>
          <a:xfrm>
            <a:off x="5630750" y="2042750"/>
            <a:ext cx="3247400" cy="3121651"/>
          </a:xfrm>
          <a:prstGeom prst="rect">
            <a:avLst/>
          </a:prstGeom>
          <a:noFill/>
          <a:ln>
            <a:noFill/>
          </a:ln>
        </p:spPr>
      </p:pic>
      <p:sp>
        <p:nvSpPr>
          <p:cNvPr id="317" name="Google Shape;317;p4"/>
          <p:cNvSpPr txBox="1"/>
          <p:nvPr/>
        </p:nvSpPr>
        <p:spPr>
          <a:xfrm>
            <a:off x="947800" y="1981200"/>
            <a:ext cx="4416600" cy="4303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The core problem is the lack of reliable, early cardiovascular risk stratification from routinely collected clinical data that is actionable across diverse populations and care settings, leading to preventable delays in intervention.</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l">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Clinical data are fragmented, sparse, and noisy (missingness, label bias), and existing tools rarely quantify uncertainty or fairness, undermining clinician trust and operational adoption.</a:t>
            </a:r>
            <a:endParaRPr b="0" i="0" sz="14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317500" lvl="0" marL="457200" marR="0" rtl="0" algn="l">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The objective is to develop a data-efficient, generalizable risk prediction model that is calibrated, uncertainty-aware, and deployable using low-cost variables, enabling timely triage without reliance on invasive or expensive diagnostics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sp>
        <p:nvSpPr>
          <p:cNvPr id="318" name="Google Shape;318;p4"/>
          <p:cNvSpPr txBox="1"/>
          <p:nvPr/>
        </p:nvSpPr>
        <p:spPr>
          <a:xfrm>
            <a:off x="4631050" y="5122550"/>
            <a:ext cx="3905100" cy="365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rbel"/>
              <a:ea typeface="Corbel"/>
              <a:cs typeface="Corbel"/>
              <a:sym typeface="Corbe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
          <p:cNvSpPr txBox="1"/>
          <p:nvPr>
            <p:ph type="title"/>
          </p:nvPr>
        </p:nvSpPr>
        <p:spPr>
          <a:xfrm>
            <a:off x="982133" y="457201"/>
            <a:ext cx="7704667" cy="1476706"/>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74603"/>
              <a:buFont typeface="Corbel"/>
              <a:buNone/>
            </a:pPr>
            <a:r>
              <a:rPr b="1" lang="en-US" sz="2800"/>
              <a:t>Literature Survey</a:t>
            </a:r>
            <a:br>
              <a:rPr b="1" lang="en-US" sz="2800"/>
            </a:br>
            <a:r>
              <a:rPr lang="en-US" sz="2800"/>
              <a:t>A Systematic Review and Meta-Analysis of Heart disease prediction system</a:t>
            </a:r>
            <a:br>
              <a:rPr lang="en-US" sz="2800"/>
            </a:br>
            <a:r>
              <a:rPr lang="en-US" sz="2800"/>
              <a:t>REVIEW METHODOLOGY</a:t>
            </a:r>
            <a:endParaRPr b="1" sz="2800"/>
          </a:p>
        </p:txBody>
      </p:sp>
      <p:sp>
        <p:nvSpPr>
          <p:cNvPr id="328" name="Google Shape;328;p5"/>
          <p:cNvSpPr txBox="1"/>
          <p:nvPr>
            <p:ph idx="1" type="body"/>
          </p:nvPr>
        </p:nvSpPr>
        <p:spPr>
          <a:xfrm>
            <a:off x="868771" y="1933907"/>
            <a:ext cx="7604112" cy="4000901"/>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000"/>
              </a:spcBef>
              <a:spcAft>
                <a:spcPts val="0"/>
              </a:spcAft>
              <a:buSzPts val="2320"/>
              <a:buNone/>
            </a:pPr>
            <a:r>
              <a:rPr lang="en-US" sz="1600">
                <a:latin typeface="Times New Roman"/>
                <a:ea typeface="Times New Roman"/>
                <a:cs typeface="Times New Roman"/>
                <a:sym typeface="Times New Roman"/>
              </a:rPr>
              <a:t> A. DATA SOURCES</a:t>
            </a:r>
            <a:endParaRPr/>
          </a:p>
          <a:p>
            <a:pPr indent="0" lvl="0" marL="0" rtl="0" algn="l">
              <a:lnSpc>
                <a:spcPct val="115000"/>
              </a:lnSpc>
              <a:spcBef>
                <a:spcPts val="1000"/>
              </a:spcBef>
              <a:spcAft>
                <a:spcPts val="0"/>
              </a:spcAft>
              <a:buSzPts val="2320"/>
              <a:buNone/>
            </a:pPr>
            <a:r>
              <a:t/>
            </a:r>
            <a:endParaRPr sz="1600">
              <a:latin typeface="Times New Roman"/>
              <a:ea typeface="Times New Roman"/>
              <a:cs typeface="Times New Roman"/>
              <a:sym typeface="Times New Roman"/>
            </a:endParaRPr>
          </a:p>
          <a:p>
            <a:pPr indent="0" lvl="0" marL="0" rtl="0" algn="l">
              <a:lnSpc>
                <a:spcPct val="115000"/>
              </a:lnSpc>
              <a:spcBef>
                <a:spcPts val="1000"/>
              </a:spcBef>
              <a:spcAft>
                <a:spcPts val="0"/>
              </a:spcAft>
              <a:buSzPts val="2320"/>
              <a:buNone/>
            </a:pPr>
            <a:r>
              <a:t/>
            </a:r>
            <a:endParaRPr sz="1600">
              <a:latin typeface="Times New Roman"/>
              <a:ea typeface="Times New Roman"/>
              <a:cs typeface="Times New Roman"/>
              <a:sym typeface="Times New Roman"/>
            </a:endParaRPr>
          </a:p>
          <a:p>
            <a:pPr indent="0" lvl="0" marL="0" rtl="0" algn="l">
              <a:lnSpc>
                <a:spcPct val="115000"/>
              </a:lnSpc>
              <a:spcBef>
                <a:spcPts val="1000"/>
              </a:spcBef>
              <a:spcAft>
                <a:spcPts val="0"/>
              </a:spcAft>
              <a:buSzPts val="2320"/>
              <a:buNone/>
            </a:pPr>
            <a:r>
              <a:t/>
            </a:r>
            <a:endParaRPr sz="1600">
              <a:latin typeface="Times New Roman"/>
              <a:ea typeface="Times New Roman"/>
              <a:cs typeface="Times New Roman"/>
              <a:sym typeface="Times New Roman"/>
            </a:endParaRPr>
          </a:p>
          <a:p>
            <a:pPr indent="0" lvl="0" marL="0" rtl="0" algn="l">
              <a:lnSpc>
                <a:spcPct val="115000"/>
              </a:lnSpc>
              <a:spcBef>
                <a:spcPts val="2000"/>
              </a:spcBef>
              <a:spcAft>
                <a:spcPts val="0"/>
              </a:spcAft>
              <a:buSzPts val="2320"/>
              <a:buNone/>
            </a:pPr>
            <a:r>
              <a:t/>
            </a:r>
            <a:endParaRPr sz="1600">
              <a:latin typeface="Times New Roman"/>
              <a:ea typeface="Times New Roman"/>
              <a:cs typeface="Times New Roman"/>
              <a:sym typeface="Times New Roman"/>
            </a:endParaRPr>
          </a:p>
          <a:p>
            <a:pPr indent="0" lvl="0" marL="0" rtl="0" algn="l">
              <a:lnSpc>
                <a:spcPct val="115000"/>
              </a:lnSpc>
              <a:spcBef>
                <a:spcPts val="2000"/>
              </a:spcBef>
              <a:spcAft>
                <a:spcPts val="1000"/>
              </a:spcAft>
              <a:buSzPts val="2320"/>
              <a:buNone/>
            </a:pPr>
            <a:r>
              <a:rPr lang="en-US" sz="1600">
                <a:latin typeface="Times New Roman"/>
                <a:ea typeface="Times New Roman"/>
                <a:cs typeface="Times New Roman"/>
                <a:sym typeface="Times New Roman"/>
              </a:rPr>
              <a:t>	</a:t>
            </a:r>
            <a:endParaRPr sz="1600">
              <a:latin typeface="Times New Roman"/>
              <a:ea typeface="Times New Roman"/>
              <a:cs typeface="Times New Roman"/>
              <a:sym typeface="Times New Roman"/>
            </a:endParaRPr>
          </a:p>
        </p:txBody>
      </p:sp>
      <p:sp>
        <p:nvSpPr>
          <p:cNvPr id="329" name="Google Shape;329;p5"/>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30" name="Google Shape;330;p5"/>
          <p:cNvPicPr preferRelativeResize="0"/>
          <p:nvPr/>
        </p:nvPicPr>
        <p:blipFill rotWithShape="1">
          <a:blip r:embed="rId3">
            <a:alphaModFix/>
          </a:blip>
          <a:srcRect b="0" l="0" r="0" t="0"/>
          <a:stretch/>
        </p:blipFill>
        <p:spPr>
          <a:xfrm>
            <a:off x="7909120" y="198220"/>
            <a:ext cx="851975" cy="622300"/>
          </a:xfrm>
          <a:prstGeom prst="rect">
            <a:avLst/>
          </a:prstGeom>
          <a:noFill/>
          <a:ln>
            <a:noFill/>
          </a:ln>
        </p:spPr>
      </p:pic>
      <p:graphicFrame>
        <p:nvGraphicFramePr>
          <p:cNvPr id="331" name="Google Shape;331;p5"/>
          <p:cNvGraphicFramePr/>
          <p:nvPr/>
        </p:nvGraphicFramePr>
        <p:xfrm>
          <a:off x="2411730" y="2544332"/>
          <a:ext cx="3000000" cy="3000000"/>
        </p:xfrm>
        <a:graphic>
          <a:graphicData uri="http://schemas.openxmlformats.org/drawingml/2006/table">
            <a:tbl>
              <a:tblPr bandRow="1" firstCol="1" firstRow="1">
                <a:noFill/>
                <a:tableStyleId>{BC4A68C9-5836-4588-8373-21824B8CE76E}</a:tableStyleId>
              </a:tblPr>
              <a:tblGrid>
                <a:gridCol w="2145675"/>
                <a:gridCol w="2174875"/>
              </a:tblGrid>
              <a:tr h="246125">
                <a:tc>
                  <a:txBody>
                    <a:bodyPr/>
                    <a:lstStyle/>
                    <a:p>
                      <a:pPr indent="0" lvl="0" marL="0" marR="0" rtl="0" algn="ctr">
                        <a:lnSpc>
                          <a:spcPct val="107000"/>
                        </a:lnSpc>
                        <a:spcBef>
                          <a:spcPts val="0"/>
                        </a:spcBef>
                        <a:spcAft>
                          <a:spcPts val="0"/>
                        </a:spcAft>
                        <a:buClr>
                          <a:schemeClr val="dk1"/>
                        </a:buClr>
                        <a:buSzPts val="1100"/>
                        <a:buFont typeface="Corbel"/>
                        <a:buNone/>
                      </a:pPr>
                      <a:r>
                        <a:rPr b="1" lang="en-US" sz="1100" u="none" cap="none" strike="noStrike"/>
                        <a:t>Publication Source</a:t>
                      </a:r>
                      <a:endParaRPr b="1"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b="1" lang="en-US" sz="1100" u="none" cap="none" strike="noStrike"/>
                        <a:t>No.of Papers</a:t>
                      </a:r>
                      <a:endParaRPr b="1" sz="1100" u="none" cap="none" strike="noStrike">
                        <a:latin typeface="Calibri"/>
                        <a:ea typeface="Calibri"/>
                        <a:cs typeface="Calibri"/>
                        <a:sym typeface="Calibri"/>
                      </a:endParaRPr>
                    </a:p>
                  </a:txBody>
                  <a:tcPr marT="0" marB="0" marR="68575" marL="68575"/>
                </a:tc>
              </a:tr>
              <a:tr h="246125">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IEEE Explore</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latin typeface="Calibri"/>
                          <a:ea typeface="Calibri"/>
                          <a:cs typeface="Calibri"/>
                          <a:sym typeface="Calibri"/>
                        </a:rPr>
                        <a:t>10</a:t>
                      </a:r>
                      <a:endParaRPr sz="1100" u="none" cap="none" strike="noStrike">
                        <a:latin typeface="Calibri"/>
                        <a:ea typeface="Calibri"/>
                        <a:cs typeface="Calibri"/>
                        <a:sym typeface="Calibri"/>
                      </a:endParaRPr>
                    </a:p>
                  </a:txBody>
                  <a:tcPr marT="0" marB="0" marR="68575" marL="68575"/>
                </a:tc>
              </a:tr>
              <a:tr h="246125">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Springer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9</a:t>
                      </a:r>
                      <a:endParaRPr sz="1100" u="none" cap="none" strike="noStrike">
                        <a:latin typeface="Calibri"/>
                        <a:ea typeface="Calibri"/>
                        <a:cs typeface="Calibri"/>
                        <a:sym typeface="Calibri"/>
                      </a:endParaRPr>
                    </a:p>
                  </a:txBody>
                  <a:tcPr marT="0" marB="0" marR="68575" marL="68575"/>
                </a:tc>
              </a:tr>
              <a:tr h="246125">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Journals</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6</a:t>
                      </a:r>
                      <a:endParaRPr sz="1100" u="none" cap="none" strike="noStrike">
                        <a:latin typeface="Calibri"/>
                        <a:ea typeface="Calibri"/>
                        <a:cs typeface="Calibri"/>
                        <a:sym typeface="Calibri"/>
                      </a:endParaRPr>
                    </a:p>
                  </a:txBody>
                  <a:tcPr marT="0" marB="0" marR="68575" marL="68575"/>
                </a:tc>
              </a:tr>
              <a:tr h="246125">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WHO </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4</a:t>
                      </a:r>
                      <a:endParaRPr sz="1100" u="none" cap="none" strike="noStrike">
                        <a:latin typeface="Calibri"/>
                        <a:ea typeface="Calibri"/>
                        <a:cs typeface="Calibri"/>
                        <a:sym typeface="Calibri"/>
                      </a:endParaRPr>
                    </a:p>
                  </a:txBody>
                  <a:tcPr marT="0" marB="0" marR="68575" marL="68575"/>
                </a:tc>
              </a:tr>
            </a:tbl>
          </a:graphicData>
        </a:graphic>
      </p:graphicFrame>
      <p:graphicFrame>
        <p:nvGraphicFramePr>
          <p:cNvPr id="332" name="Google Shape;332;p5"/>
          <p:cNvGraphicFramePr/>
          <p:nvPr/>
        </p:nvGraphicFramePr>
        <p:xfrm>
          <a:off x="2411730" y="4412354"/>
          <a:ext cx="3000000" cy="3000000"/>
        </p:xfrm>
        <a:graphic>
          <a:graphicData uri="http://schemas.openxmlformats.org/drawingml/2006/table">
            <a:tbl>
              <a:tblPr bandRow="1" firstCol="1" firstRow="1">
                <a:noFill/>
                <a:tableStyleId>{BC4A68C9-5836-4588-8373-21824B8CE76E}</a:tableStyleId>
              </a:tblPr>
              <a:tblGrid>
                <a:gridCol w="2145675"/>
                <a:gridCol w="2174875"/>
              </a:tblGrid>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Year</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No.of Papers</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2025</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14</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2024</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6</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2023</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2</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2022</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2</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2021</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1</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2020</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2</a:t>
                      </a:r>
                      <a:endParaRPr sz="1100" u="none" cap="none" strike="noStrike">
                        <a:latin typeface="Calibri"/>
                        <a:ea typeface="Calibri"/>
                        <a:cs typeface="Calibri"/>
                        <a:sym typeface="Calibri"/>
                      </a:endParaRPr>
                    </a:p>
                  </a:txBody>
                  <a:tcPr marT="0" marB="0" marR="68575" marL="68575"/>
                </a:tc>
              </a:tr>
              <a:tr h="139700">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&lt; 2019</a:t>
                      </a:r>
                      <a:endParaRPr sz="1100" u="none" cap="none" strike="noStrike">
                        <a:latin typeface="Calibri"/>
                        <a:ea typeface="Calibri"/>
                        <a:cs typeface="Calibri"/>
                        <a:sym typeface="Calibri"/>
                      </a:endParaRPr>
                    </a:p>
                  </a:txBody>
                  <a:tcPr marT="0" marB="0" marR="68575" marL="68575"/>
                </a:tc>
                <a:tc>
                  <a:txBody>
                    <a:bodyPr/>
                    <a:lstStyle/>
                    <a:p>
                      <a:pPr indent="0" lvl="0" marL="0" marR="0" rtl="0" algn="ctr">
                        <a:lnSpc>
                          <a:spcPct val="107000"/>
                        </a:lnSpc>
                        <a:spcBef>
                          <a:spcPts val="0"/>
                        </a:spcBef>
                        <a:spcAft>
                          <a:spcPts val="0"/>
                        </a:spcAft>
                        <a:buClr>
                          <a:schemeClr val="dk1"/>
                        </a:buClr>
                        <a:buSzPts val="1100"/>
                        <a:buFont typeface="Corbel"/>
                        <a:buNone/>
                      </a:pPr>
                      <a:r>
                        <a:rPr lang="en-US" sz="1100" u="none" cap="none" strike="noStrike"/>
                        <a:t> 3</a:t>
                      </a:r>
                      <a:endParaRPr sz="1100" u="none" cap="none" strike="noStrike">
                        <a:latin typeface="Calibri"/>
                        <a:ea typeface="Calibri"/>
                        <a:cs typeface="Calibri"/>
                        <a:sym typeface="Calibri"/>
                      </a:endParaRPr>
                    </a:p>
                  </a:txBody>
                  <a:tcPr marT="0" marB="0" marR="68575" marL="68575"/>
                </a:tc>
              </a:tr>
            </a:tbl>
          </a:graphicData>
        </a:graphic>
      </p:graphicFrame>
      <p:sp>
        <p:nvSpPr>
          <p:cNvPr id="333" name="Google Shape;333;p5"/>
          <p:cNvSpPr txBox="1"/>
          <p:nvPr/>
        </p:nvSpPr>
        <p:spPr>
          <a:xfrm>
            <a:off x="2411730" y="4032136"/>
            <a:ext cx="662411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Table 1: </a:t>
            </a:r>
            <a:r>
              <a:rPr b="0" i="0" lang="en-US" sz="1200" u="none" cap="none" strike="noStrike">
                <a:solidFill>
                  <a:schemeClr val="dk1"/>
                </a:solidFill>
                <a:latin typeface="Corbel"/>
                <a:ea typeface="Corbel"/>
                <a:cs typeface="Corbel"/>
                <a:sym typeface="Corbel"/>
              </a:rPr>
              <a:t>Distribution of Surveyed papers by Publication Source</a:t>
            </a:r>
            <a:endParaRPr b="0" i="0" sz="1200" u="none" cap="none" strike="noStrike">
              <a:solidFill>
                <a:schemeClr val="dk1"/>
              </a:solidFill>
              <a:latin typeface="Corbel"/>
              <a:ea typeface="Corbel"/>
              <a:cs typeface="Corbel"/>
              <a:sym typeface="Corbel"/>
            </a:endParaRPr>
          </a:p>
        </p:txBody>
      </p:sp>
      <p:sp>
        <p:nvSpPr>
          <p:cNvPr id="334" name="Google Shape;334;p5"/>
          <p:cNvSpPr txBox="1"/>
          <p:nvPr/>
        </p:nvSpPr>
        <p:spPr>
          <a:xfrm>
            <a:off x="2411730" y="5926239"/>
            <a:ext cx="404806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Table 2: </a:t>
            </a:r>
            <a:r>
              <a:rPr b="0" i="0" lang="en-US" sz="1200" u="none" cap="none" strike="noStrike">
                <a:solidFill>
                  <a:schemeClr val="dk1"/>
                </a:solidFill>
                <a:latin typeface="Corbel"/>
                <a:ea typeface="Corbel"/>
                <a:cs typeface="Corbel"/>
                <a:sym typeface="Corbel"/>
              </a:rPr>
              <a:t>Year-wise Distribution of papers</a:t>
            </a:r>
            <a:endParaRPr b="0" i="0" sz="1200" u="none" cap="none" strike="noStrike">
              <a:solidFill>
                <a:schemeClr val="dk1"/>
              </a:solidFill>
              <a:latin typeface="Corbel"/>
              <a:ea typeface="Corbel"/>
              <a:cs typeface="Corbel"/>
              <a:sym typeface="Corbe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
          <p:cNvSpPr txBox="1"/>
          <p:nvPr>
            <p:ph type="title"/>
          </p:nvPr>
        </p:nvSpPr>
        <p:spPr>
          <a:xfrm>
            <a:off x="1245902" y="158262"/>
            <a:ext cx="6852692" cy="88802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74603"/>
              <a:buFont typeface="Corbel"/>
              <a:buNone/>
            </a:pPr>
            <a:r>
              <a:rPr b="1" lang="en-US" sz="2800"/>
              <a:t>Literature Survey</a:t>
            </a:r>
            <a:br>
              <a:rPr b="1" lang="en-US" sz="2800"/>
            </a:br>
            <a:r>
              <a:rPr b="1" lang="en-US" sz="2200"/>
              <a:t>B. CLASSIFICATION OF SELECTED REFERENCES</a:t>
            </a:r>
            <a:br>
              <a:rPr b="1" lang="en-US" sz="2800"/>
            </a:br>
            <a:endParaRPr b="1" sz="2800"/>
          </a:p>
        </p:txBody>
      </p:sp>
      <p:sp>
        <p:nvSpPr>
          <p:cNvPr id="344" name="Google Shape;344;p6"/>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45" name="Google Shape;345;p6"/>
          <p:cNvPicPr preferRelativeResize="0"/>
          <p:nvPr/>
        </p:nvPicPr>
        <p:blipFill rotWithShape="1">
          <a:blip r:embed="rId3">
            <a:alphaModFix/>
          </a:blip>
          <a:srcRect b="0" l="0" r="0" t="0"/>
          <a:stretch/>
        </p:blipFill>
        <p:spPr>
          <a:xfrm>
            <a:off x="8098593" y="59821"/>
            <a:ext cx="851975" cy="622300"/>
          </a:xfrm>
          <a:prstGeom prst="rect">
            <a:avLst/>
          </a:prstGeom>
          <a:noFill/>
          <a:ln>
            <a:noFill/>
          </a:ln>
        </p:spPr>
      </p:pic>
      <p:sp>
        <p:nvSpPr>
          <p:cNvPr id="346" name="Google Shape;346;p6"/>
          <p:cNvSpPr/>
          <p:nvPr/>
        </p:nvSpPr>
        <p:spPr>
          <a:xfrm>
            <a:off x="852854" y="1107934"/>
            <a:ext cx="7833946"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4 Clusters of Studies</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Corbel"/>
              <a:ea typeface="Corbel"/>
              <a:cs typeface="Corbel"/>
              <a:sym typeface="Corbel"/>
            </a:endParaRPr>
          </a:p>
          <a:p>
            <a:pPr indent="0" lvl="1" marL="4572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Class 1.</a:t>
            </a:r>
            <a:r>
              <a:rPr b="0" i="0" lang="en-US" sz="1400" u="none" cap="none" strike="noStrike">
                <a:solidFill>
                  <a:schemeClr val="dk1"/>
                </a:solidFill>
                <a:latin typeface="Times New Roman"/>
                <a:ea typeface="Times New Roman"/>
                <a:cs typeface="Times New Roman"/>
                <a:sym typeface="Times New Roman"/>
              </a:rPr>
              <a:t> Heart related problems → 9 articles</a:t>
            </a:r>
            <a:endParaRPr b="0" i="0" sz="1400" u="none" cap="none" strike="noStrike">
              <a:solidFill>
                <a:srgbClr val="000000"/>
              </a:solidFill>
              <a:latin typeface="Times New Roman"/>
              <a:ea typeface="Times New Roman"/>
              <a:cs typeface="Times New Roman"/>
              <a:sym typeface="Times New Roman"/>
            </a:endParaRPr>
          </a:p>
          <a:p>
            <a:pPr indent="0" lvl="1" marL="4572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Class 2.</a:t>
            </a:r>
            <a:r>
              <a:rPr b="0" i="0" lang="en-US" sz="1400" u="none" cap="none" strike="noStrike">
                <a:solidFill>
                  <a:schemeClr val="dk1"/>
                </a:solidFill>
                <a:latin typeface="Times New Roman"/>
                <a:ea typeface="Times New Roman"/>
                <a:cs typeface="Times New Roman"/>
                <a:sym typeface="Times New Roman"/>
              </a:rPr>
              <a:t> Beyond the Basics: How ML is Revolutionizing Heart Disease Detection → 7 articles</a:t>
            </a:r>
            <a:endParaRPr b="0" i="0" sz="1400" u="none" cap="none" strike="noStrike">
              <a:solidFill>
                <a:srgbClr val="000000"/>
              </a:solidFill>
              <a:latin typeface="Times New Roman"/>
              <a:ea typeface="Times New Roman"/>
              <a:cs typeface="Times New Roman"/>
              <a:sym typeface="Times New Roman"/>
            </a:endParaRPr>
          </a:p>
          <a:p>
            <a:pPr indent="0" lvl="1" marL="4572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Class 3.</a:t>
            </a:r>
            <a:r>
              <a:rPr b="0" i="0" lang="en-US" sz="1400" u="none" cap="none" strike="noStrike">
                <a:solidFill>
                  <a:schemeClr val="dk1"/>
                </a:solidFill>
                <a:latin typeface="Times New Roman"/>
                <a:ea typeface="Times New Roman"/>
                <a:cs typeface="Times New Roman"/>
                <a:sym typeface="Times New Roman"/>
              </a:rPr>
              <a:t> Why ML → 8 articles </a:t>
            </a:r>
            <a:endParaRPr b="0" i="0" sz="1400" u="none" cap="none" strike="noStrike">
              <a:solidFill>
                <a:srgbClr val="000000"/>
              </a:solidFill>
              <a:latin typeface="Times New Roman"/>
              <a:ea typeface="Times New Roman"/>
              <a:cs typeface="Times New Roman"/>
              <a:sym typeface="Times New Roman"/>
            </a:endParaRPr>
          </a:p>
          <a:p>
            <a:pPr indent="0" lvl="1" marL="45720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Times New Roman"/>
                <a:ea typeface="Times New Roman"/>
                <a:cs typeface="Times New Roman"/>
                <a:sym typeface="Times New Roman"/>
              </a:rPr>
              <a:t>Class 4. </a:t>
            </a:r>
            <a:r>
              <a:rPr b="0" i="0" lang="en-US" sz="1400" u="none" cap="none" strike="noStrike">
                <a:solidFill>
                  <a:schemeClr val="dk1"/>
                </a:solidFill>
                <a:latin typeface="Times New Roman"/>
                <a:ea typeface="Times New Roman"/>
                <a:cs typeface="Times New Roman"/>
                <a:sym typeface="Times New Roman"/>
              </a:rPr>
              <a:t>Implementing ML to predict heart disease based on survey, dataset → 10 articles</a:t>
            </a:r>
            <a:endParaRPr b="0" i="0" sz="1400" u="none" cap="none" strike="noStrike">
              <a:solidFill>
                <a:srgbClr val="000000"/>
              </a:solidFill>
              <a:latin typeface="Times New Roman"/>
              <a:ea typeface="Times New Roman"/>
              <a:cs typeface="Times New Roman"/>
              <a:sym typeface="Times New Roman"/>
            </a:endParaRPr>
          </a:p>
        </p:txBody>
      </p:sp>
      <p:pic>
        <p:nvPicPr>
          <p:cNvPr id="347" name="Google Shape;347;p6" title="Points scored"/>
          <p:cNvPicPr preferRelativeResize="0"/>
          <p:nvPr/>
        </p:nvPicPr>
        <p:blipFill rotWithShape="1">
          <a:blip r:embed="rId4">
            <a:alphaModFix/>
          </a:blip>
          <a:srcRect b="0" l="0" r="0" t="0"/>
          <a:stretch/>
        </p:blipFill>
        <p:spPr>
          <a:xfrm>
            <a:off x="2192925" y="2764125"/>
            <a:ext cx="5219424" cy="32273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7"/>
          <p:cNvSpPr txBox="1"/>
          <p:nvPr>
            <p:ph type="title"/>
          </p:nvPr>
        </p:nvSpPr>
        <p:spPr>
          <a:xfrm>
            <a:off x="719666" y="525841"/>
            <a:ext cx="7704600" cy="16863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74603"/>
              <a:buFont typeface="Corbel"/>
              <a:buNone/>
            </a:pPr>
            <a:br>
              <a:rPr b="1" lang="en-US" sz="2800"/>
            </a:br>
            <a:br>
              <a:rPr b="1" lang="en-US" sz="2800"/>
            </a:br>
            <a:r>
              <a:rPr b="1" lang="en-US" sz="2800"/>
              <a:t>Literature Survey	</a:t>
            </a:r>
            <a:br>
              <a:rPr b="1" lang="en-US" sz="2800"/>
            </a:br>
            <a:r>
              <a:rPr b="1" lang="en-US" sz="2800">
                <a:latin typeface="Times New Roman"/>
                <a:ea typeface="Times New Roman"/>
                <a:cs typeface="Times New Roman"/>
                <a:sym typeface="Times New Roman"/>
              </a:rPr>
              <a:t>Class 1 – Heart Related Problems</a:t>
            </a:r>
            <a:br>
              <a:rPr b="1" lang="en-US" sz="2800"/>
            </a:br>
            <a:r>
              <a:rPr b="1" lang="en-US" sz="2800"/>
              <a:t>																																																																									</a:t>
            </a:r>
            <a:br>
              <a:rPr b="1" lang="en-US" sz="2800"/>
            </a:br>
            <a:br>
              <a:rPr b="1" lang="en-US" sz="2800"/>
            </a:br>
            <a:endParaRPr b="1" sz="2800"/>
          </a:p>
        </p:txBody>
      </p:sp>
      <p:sp>
        <p:nvSpPr>
          <p:cNvPr id="357" name="Google Shape;357;p7"/>
          <p:cNvSpPr txBox="1"/>
          <p:nvPr>
            <p:ph idx="1" type="body"/>
          </p:nvPr>
        </p:nvSpPr>
        <p:spPr>
          <a:xfrm>
            <a:off x="982823" y="1409082"/>
            <a:ext cx="7441500" cy="4389000"/>
          </a:xfrm>
          <a:prstGeom prst="rect">
            <a:avLst/>
          </a:prstGeom>
          <a:noFill/>
          <a:ln>
            <a:noFill/>
          </a:ln>
        </p:spPr>
        <p:txBody>
          <a:bodyPr anchorCtr="0" anchor="t" bIns="45700" lIns="91425" spcFirstLastPara="1" rIns="91425" wrap="square" tIns="45700">
            <a:normAutofit fontScale="25000" lnSpcReduction="20000"/>
          </a:bodyPr>
          <a:lstStyle/>
          <a:p>
            <a:pPr indent="-321310" lvl="0" marL="342900" rtl="0" algn="just">
              <a:lnSpc>
                <a:spcPct val="115000"/>
              </a:lnSpc>
              <a:spcBef>
                <a:spcPts val="1000"/>
              </a:spcBef>
              <a:spcAft>
                <a:spcPts val="0"/>
              </a:spcAft>
              <a:buSzPct val="100000"/>
              <a:buFont typeface="Times New Roman"/>
              <a:buAutoNum type="arabicParenR"/>
            </a:pPr>
            <a:r>
              <a:rPr lang="en-US" sz="5600">
                <a:latin typeface="Times New Roman"/>
                <a:ea typeface="Times New Roman"/>
                <a:cs typeface="Times New Roman"/>
                <a:sym typeface="Times New Roman"/>
              </a:rPr>
              <a:t>Heart diseases require continuous monitoring of heart rate and blood pressure.</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Heart disease patients often face complex treatment planning due to co-morbidities and lifestyle differences.</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Patients with cardiac arrhythmia need pacemakers for regulating heart rhythm.</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Adults with Tetralogy of Fallot (ToF) reported poorer physical health than healthy controls, showing more limitations in daily activity, work roles, fatigue, and self-perceived health.</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Anxiety/Depression and Pain/Discomfort were common issues among ToF patients, consistent with previous studies on congenital heart disease (CHD).</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Older patients reported greater physical problems and lower health ratings, especially in Physical Functioning and PCS scores (p &lt; 0.05).</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All ToF patients had undergone complete repair with a transannular patch.</a:t>
            </a:r>
            <a:endParaRPr sz="5600">
              <a:latin typeface="Times New Roman"/>
              <a:ea typeface="Times New Roman"/>
              <a:cs typeface="Times New Roman"/>
              <a:sym typeface="Times New Roman"/>
            </a:endParaRPr>
          </a:p>
          <a:p>
            <a:pPr indent="-321310" lvl="0" marL="342900" rtl="0" algn="just">
              <a:lnSpc>
                <a:spcPct val="115000"/>
              </a:lnSpc>
              <a:spcBef>
                <a:spcPts val="2000"/>
              </a:spcBef>
              <a:spcAft>
                <a:spcPts val="0"/>
              </a:spcAft>
              <a:buSzPct val="100000"/>
              <a:buFont typeface="Times New Roman"/>
              <a:buAutoNum type="arabicParenR"/>
            </a:pPr>
            <a:r>
              <a:rPr lang="en-US" sz="5600">
                <a:latin typeface="Times New Roman"/>
                <a:ea typeface="Times New Roman"/>
                <a:cs typeface="Times New Roman"/>
                <a:sym typeface="Times New Roman"/>
              </a:rPr>
              <a:t>74% required reoperation in adulthood (13/17 females and 28/35 males) due to valve insufficiency, mostly via transcatheter pulmonary valve replacement.</a:t>
            </a:r>
            <a:endParaRPr sz="5600">
              <a:latin typeface="Times New Roman"/>
              <a:ea typeface="Times New Roman"/>
              <a:cs typeface="Times New Roman"/>
              <a:sym typeface="Times New Roman"/>
            </a:endParaRPr>
          </a:p>
          <a:p>
            <a:pPr indent="-195580" lvl="0" marL="342900" rtl="0" algn="l">
              <a:lnSpc>
                <a:spcPct val="50000"/>
              </a:lnSpc>
              <a:spcBef>
                <a:spcPts val="2000"/>
              </a:spcBef>
              <a:spcAft>
                <a:spcPts val="0"/>
              </a:spcAft>
              <a:buSzPct val="145000"/>
              <a:buNone/>
            </a:pPr>
            <a:r>
              <a:t/>
            </a:r>
            <a:endParaRPr sz="1600"/>
          </a:p>
          <a:p>
            <a:pPr indent="-195580" lvl="0" marL="342900" rtl="0" algn="l">
              <a:lnSpc>
                <a:spcPct val="115000"/>
              </a:lnSpc>
              <a:spcBef>
                <a:spcPts val="2000"/>
              </a:spcBef>
              <a:spcAft>
                <a:spcPts val="0"/>
              </a:spcAft>
              <a:buSzPct val="145000"/>
              <a:buNone/>
            </a:pPr>
            <a:r>
              <a:t/>
            </a:r>
            <a:endParaRPr sz="1600"/>
          </a:p>
          <a:p>
            <a:pPr indent="-195580" lvl="0" marL="342900" rtl="0" algn="l">
              <a:lnSpc>
                <a:spcPct val="115000"/>
              </a:lnSpc>
              <a:spcBef>
                <a:spcPts val="2000"/>
              </a:spcBef>
              <a:spcAft>
                <a:spcPts val="0"/>
              </a:spcAft>
              <a:buSzPct val="145000"/>
              <a:buNone/>
            </a:pPr>
            <a:r>
              <a:t/>
            </a:r>
            <a:endParaRPr sz="1600"/>
          </a:p>
          <a:p>
            <a:pPr indent="-195580" lvl="0" marL="342900" rtl="0" algn="l">
              <a:lnSpc>
                <a:spcPct val="115000"/>
              </a:lnSpc>
              <a:spcBef>
                <a:spcPts val="2000"/>
              </a:spcBef>
              <a:spcAft>
                <a:spcPts val="1000"/>
              </a:spcAft>
              <a:buSzPct val="145000"/>
              <a:buNone/>
            </a:pPr>
            <a:r>
              <a:t/>
            </a:r>
            <a:endParaRPr sz="1600">
              <a:latin typeface="Times New Roman"/>
              <a:ea typeface="Times New Roman"/>
              <a:cs typeface="Times New Roman"/>
              <a:sym typeface="Times New Roman"/>
            </a:endParaRPr>
          </a:p>
        </p:txBody>
      </p:sp>
      <p:sp>
        <p:nvSpPr>
          <p:cNvPr id="358" name="Google Shape;358;p7"/>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59" name="Google Shape;359;p7"/>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360" name="Google Shape;360;p7"/>
          <p:cNvSpPr txBox="1"/>
          <p:nvPr/>
        </p:nvSpPr>
        <p:spPr>
          <a:xfrm>
            <a:off x="1438325" y="5879825"/>
            <a:ext cx="52494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Selected References: [1]</a:t>
            </a:r>
            <a:endParaRPr b="0" i="0" sz="1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8"/>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pic>
        <p:nvPicPr>
          <p:cNvPr id="366" name="Google Shape;366;p8"/>
          <p:cNvPicPr preferRelativeResize="0"/>
          <p:nvPr/>
        </p:nvPicPr>
        <p:blipFill rotWithShape="1">
          <a:blip r:embed="rId3">
            <a:alphaModFix/>
          </a:blip>
          <a:srcRect b="0" l="0" r="0" t="8850"/>
          <a:stretch/>
        </p:blipFill>
        <p:spPr>
          <a:xfrm>
            <a:off x="1581000" y="699125"/>
            <a:ext cx="6181800" cy="3238900"/>
          </a:xfrm>
          <a:prstGeom prst="rect">
            <a:avLst/>
          </a:prstGeom>
          <a:noFill/>
          <a:ln>
            <a:noFill/>
          </a:ln>
        </p:spPr>
      </p:pic>
      <p:sp>
        <p:nvSpPr>
          <p:cNvPr id="367" name="Google Shape;367;p8"/>
          <p:cNvSpPr txBox="1"/>
          <p:nvPr/>
        </p:nvSpPr>
        <p:spPr>
          <a:xfrm>
            <a:off x="1580997" y="4416070"/>
            <a:ext cx="6678000" cy="1169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This table presents demographic and health-related data from a sample population, detailing sex, age groups, patient status, and reoperation counts. It shows that men make up 65.5% of the sample, with the largest age group being 25–34 years. The sample is nearly evenly split between patients and controls, offering a balanced foundation for health-related analysis.</a:t>
            </a:r>
            <a:endParaRPr b="0" i="0" sz="1400" u="none" cap="none" strike="noStrike">
              <a:solidFill>
                <a:srgbClr val="000000"/>
              </a:solidFill>
              <a:latin typeface="Times New Roman"/>
              <a:ea typeface="Times New Roman"/>
              <a:cs typeface="Times New Roman"/>
              <a:sym typeface="Times New Roman"/>
            </a:endParaRPr>
          </a:p>
        </p:txBody>
      </p:sp>
      <p:sp>
        <p:nvSpPr>
          <p:cNvPr id="368" name="Google Shape;368;p8"/>
          <p:cNvSpPr txBox="1"/>
          <p:nvPr/>
        </p:nvSpPr>
        <p:spPr>
          <a:xfrm>
            <a:off x="1581000" y="5510600"/>
            <a:ext cx="52494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Selected References: [2]</a:t>
            </a:r>
            <a:endParaRPr b="0" i="0" sz="1200" u="none" cap="none" strike="noStrike">
              <a:solidFill>
                <a:schemeClr val="dk1"/>
              </a:solidFill>
              <a:latin typeface="Times New Roman"/>
              <a:ea typeface="Times New Roman"/>
              <a:cs typeface="Times New Roman"/>
              <a:sym typeface="Times New Roman"/>
            </a:endParaRPr>
          </a:p>
        </p:txBody>
      </p:sp>
      <p:sp>
        <p:nvSpPr>
          <p:cNvPr id="369" name="Google Shape;369;p8"/>
          <p:cNvSpPr txBox="1"/>
          <p:nvPr/>
        </p:nvSpPr>
        <p:spPr>
          <a:xfrm>
            <a:off x="1497325" y="3938025"/>
            <a:ext cx="6181800" cy="32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Table 3. </a:t>
            </a:r>
            <a:r>
              <a:rPr b="0" i="0" lang="en-US" sz="1200" u="none" cap="none" strike="noStrike">
                <a:solidFill>
                  <a:schemeClr val="dk1"/>
                </a:solidFill>
                <a:latin typeface="Times New Roman"/>
                <a:ea typeface="Times New Roman"/>
                <a:cs typeface="Times New Roman"/>
                <a:sym typeface="Times New Roman"/>
              </a:rPr>
              <a:t>Demographic and health-related characteristics of the whole sample.</a:t>
            </a:r>
            <a:endParaRPr b="0" i="0" sz="1200" u="none" cap="none" strike="noStrike">
              <a:solidFill>
                <a:schemeClr val="dk1"/>
              </a:solidFill>
              <a:latin typeface="Times New Roman"/>
              <a:ea typeface="Times New Roman"/>
              <a:cs typeface="Times New Roman"/>
              <a:sym typeface="Times New Roman"/>
            </a:endParaRPr>
          </a:p>
        </p:txBody>
      </p:sp>
      <p:pic>
        <p:nvPicPr>
          <p:cNvPr id="370" name="Google Shape;370;p8"/>
          <p:cNvPicPr preferRelativeResize="0"/>
          <p:nvPr/>
        </p:nvPicPr>
        <p:blipFill rotWithShape="1">
          <a:blip r:embed="rId4">
            <a:alphaModFix/>
          </a:blip>
          <a:srcRect b="0" l="0" r="0" t="0"/>
          <a:stretch/>
        </p:blipFill>
        <p:spPr>
          <a:xfrm>
            <a:off x="8046900" y="216711"/>
            <a:ext cx="851975" cy="7390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7c4491bc67_0_15"/>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pic>
        <p:nvPicPr>
          <p:cNvPr id="377" name="Google Shape;377;g37c4491bc67_0_15"/>
          <p:cNvPicPr preferRelativeResize="0"/>
          <p:nvPr/>
        </p:nvPicPr>
        <p:blipFill rotWithShape="1">
          <a:blip r:embed="rId3">
            <a:alphaModFix/>
          </a:blip>
          <a:srcRect b="0" l="0" r="0" t="12303"/>
          <a:stretch/>
        </p:blipFill>
        <p:spPr>
          <a:xfrm>
            <a:off x="1137975" y="1044489"/>
            <a:ext cx="7548800" cy="2505925"/>
          </a:xfrm>
          <a:prstGeom prst="rect">
            <a:avLst/>
          </a:prstGeom>
          <a:noFill/>
          <a:ln>
            <a:noFill/>
          </a:ln>
        </p:spPr>
      </p:pic>
      <p:sp>
        <p:nvSpPr>
          <p:cNvPr id="378" name="Google Shape;378;g37c4491bc67_0_15"/>
          <p:cNvSpPr txBox="1"/>
          <p:nvPr/>
        </p:nvSpPr>
        <p:spPr>
          <a:xfrm>
            <a:off x="1152175" y="4039650"/>
            <a:ext cx="7520400" cy="1195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Ischemic heart disease shows the highest mortality rate among cardiovascular conditions, exceeding 25 deaths per 100 person-years. This underscores the urgent need for predictive models that can identify high-risk individuals early. Machine learning offers a powerful approach to reduce mortality through timely, data-driven interventions and personalized healthcare strategies.</a:t>
            </a:r>
            <a:endParaRPr b="0" i="0" sz="1400" u="none" cap="none" strike="noStrike">
              <a:solidFill>
                <a:schemeClr val="dk1"/>
              </a:solidFill>
              <a:latin typeface="Times New Roman"/>
              <a:ea typeface="Times New Roman"/>
              <a:cs typeface="Times New Roman"/>
              <a:sym typeface="Times New Roman"/>
            </a:endParaRPr>
          </a:p>
        </p:txBody>
      </p:sp>
      <p:sp>
        <p:nvSpPr>
          <p:cNvPr id="379" name="Google Shape;379;g37c4491bc67_0_15"/>
          <p:cNvSpPr txBox="1"/>
          <p:nvPr/>
        </p:nvSpPr>
        <p:spPr>
          <a:xfrm>
            <a:off x="1152175" y="5414425"/>
            <a:ext cx="5249400" cy="38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Selected References: [3]</a:t>
            </a:r>
            <a:endParaRPr b="0" i="0" sz="1200" u="none" cap="none" strike="noStrike">
              <a:solidFill>
                <a:schemeClr val="dk1"/>
              </a:solidFill>
              <a:latin typeface="Times New Roman"/>
              <a:ea typeface="Times New Roman"/>
              <a:cs typeface="Times New Roman"/>
              <a:sym typeface="Times New Roman"/>
            </a:endParaRPr>
          </a:p>
        </p:txBody>
      </p:sp>
      <p:sp>
        <p:nvSpPr>
          <p:cNvPr id="380" name="Google Shape;380;g37c4491bc67_0_15"/>
          <p:cNvSpPr txBox="1"/>
          <p:nvPr/>
        </p:nvSpPr>
        <p:spPr>
          <a:xfrm>
            <a:off x="1137975" y="3666075"/>
            <a:ext cx="6181800" cy="32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Table 4. </a:t>
            </a:r>
            <a:r>
              <a:rPr b="0" i="0" lang="en-US" sz="1200" u="none" cap="none" strike="noStrike">
                <a:solidFill>
                  <a:schemeClr val="dk1"/>
                </a:solidFill>
                <a:latin typeface="Times New Roman"/>
                <a:ea typeface="Times New Roman"/>
                <a:cs typeface="Times New Roman"/>
                <a:sym typeface="Times New Roman"/>
              </a:rPr>
              <a:t>Mortality rate by disease by etiology [3]</a:t>
            </a:r>
            <a:endParaRPr b="0" i="0" sz="1200" u="none" cap="none" strike="noStrike">
              <a:solidFill>
                <a:schemeClr val="dk1"/>
              </a:solidFill>
              <a:latin typeface="Times New Roman"/>
              <a:ea typeface="Times New Roman"/>
              <a:cs typeface="Times New Roman"/>
              <a:sym typeface="Times New Roman"/>
            </a:endParaRPr>
          </a:p>
        </p:txBody>
      </p:sp>
      <p:pic>
        <p:nvPicPr>
          <p:cNvPr id="381" name="Google Shape;381;g37c4491bc67_0_15"/>
          <p:cNvPicPr preferRelativeResize="0"/>
          <p:nvPr/>
        </p:nvPicPr>
        <p:blipFill rotWithShape="1">
          <a:blip r:embed="rId4">
            <a:alphaModFix/>
          </a:blip>
          <a:srcRect b="0" l="0" r="0" t="0"/>
          <a:stretch/>
        </p:blipFill>
        <p:spPr>
          <a:xfrm>
            <a:off x="7927375" y="215418"/>
            <a:ext cx="851975" cy="6223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9"/>
          <p:cNvSpPr txBox="1"/>
          <p:nvPr>
            <p:ph type="title"/>
          </p:nvPr>
        </p:nvSpPr>
        <p:spPr>
          <a:xfrm>
            <a:off x="840608" y="76201"/>
            <a:ext cx="7704600"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endParaRPr b="1" sz="2800"/>
          </a:p>
          <a:p>
            <a:pPr indent="0" lvl="0" marL="0" rtl="0" algn="ctr">
              <a:lnSpc>
                <a:spcPct val="100000"/>
              </a:lnSpc>
              <a:spcBef>
                <a:spcPts val="0"/>
              </a:spcBef>
              <a:spcAft>
                <a:spcPts val="0"/>
              </a:spcAft>
              <a:buClr>
                <a:schemeClr val="dk1"/>
              </a:buClr>
              <a:buSzPts val="4400"/>
              <a:buFont typeface="Corbel"/>
              <a:buNone/>
            </a:pPr>
            <a:br>
              <a:rPr b="1" lang="en-US" sz="2500">
                <a:latin typeface="Times New Roman"/>
                <a:ea typeface="Times New Roman"/>
                <a:cs typeface="Times New Roman"/>
                <a:sym typeface="Times New Roman"/>
              </a:rPr>
            </a:br>
            <a:r>
              <a:rPr b="1" lang="en-US" sz="2500">
                <a:latin typeface="Times New Roman"/>
                <a:ea typeface="Times New Roman"/>
                <a:cs typeface="Times New Roman"/>
                <a:sym typeface="Times New Roman"/>
              </a:rPr>
              <a:t>CLASS 2: Beyond the Basics: How ML is Revolutionizing Heart Disease Detection</a:t>
            </a:r>
            <a:endParaRPr b="1" sz="2500">
              <a:latin typeface="Times New Roman"/>
              <a:ea typeface="Times New Roman"/>
              <a:cs typeface="Times New Roman"/>
              <a:sym typeface="Times New Roman"/>
            </a:endParaRPr>
          </a:p>
        </p:txBody>
      </p:sp>
      <p:sp>
        <p:nvSpPr>
          <p:cNvPr id="391" name="Google Shape;391;p9"/>
          <p:cNvSpPr txBox="1"/>
          <p:nvPr>
            <p:ph idx="1" type="body"/>
          </p:nvPr>
        </p:nvSpPr>
        <p:spPr>
          <a:xfrm>
            <a:off x="623025" y="3327175"/>
            <a:ext cx="5608500" cy="2781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15000"/>
              </a:lnSpc>
              <a:spcBef>
                <a:spcPts val="1000"/>
              </a:spcBef>
              <a:spcAft>
                <a:spcPts val="0"/>
              </a:spcAft>
              <a:buSzPct val="165714"/>
              <a:buNone/>
            </a:pPr>
            <a:r>
              <a:t/>
            </a:r>
            <a:endParaRPr sz="1400">
              <a:latin typeface="Times New Roman"/>
              <a:ea typeface="Times New Roman"/>
              <a:cs typeface="Times New Roman"/>
              <a:sym typeface="Times New Roman"/>
            </a:endParaRPr>
          </a:p>
          <a:p>
            <a:pPr indent="-317182" lvl="0" marL="457200" rtl="0" algn="l">
              <a:lnSpc>
                <a:spcPct val="115000"/>
              </a:lnSpc>
              <a:spcBef>
                <a:spcPts val="1000"/>
              </a:spcBef>
              <a:spcAft>
                <a:spcPts val="0"/>
              </a:spcAft>
              <a:buSzPct val="100000"/>
              <a:buFont typeface="Times New Roman"/>
              <a:buChar char="•"/>
            </a:pPr>
            <a:r>
              <a:rPr lang="en-US" sz="1800">
                <a:latin typeface="Times New Roman"/>
                <a:ea typeface="Times New Roman"/>
                <a:cs typeface="Times New Roman"/>
                <a:sym typeface="Times New Roman"/>
              </a:rPr>
              <a:t>Expensive diagnostic methods (angiography, advanced imaging, genetic tests).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100000"/>
              <a:buFont typeface="Times New Roman"/>
              <a:buChar char="•"/>
            </a:pPr>
            <a:r>
              <a:rPr lang="en-US" sz="1800">
                <a:latin typeface="Times New Roman"/>
                <a:ea typeface="Times New Roman"/>
                <a:cs typeface="Times New Roman"/>
                <a:sym typeface="Times New Roman"/>
              </a:rPr>
              <a:t>Require specialized expertise, not scalable in rural/low-resource settings.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100000"/>
              <a:buFont typeface="Times New Roman"/>
              <a:buChar char="•"/>
            </a:pPr>
            <a:r>
              <a:rPr lang="en-US" sz="1800">
                <a:latin typeface="Times New Roman"/>
                <a:ea typeface="Times New Roman"/>
                <a:cs typeface="Times New Roman"/>
                <a:sym typeface="Times New Roman"/>
              </a:rPr>
              <a:t>Time-consuming, prone to delayed diagnosis.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17182" lvl="0" marL="457200" rtl="0" algn="l">
              <a:lnSpc>
                <a:spcPct val="115000"/>
              </a:lnSpc>
              <a:spcBef>
                <a:spcPts val="0"/>
              </a:spcBef>
              <a:spcAft>
                <a:spcPts val="0"/>
              </a:spcAft>
              <a:buSzPct val="100000"/>
              <a:buFont typeface="Times New Roman"/>
              <a:buChar char="•"/>
            </a:pPr>
            <a:r>
              <a:rPr lang="en-US" sz="1800">
                <a:latin typeface="Times New Roman"/>
                <a:ea typeface="Times New Roman"/>
                <a:cs typeface="Times New Roman"/>
                <a:sym typeface="Times New Roman"/>
              </a:rPr>
              <a:t>Not always personalized → same approach applied to diverse patient groups.</a:t>
            </a:r>
            <a:endParaRPr sz="1800">
              <a:latin typeface="Times New Roman"/>
              <a:ea typeface="Times New Roman"/>
              <a:cs typeface="Times New Roman"/>
              <a:sym typeface="Times New Roman"/>
            </a:endParaRPr>
          </a:p>
          <a:p>
            <a:pPr indent="0" lvl="0" marL="0" rtl="0" algn="l">
              <a:lnSpc>
                <a:spcPct val="115000"/>
              </a:lnSpc>
              <a:spcBef>
                <a:spcPts val="1000"/>
              </a:spcBef>
              <a:spcAft>
                <a:spcPts val="1000"/>
              </a:spcAft>
              <a:buSzPct val="145000"/>
              <a:buNone/>
            </a:pPr>
            <a:r>
              <a:t/>
            </a:r>
            <a:endParaRPr sz="1600">
              <a:latin typeface="Times New Roman"/>
              <a:ea typeface="Times New Roman"/>
              <a:cs typeface="Times New Roman"/>
              <a:sym typeface="Times New Roman"/>
            </a:endParaRPr>
          </a:p>
        </p:txBody>
      </p:sp>
      <p:sp>
        <p:nvSpPr>
          <p:cNvPr id="392" name="Google Shape;392;p9"/>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393" name="Google Shape;393;p9"/>
          <p:cNvPicPr preferRelativeResize="0"/>
          <p:nvPr/>
        </p:nvPicPr>
        <p:blipFill rotWithShape="1">
          <a:blip r:embed="rId3">
            <a:alphaModFix/>
          </a:blip>
          <a:srcRect b="0" l="0" r="0" t="0"/>
          <a:stretch/>
        </p:blipFill>
        <p:spPr>
          <a:xfrm>
            <a:off x="7872946" y="313389"/>
            <a:ext cx="851975" cy="622300"/>
          </a:xfrm>
          <a:prstGeom prst="rect">
            <a:avLst/>
          </a:prstGeom>
          <a:noFill/>
          <a:ln>
            <a:noFill/>
          </a:ln>
        </p:spPr>
      </p:pic>
      <p:sp>
        <p:nvSpPr>
          <p:cNvPr id="394" name="Google Shape;394;p9"/>
          <p:cNvSpPr txBox="1"/>
          <p:nvPr/>
        </p:nvSpPr>
        <p:spPr>
          <a:xfrm>
            <a:off x="843093" y="2209800"/>
            <a:ext cx="5508300" cy="15810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400"/>
              <a:buFont typeface="Arial"/>
              <a:buNone/>
            </a:pPr>
            <a:r>
              <a:rPr b="0" i="0" lang="en-US" sz="1400" u="none" cap="none" strike="noStrike">
                <a:solidFill>
                  <a:schemeClr val="dk1"/>
                </a:solidFill>
                <a:latin typeface="Times New Roman"/>
                <a:ea typeface="Times New Roman"/>
                <a:cs typeface="Times New Roman"/>
                <a:sym typeface="Times New Roman"/>
              </a:rPr>
              <a:t>Traditional care depends on clinical risk scores like the Framingham model, which use limited factors such as age, cholesterol, and blood pressure. Diagnosis relies on manual interpretation of ECGs and imaging, requiring specialist expertise and significant time. Treatment and research are physician-driven, often slow, costly, and less personalized.</a:t>
            </a:r>
            <a:endParaRPr b="0" i="0" sz="1400" u="none" cap="none" strike="noStrike">
              <a:solidFill>
                <a:schemeClr val="dk1"/>
              </a:solidFill>
              <a:latin typeface="Times New Roman"/>
              <a:ea typeface="Times New Roman"/>
              <a:cs typeface="Times New Roman"/>
              <a:sym typeface="Times New Roman"/>
            </a:endParaRPr>
          </a:p>
        </p:txBody>
      </p:sp>
      <p:pic>
        <p:nvPicPr>
          <p:cNvPr id="395" name="Google Shape;395;p9" title="Screenshot 2025-09-06 at 18.37.47.png"/>
          <p:cNvPicPr preferRelativeResize="0"/>
          <p:nvPr/>
        </p:nvPicPr>
        <p:blipFill rotWithShape="1">
          <a:blip r:embed="rId4">
            <a:alphaModFix/>
          </a:blip>
          <a:srcRect b="0" l="0" r="0" t="0"/>
          <a:stretch/>
        </p:blipFill>
        <p:spPr>
          <a:xfrm>
            <a:off x="6418189" y="2209800"/>
            <a:ext cx="2638726" cy="3376025"/>
          </a:xfrm>
          <a:prstGeom prst="rect">
            <a:avLst/>
          </a:prstGeom>
          <a:noFill/>
          <a:ln>
            <a:noFill/>
          </a:ln>
        </p:spPr>
      </p:pic>
      <p:sp>
        <p:nvSpPr>
          <p:cNvPr id="396" name="Google Shape;396;p9"/>
          <p:cNvSpPr txBox="1"/>
          <p:nvPr/>
        </p:nvSpPr>
        <p:spPr>
          <a:xfrm>
            <a:off x="6383925" y="5705575"/>
            <a:ext cx="2536500" cy="28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Times New Roman"/>
                <a:ea typeface="Times New Roman"/>
                <a:cs typeface="Times New Roman"/>
                <a:sym typeface="Times New Roman"/>
              </a:rPr>
              <a:t>Fig. 2.1  Applications and challenges of AI in cardiovascular disease  [4]</a:t>
            </a:r>
            <a:endParaRPr b="0"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7c4491bc67_5_20"/>
          <p:cNvSpPr txBox="1"/>
          <p:nvPr>
            <p:ph type="title"/>
          </p:nvPr>
        </p:nvSpPr>
        <p:spPr>
          <a:xfrm>
            <a:off x="840600" y="76200"/>
            <a:ext cx="7704600" cy="1581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CLASS 2: Beyond the Basics: How ML is Revolutionizing Heart Disease Detection</a:t>
            </a:r>
            <a:endParaRPr b="1" sz="2500">
              <a:latin typeface="Times New Roman"/>
              <a:ea typeface="Times New Roman"/>
              <a:cs typeface="Times New Roman"/>
              <a:sym typeface="Times New Roman"/>
            </a:endParaRPr>
          </a:p>
        </p:txBody>
      </p:sp>
      <p:sp>
        <p:nvSpPr>
          <p:cNvPr id="406" name="Google Shape;406;g37c4491bc67_5_20"/>
          <p:cNvSpPr txBox="1"/>
          <p:nvPr>
            <p:ph idx="1" type="body"/>
          </p:nvPr>
        </p:nvSpPr>
        <p:spPr>
          <a:xfrm>
            <a:off x="1104215" y="1959623"/>
            <a:ext cx="7704600" cy="43311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just">
              <a:lnSpc>
                <a:spcPct val="115000"/>
              </a:lnSpc>
              <a:spcBef>
                <a:spcPts val="1800"/>
              </a:spcBef>
              <a:spcAft>
                <a:spcPts val="0"/>
              </a:spcAft>
              <a:buClr>
                <a:schemeClr val="dk1"/>
              </a:buClr>
              <a:buSzPct val="31797"/>
              <a:buFont typeface="Arial"/>
              <a:buNone/>
            </a:pPr>
            <a:r>
              <a:rPr b="1" lang="en-US" sz="3459">
                <a:latin typeface="Times New Roman"/>
                <a:ea typeface="Times New Roman"/>
                <a:cs typeface="Times New Roman"/>
                <a:sym typeface="Times New Roman"/>
              </a:rPr>
              <a:t>Why Machine Learning for Heart Disease? </a:t>
            </a:r>
            <a:endParaRPr b="1" sz="3459">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ct val="31797"/>
              <a:buFont typeface="Arial"/>
              <a:buNone/>
            </a:pPr>
            <a:r>
              <a:rPr b="1" lang="en-US" sz="3459">
                <a:latin typeface="Times New Roman"/>
                <a:ea typeface="Times New Roman"/>
                <a:cs typeface="Times New Roman"/>
                <a:sym typeface="Times New Roman"/>
              </a:rPr>
              <a:t>Conventional Methods: The Limitations</a:t>
            </a:r>
            <a:endParaRPr b="1" sz="3459">
              <a:latin typeface="Times New Roman"/>
              <a:ea typeface="Times New Roman"/>
              <a:cs typeface="Times New Roman"/>
              <a:sym typeface="Times New Roman"/>
            </a:endParaRPr>
          </a:p>
          <a:p>
            <a:pPr indent="-316507" lvl="0" marL="457200" rtl="0" algn="just">
              <a:lnSpc>
                <a:spcPct val="115000"/>
              </a:lnSpc>
              <a:spcBef>
                <a:spcPts val="1200"/>
              </a:spcBef>
              <a:spcAft>
                <a:spcPts val="0"/>
              </a:spcAft>
              <a:buClr>
                <a:schemeClr val="dk1"/>
              </a:buClr>
              <a:buSzPct val="100000"/>
              <a:buChar char="●"/>
            </a:pPr>
            <a:r>
              <a:rPr b="1" lang="en-US" sz="3459">
                <a:latin typeface="Times New Roman"/>
                <a:ea typeface="Times New Roman"/>
                <a:cs typeface="Times New Roman"/>
                <a:sym typeface="Times New Roman"/>
              </a:rPr>
              <a:t>Reactive:</a:t>
            </a:r>
            <a:r>
              <a:rPr lang="en-US" sz="3459">
                <a:latin typeface="Times New Roman"/>
                <a:ea typeface="Times New Roman"/>
                <a:cs typeface="Times New Roman"/>
                <a:sym typeface="Times New Roman"/>
              </a:rPr>
              <a:t> Often focused on diagnosis </a:t>
            </a:r>
            <a:r>
              <a:rPr i="1" lang="en-US" sz="3459">
                <a:latin typeface="Times New Roman"/>
                <a:ea typeface="Times New Roman"/>
                <a:cs typeface="Times New Roman"/>
                <a:sym typeface="Times New Roman"/>
              </a:rPr>
              <a:t>after</a:t>
            </a:r>
            <a:r>
              <a:rPr lang="en-US" sz="3459">
                <a:latin typeface="Times New Roman"/>
                <a:ea typeface="Times New Roman"/>
                <a:cs typeface="Times New Roman"/>
                <a:sym typeface="Times New Roman"/>
              </a:rPr>
              <a:t> symptoms appear.</a:t>
            </a:r>
            <a:endParaRPr sz="3459">
              <a:latin typeface="Times New Roman"/>
              <a:ea typeface="Times New Roman"/>
              <a:cs typeface="Times New Roman"/>
              <a:sym typeface="Times New Roman"/>
            </a:endParaRPr>
          </a:p>
          <a:p>
            <a:pPr indent="-316507" lvl="0" marL="457200" rtl="0" algn="just">
              <a:lnSpc>
                <a:spcPct val="115000"/>
              </a:lnSpc>
              <a:spcBef>
                <a:spcPts val="0"/>
              </a:spcBef>
              <a:spcAft>
                <a:spcPts val="0"/>
              </a:spcAft>
              <a:buClr>
                <a:schemeClr val="dk1"/>
              </a:buClr>
              <a:buSzPct val="100000"/>
              <a:buChar char="●"/>
            </a:pPr>
            <a:r>
              <a:rPr b="1" lang="en-US" sz="3459">
                <a:latin typeface="Times New Roman"/>
                <a:ea typeface="Times New Roman"/>
                <a:cs typeface="Times New Roman"/>
                <a:sym typeface="Times New Roman"/>
              </a:rPr>
              <a:t>Generalized:</a:t>
            </a:r>
            <a:r>
              <a:rPr lang="en-US" sz="3459">
                <a:latin typeface="Times New Roman"/>
                <a:ea typeface="Times New Roman"/>
                <a:cs typeface="Times New Roman"/>
                <a:sym typeface="Times New Roman"/>
              </a:rPr>
              <a:t> Relies on traditional risk scores (e.g., Framingham) that average risk across large populations, missing individual nuances.</a:t>
            </a:r>
            <a:endParaRPr sz="3459">
              <a:latin typeface="Times New Roman"/>
              <a:ea typeface="Times New Roman"/>
              <a:cs typeface="Times New Roman"/>
              <a:sym typeface="Times New Roman"/>
            </a:endParaRPr>
          </a:p>
          <a:p>
            <a:pPr indent="-316507" lvl="0" marL="457200" rtl="0" algn="just">
              <a:lnSpc>
                <a:spcPct val="115000"/>
              </a:lnSpc>
              <a:spcBef>
                <a:spcPts val="0"/>
              </a:spcBef>
              <a:spcAft>
                <a:spcPts val="0"/>
              </a:spcAft>
              <a:buClr>
                <a:schemeClr val="dk1"/>
              </a:buClr>
              <a:buSzPct val="100000"/>
              <a:buChar char="●"/>
            </a:pPr>
            <a:r>
              <a:rPr b="1" lang="en-US" sz="3459">
                <a:latin typeface="Times New Roman"/>
                <a:ea typeface="Times New Roman"/>
                <a:cs typeface="Times New Roman"/>
                <a:sym typeface="Times New Roman"/>
              </a:rPr>
              <a:t>Limited Data:</a:t>
            </a:r>
            <a:r>
              <a:rPr lang="en-US" sz="3459">
                <a:latin typeface="Times New Roman"/>
                <a:ea typeface="Times New Roman"/>
                <a:cs typeface="Times New Roman"/>
                <a:sym typeface="Times New Roman"/>
              </a:rPr>
              <a:t> Uses a small number of variables (age, cholesterol, blood pressure) and struggles to incorporate complex data.</a:t>
            </a:r>
            <a:endParaRPr sz="3459">
              <a:latin typeface="Times New Roman"/>
              <a:ea typeface="Times New Roman"/>
              <a:cs typeface="Times New Roman"/>
              <a:sym typeface="Times New Roman"/>
            </a:endParaRPr>
          </a:p>
          <a:p>
            <a:pPr indent="0" lvl="0" marL="0" rtl="0" algn="just">
              <a:lnSpc>
                <a:spcPct val="115000"/>
              </a:lnSpc>
              <a:spcBef>
                <a:spcPts val="1200"/>
              </a:spcBef>
              <a:spcAft>
                <a:spcPts val="0"/>
              </a:spcAft>
              <a:buSzPct val="188638"/>
              <a:buNone/>
            </a:pPr>
            <a:r>
              <a:rPr b="1" lang="en-US" sz="3459">
                <a:latin typeface="Times New Roman"/>
                <a:ea typeface="Times New Roman"/>
                <a:cs typeface="Times New Roman"/>
                <a:sym typeface="Times New Roman"/>
              </a:rPr>
              <a:t>The Machine Learning Promise: A Paradigm Shift</a:t>
            </a:r>
            <a:r>
              <a:rPr lang="en-US" sz="3459">
                <a:latin typeface="Times New Roman"/>
                <a:ea typeface="Times New Roman"/>
                <a:cs typeface="Times New Roman"/>
                <a:sym typeface="Times New Roman"/>
              </a:rPr>
              <a:t> </a:t>
            </a:r>
            <a:endParaRPr sz="3459">
              <a:latin typeface="Times New Roman"/>
              <a:ea typeface="Times New Roman"/>
              <a:cs typeface="Times New Roman"/>
              <a:sym typeface="Times New Roman"/>
            </a:endParaRPr>
          </a:p>
          <a:p>
            <a:pPr indent="-316507" lvl="0" marL="457200" rtl="0" algn="just">
              <a:lnSpc>
                <a:spcPct val="115000"/>
              </a:lnSpc>
              <a:spcBef>
                <a:spcPts val="1200"/>
              </a:spcBef>
              <a:spcAft>
                <a:spcPts val="0"/>
              </a:spcAft>
              <a:buClr>
                <a:schemeClr val="dk1"/>
              </a:buClr>
              <a:buSzPct val="100000"/>
              <a:buChar char="●"/>
            </a:pPr>
            <a:r>
              <a:rPr b="1" lang="en-US" sz="3459">
                <a:latin typeface="Times New Roman"/>
                <a:ea typeface="Times New Roman"/>
                <a:cs typeface="Times New Roman"/>
                <a:sym typeface="Times New Roman"/>
              </a:rPr>
              <a:t>Proactive &amp; Predictive:</a:t>
            </a:r>
            <a:r>
              <a:rPr lang="en-US" sz="3459">
                <a:latin typeface="Times New Roman"/>
                <a:ea typeface="Times New Roman"/>
                <a:cs typeface="Times New Roman"/>
                <a:sym typeface="Times New Roman"/>
              </a:rPr>
              <a:t> Aims to forecast disease risk </a:t>
            </a:r>
            <a:r>
              <a:rPr i="1" lang="en-US" sz="3459">
                <a:latin typeface="Times New Roman"/>
                <a:ea typeface="Times New Roman"/>
                <a:cs typeface="Times New Roman"/>
                <a:sym typeface="Times New Roman"/>
              </a:rPr>
              <a:t>before</a:t>
            </a:r>
            <a:r>
              <a:rPr lang="en-US" sz="3459">
                <a:latin typeface="Times New Roman"/>
                <a:ea typeface="Times New Roman"/>
                <a:cs typeface="Times New Roman"/>
                <a:sym typeface="Times New Roman"/>
              </a:rPr>
              <a:t> an event occurs, enabling early intervention.</a:t>
            </a:r>
            <a:endParaRPr sz="3459">
              <a:latin typeface="Times New Roman"/>
              <a:ea typeface="Times New Roman"/>
              <a:cs typeface="Times New Roman"/>
              <a:sym typeface="Times New Roman"/>
            </a:endParaRPr>
          </a:p>
          <a:p>
            <a:pPr indent="-316507" lvl="0" marL="457200" rtl="0" algn="just">
              <a:lnSpc>
                <a:spcPct val="115000"/>
              </a:lnSpc>
              <a:spcBef>
                <a:spcPts val="0"/>
              </a:spcBef>
              <a:spcAft>
                <a:spcPts val="0"/>
              </a:spcAft>
              <a:buClr>
                <a:schemeClr val="dk1"/>
              </a:buClr>
              <a:buSzPct val="100000"/>
              <a:buChar char="●"/>
            </a:pPr>
            <a:r>
              <a:rPr b="1" lang="en-US" sz="3459">
                <a:latin typeface="Times New Roman"/>
                <a:ea typeface="Times New Roman"/>
                <a:cs typeface="Times New Roman"/>
                <a:sym typeface="Times New Roman"/>
              </a:rPr>
              <a:t>Personalized:</a:t>
            </a:r>
            <a:r>
              <a:rPr lang="en-US" sz="3459">
                <a:latin typeface="Times New Roman"/>
                <a:ea typeface="Times New Roman"/>
                <a:cs typeface="Times New Roman"/>
                <a:sym typeface="Times New Roman"/>
              </a:rPr>
              <a:t> Creates highly individualized risk profiles by analyzing hundreds of variables from patient data (EHR, genomics, imaging).</a:t>
            </a:r>
            <a:endParaRPr sz="3459">
              <a:latin typeface="Times New Roman"/>
              <a:ea typeface="Times New Roman"/>
              <a:cs typeface="Times New Roman"/>
              <a:sym typeface="Times New Roman"/>
            </a:endParaRPr>
          </a:p>
          <a:p>
            <a:pPr indent="-316507" lvl="0" marL="457200" rtl="0" algn="just">
              <a:lnSpc>
                <a:spcPct val="115000"/>
              </a:lnSpc>
              <a:spcBef>
                <a:spcPts val="0"/>
              </a:spcBef>
              <a:spcAft>
                <a:spcPts val="0"/>
              </a:spcAft>
              <a:buClr>
                <a:schemeClr val="dk1"/>
              </a:buClr>
              <a:buSzPct val="100000"/>
              <a:buChar char="●"/>
            </a:pPr>
            <a:r>
              <a:rPr b="1" lang="en-US" sz="3459">
                <a:latin typeface="Times New Roman"/>
                <a:ea typeface="Times New Roman"/>
                <a:cs typeface="Times New Roman"/>
                <a:sym typeface="Times New Roman"/>
              </a:rPr>
              <a:t>Data-Driven:</a:t>
            </a:r>
            <a:r>
              <a:rPr lang="en-US" sz="3459">
                <a:latin typeface="Times New Roman"/>
                <a:ea typeface="Times New Roman"/>
                <a:cs typeface="Times New Roman"/>
                <a:sym typeface="Times New Roman"/>
              </a:rPr>
              <a:t> Uncovers hidden patterns and complex interactions in large datasets that are invisible to humans.</a:t>
            </a:r>
            <a:endParaRPr sz="3459">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ct val="31797"/>
              <a:buFont typeface="Arial"/>
              <a:buNone/>
            </a:pPr>
            <a:r>
              <a:rPr b="1" lang="en-US" sz="3459">
                <a:latin typeface="Times New Roman"/>
                <a:ea typeface="Times New Roman"/>
                <a:cs typeface="Times New Roman"/>
                <a:sym typeface="Times New Roman"/>
              </a:rPr>
              <a:t>Bottom Line: ML shifts the focus from treating sickness to proactively managing health.</a:t>
            </a:r>
            <a:endParaRPr b="1" sz="3459">
              <a:latin typeface="Times New Roman"/>
              <a:ea typeface="Times New Roman"/>
              <a:cs typeface="Times New Roman"/>
              <a:sym typeface="Times New Roman"/>
            </a:endParaRPr>
          </a:p>
          <a:p>
            <a:pPr indent="0" lvl="0" marL="457200" rtl="0" algn="l">
              <a:lnSpc>
                <a:spcPct val="100000"/>
              </a:lnSpc>
              <a:spcBef>
                <a:spcPts val="1200"/>
              </a:spcBef>
              <a:spcAft>
                <a:spcPts val="0"/>
              </a:spcAft>
              <a:buSzPts val="2610"/>
              <a:buNone/>
            </a:pPr>
            <a:r>
              <a:t/>
            </a:r>
            <a:endParaRPr sz="1400">
              <a:latin typeface="Times New Roman"/>
              <a:ea typeface="Times New Roman"/>
              <a:cs typeface="Times New Roman"/>
              <a:sym typeface="Times New Roman"/>
            </a:endParaRPr>
          </a:p>
          <a:p>
            <a:pPr indent="0" lvl="0" marL="0" rtl="0" algn="l">
              <a:lnSpc>
                <a:spcPct val="115000"/>
              </a:lnSpc>
              <a:spcBef>
                <a:spcPts val="1000"/>
              </a:spcBef>
              <a:spcAft>
                <a:spcPts val="1000"/>
              </a:spcAft>
              <a:buSzPct val="145000"/>
              <a:buNone/>
            </a:pPr>
            <a:r>
              <a:t/>
            </a:r>
            <a:endParaRPr sz="1600">
              <a:latin typeface="Times New Roman"/>
              <a:ea typeface="Times New Roman"/>
              <a:cs typeface="Times New Roman"/>
              <a:sym typeface="Times New Roman"/>
            </a:endParaRPr>
          </a:p>
        </p:txBody>
      </p:sp>
      <p:sp>
        <p:nvSpPr>
          <p:cNvPr id="407" name="Google Shape;407;g37c4491bc67_5_2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408" name="Google Shape;408;g37c4491bc67_5_20"/>
          <p:cNvPicPr preferRelativeResize="0"/>
          <p:nvPr/>
        </p:nvPicPr>
        <p:blipFill rotWithShape="1">
          <a:blip r:embed="rId3">
            <a:alphaModFix/>
          </a:blip>
          <a:srcRect b="0" l="0" r="0" t="0"/>
          <a:stretch/>
        </p:blipFill>
        <p:spPr>
          <a:xfrm>
            <a:off x="7872946" y="313389"/>
            <a:ext cx="851975" cy="62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g37c4491bc67_5_50"/>
          <p:cNvSpPr txBox="1"/>
          <p:nvPr>
            <p:ph type="title"/>
          </p:nvPr>
        </p:nvSpPr>
        <p:spPr>
          <a:xfrm>
            <a:off x="840600" y="76200"/>
            <a:ext cx="7704600" cy="1581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CLASS 2: Beyond the Basics: How ML is Revolutionizing Heart Disease Detection</a:t>
            </a:r>
            <a:endParaRPr b="1" sz="2800"/>
          </a:p>
        </p:txBody>
      </p:sp>
      <p:sp>
        <p:nvSpPr>
          <p:cNvPr id="418" name="Google Shape;418;g37c4491bc67_5_50"/>
          <p:cNvSpPr txBox="1"/>
          <p:nvPr>
            <p:ph idx="1" type="body"/>
          </p:nvPr>
        </p:nvSpPr>
        <p:spPr>
          <a:xfrm>
            <a:off x="916825" y="1842350"/>
            <a:ext cx="4389300" cy="2872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1200"/>
              </a:spcBef>
              <a:spcAft>
                <a:spcPts val="1200"/>
              </a:spcAft>
              <a:buSzPts val="2610"/>
              <a:buNone/>
            </a:pPr>
            <a:r>
              <a:rPr lang="en-US" sz="1400">
                <a:latin typeface="Times New Roman"/>
                <a:ea typeface="Times New Roman"/>
                <a:cs typeface="Times New Roman"/>
                <a:sym typeface="Times New Roman"/>
              </a:rPr>
              <a:t>According to paper [7], conventional cardiovascular diagnosis often relies on costly imaging, invasive tests, and time-consuming clinical evaluations. In contrast, AI and ML models can achieve reliable predictions using only basic patient data such as age, weight, blood pressure, cholesterol, and lifestyle factors. This makes prediction </a:t>
            </a:r>
            <a:r>
              <a:rPr b="1" lang="en-US" sz="1400">
                <a:latin typeface="Times New Roman"/>
                <a:ea typeface="Times New Roman"/>
                <a:cs typeface="Times New Roman"/>
                <a:sym typeface="Times New Roman"/>
              </a:rPr>
              <a:t>cheaper, faster, and more accessible</a:t>
            </a:r>
            <a:r>
              <a:rPr lang="en-US" sz="1400">
                <a:latin typeface="Times New Roman"/>
                <a:ea typeface="Times New Roman"/>
                <a:cs typeface="Times New Roman"/>
                <a:sym typeface="Times New Roman"/>
              </a:rPr>
              <a:t>, especially in resource-limited settings, while still providing clinically relevant insights into heart disease risk.</a:t>
            </a:r>
            <a:endParaRPr sz="1400">
              <a:latin typeface="Times New Roman"/>
              <a:ea typeface="Times New Roman"/>
              <a:cs typeface="Times New Roman"/>
              <a:sym typeface="Times New Roman"/>
            </a:endParaRPr>
          </a:p>
        </p:txBody>
      </p:sp>
      <p:sp>
        <p:nvSpPr>
          <p:cNvPr id="419" name="Google Shape;419;g37c4491bc67_5_5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420" name="Google Shape;420;g37c4491bc67_5_50"/>
          <p:cNvPicPr preferRelativeResize="0"/>
          <p:nvPr/>
        </p:nvPicPr>
        <p:blipFill rotWithShape="1">
          <a:blip r:embed="rId3">
            <a:alphaModFix/>
          </a:blip>
          <a:srcRect b="0" l="0" r="0" t="0"/>
          <a:stretch/>
        </p:blipFill>
        <p:spPr>
          <a:xfrm>
            <a:off x="7872946" y="313389"/>
            <a:ext cx="851975" cy="622300"/>
          </a:xfrm>
          <a:prstGeom prst="rect">
            <a:avLst/>
          </a:prstGeom>
          <a:noFill/>
          <a:ln>
            <a:noFill/>
          </a:ln>
        </p:spPr>
      </p:pic>
      <p:sp>
        <p:nvSpPr>
          <p:cNvPr id="421" name="Google Shape;421;g37c4491bc67_5_50"/>
          <p:cNvSpPr txBox="1"/>
          <p:nvPr/>
        </p:nvSpPr>
        <p:spPr>
          <a:xfrm>
            <a:off x="5587426" y="4661485"/>
            <a:ext cx="3435000" cy="783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Times New Roman"/>
                <a:ea typeface="Times New Roman"/>
                <a:cs typeface="Times New Roman"/>
                <a:sym typeface="Times New Roman"/>
              </a:rPr>
              <a:t>Fig 2.2. Attributes of the cardiovascular dataset used for ML-based heart disease prediction  [5]</a:t>
            </a:r>
            <a:endParaRPr b="0" i="0" sz="1000" u="none" cap="none" strike="noStrike">
              <a:solidFill>
                <a:schemeClr val="dk1"/>
              </a:solidFill>
              <a:latin typeface="Times New Roman"/>
              <a:ea typeface="Times New Roman"/>
              <a:cs typeface="Times New Roman"/>
              <a:sym typeface="Times New Roman"/>
            </a:endParaRPr>
          </a:p>
        </p:txBody>
      </p:sp>
      <p:pic>
        <p:nvPicPr>
          <p:cNvPr id="422" name="Google Shape;422;g37c4491bc67_5_50" title="Screenshot 2025-09-06 at 19.27.10.png"/>
          <p:cNvPicPr preferRelativeResize="0"/>
          <p:nvPr/>
        </p:nvPicPr>
        <p:blipFill rotWithShape="1">
          <a:blip r:embed="rId4">
            <a:alphaModFix/>
          </a:blip>
          <a:srcRect b="0" l="0" r="0" t="0"/>
          <a:stretch/>
        </p:blipFill>
        <p:spPr>
          <a:xfrm>
            <a:off x="5509634" y="2068581"/>
            <a:ext cx="3300725" cy="2564449"/>
          </a:xfrm>
          <a:prstGeom prst="rect">
            <a:avLst/>
          </a:prstGeom>
          <a:noFill/>
          <a:ln>
            <a:noFill/>
          </a:ln>
        </p:spPr>
      </p:pic>
      <p:sp>
        <p:nvSpPr>
          <p:cNvPr id="423" name="Google Shape;423;g37c4491bc67_5_50"/>
          <p:cNvSpPr txBox="1"/>
          <p:nvPr/>
        </p:nvSpPr>
        <p:spPr>
          <a:xfrm>
            <a:off x="840625" y="4320689"/>
            <a:ext cx="4454700" cy="2022900"/>
          </a:xfrm>
          <a:prstGeom prst="rect">
            <a:avLst/>
          </a:prstGeom>
          <a:noFill/>
          <a:ln>
            <a:noFill/>
          </a:ln>
        </p:spPr>
        <p:txBody>
          <a:bodyPr anchorCtr="0" anchor="t" bIns="91425" lIns="91425" spcFirstLastPara="1" rIns="91425" wrap="square" tIns="91425">
            <a:noAutofit/>
          </a:bodyPr>
          <a:lstStyle/>
          <a:p>
            <a:pPr indent="-311150" lvl="0" marL="457200" marR="0" rtl="0" algn="just">
              <a:lnSpc>
                <a:spcPct val="115000"/>
              </a:lnSpc>
              <a:spcBef>
                <a:spcPts val="120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Uses simple, routinely collected data (age, BP, cholesterol).</a:t>
            </a:r>
            <a:endParaRPr b="0" i="0" sz="1300" u="none" cap="none" strike="noStrike">
              <a:solidFill>
                <a:schemeClr val="dk1"/>
              </a:solidFill>
              <a:latin typeface="Times New Roman"/>
              <a:ea typeface="Times New Roman"/>
              <a:cs typeface="Times New Roman"/>
              <a:sym typeface="Times New Roman"/>
            </a:endParaRPr>
          </a:p>
          <a:p>
            <a:pPr indent="-311150" lvl="0" marL="457200" marR="0" rtl="0" algn="just">
              <a:lnSpc>
                <a:spcPct val="115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No expensive equipment needed.</a:t>
            </a:r>
            <a:endParaRPr b="0" i="0" sz="1300" u="none" cap="none" strike="noStrike">
              <a:solidFill>
                <a:schemeClr val="dk1"/>
              </a:solidFill>
              <a:latin typeface="Times New Roman"/>
              <a:ea typeface="Times New Roman"/>
              <a:cs typeface="Times New Roman"/>
              <a:sym typeface="Times New Roman"/>
            </a:endParaRPr>
          </a:p>
          <a:p>
            <a:pPr indent="-311150" lvl="0" marL="457200" marR="0" rtl="0" algn="just">
              <a:lnSpc>
                <a:spcPct val="115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Provides quick and scalable heart disease predictions.</a:t>
            </a:r>
            <a:endParaRPr b="0" i="0" sz="1300" u="none" cap="none" strike="noStrike">
              <a:solidFill>
                <a:schemeClr val="dk1"/>
              </a:solidFill>
              <a:latin typeface="Times New Roman"/>
              <a:ea typeface="Times New Roman"/>
              <a:cs typeface="Times New Roman"/>
              <a:sym typeface="Times New Roman"/>
            </a:endParaRPr>
          </a:p>
          <a:p>
            <a:pPr indent="-311150" lvl="0" marL="457200" marR="0" rtl="0" algn="just">
              <a:lnSpc>
                <a:spcPct val="115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Builds the foundation for accessible preventive care.</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g37c4491bc67_5_36"/>
          <p:cNvSpPr txBox="1"/>
          <p:nvPr>
            <p:ph type="title"/>
          </p:nvPr>
        </p:nvSpPr>
        <p:spPr>
          <a:xfrm>
            <a:off x="840600" y="76200"/>
            <a:ext cx="7704600" cy="1581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CLASS 2: Beyond the Basics: How ML is Revolutionizing Heart Disease Detection</a:t>
            </a:r>
            <a:endParaRPr b="1" sz="2500">
              <a:latin typeface="Times New Roman"/>
              <a:ea typeface="Times New Roman"/>
              <a:cs typeface="Times New Roman"/>
              <a:sym typeface="Times New Roman"/>
            </a:endParaRPr>
          </a:p>
        </p:txBody>
      </p:sp>
      <p:sp>
        <p:nvSpPr>
          <p:cNvPr id="433" name="Google Shape;433;g37c4491bc67_5_36"/>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434" name="Google Shape;434;g37c4491bc67_5_36"/>
          <p:cNvPicPr preferRelativeResize="0"/>
          <p:nvPr/>
        </p:nvPicPr>
        <p:blipFill rotWithShape="1">
          <a:blip r:embed="rId3">
            <a:alphaModFix/>
          </a:blip>
          <a:srcRect b="0" l="0" r="0" t="0"/>
          <a:stretch/>
        </p:blipFill>
        <p:spPr>
          <a:xfrm>
            <a:off x="7872946" y="313389"/>
            <a:ext cx="851975" cy="622300"/>
          </a:xfrm>
          <a:prstGeom prst="rect">
            <a:avLst/>
          </a:prstGeom>
          <a:noFill/>
          <a:ln>
            <a:noFill/>
          </a:ln>
        </p:spPr>
      </p:pic>
      <p:pic>
        <p:nvPicPr>
          <p:cNvPr id="435" name="Google Shape;435;g37c4491bc67_5_36" title="Screenshot 2025-09-06 at 19.16.28.png"/>
          <p:cNvPicPr preferRelativeResize="0"/>
          <p:nvPr/>
        </p:nvPicPr>
        <p:blipFill rotWithShape="1">
          <a:blip r:embed="rId4">
            <a:alphaModFix/>
          </a:blip>
          <a:srcRect b="0" l="0" r="0" t="0"/>
          <a:stretch/>
        </p:blipFill>
        <p:spPr>
          <a:xfrm>
            <a:off x="1110475" y="1874925"/>
            <a:ext cx="7434724" cy="3829619"/>
          </a:xfrm>
          <a:prstGeom prst="rect">
            <a:avLst/>
          </a:prstGeom>
          <a:noFill/>
          <a:ln>
            <a:noFill/>
          </a:ln>
        </p:spPr>
      </p:pic>
      <p:sp>
        <p:nvSpPr>
          <p:cNvPr id="436" name="Google Shape;436;g37c4491bc67_5_36"/>
          <p:cNvSpPr txBox="1"/>
          <p:nvPr/>
        </p:nvSpPr>
        <p:spPr>
          <a:xfrm>
            <a:off x="2046300" y="5792063"/>
            <a:ext cx="6498900" cy="228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Times New Roman"/>
                <a:ea typeface="Times New Roman"/>
                <a:cs typeface="Times New Roman"/>
                <a:sym typeface="Times New Roman"/>
              </a:rPr>
              <a:t>Fig. 2.3. General workflow of ML-based cardiovascular disease prediction [5]</a:t>
            </a:r>
            <a:endParaRPr b="0"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7d255ce0cd_1_6"/>
          <p:cNvSpPr txBox="1"/>
          <p:nvPr>
            <p:ph idx="1" type="body"/>
          </p:nvPr>
        </p:nvSpPr>
        <p:spPr>
          <a:xfrm>
            <a:off x="969686" y="1052318"/>
            <a:ext cx="7890600" cy="4743000"/>
          </a:xfrm>
          <a:prstGeom prst="rect">
            <a:avLst/>
          </a:prstGeom>
          <a:noFill/>
          <a:ln>
            <a:noFill/>
          </a:ln>
        </p:spPr>
        <p:txBody>
          <a:bodyPr anchorCtr="0" anchor="ctr" bIns="45700" lIns="91425" spcFirstLastPara="1" rIns="91425" wrap="square" tIns="45700">
            <a:normAutofit/>
          </a:bodyPr>
          <a:lstStyle/>
          <a:p>
            <a:pPr indent="-317500" lvl="0" marL="457200" rtl="0" algn="just">
              <a:lnSpc>
                <a:spcPct val="150000"/>
              </a:lnSpc>
              <a:spcBef>
                <a:spcPts val="1200"/>
              </a:spcBef>
              <a:spcAft>
                <a:spcPts val="0"/>
              </a:spcAft>
              <a:buSzPts val="1400"/>
              <a:buFont typeface="Times New Roman"/>
              <a:buChar char="•"/>
            </a:pPr>
            <a:r>
              <a:rPr lang="en-US" sz="1400">
                <a:latin typeface="Times New Roman"/>
                <a:ea typeface="Times New Roman"/>
                <a:cs typeface="Times New Roman"/>
                <a:sym typeface="Times New Roman"/>
              </a:rPr>
              <a:t>Collect basic patient data (age, blood pressure, cholesterol, lifestyle).</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Preprocess the data → clean, transform, normalize.</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Split into training &amp; testing sets.</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Char char="•"/>
            </a:pPr>
            <a:r>
              <a:rPr lang="en-US" sz="1400">
                <a:latin typeface="Times New Roman"/>
                <a:ea typeface="Times New Roman"/>
                <a:cs typeface="Times New Roman"/>
                <a:sym typeface="Times New Roman"/>
              </a:rPr>
              <a:t>Apply </a:t>
            </a:r>
            <a:r>
              <a:rPr b="1" lang="en-US" sz="1400">
                <a:latin typeface="Times New Roman"/>
                <a:ea typeface="Times New Roman"/>
                <a:cs typeface="Times New Roman"/>
                <a:sym typeface="Times New Roman"/>
              </a:rPr>
              <a:t>ML algorithms</a:t>
            </a:r>
            <a:r>
              <a:rPr lang="en-US" sz="1400">
                <a:latin typeface="Times New Roman"/>
                <a:ea typeface="Times New Roman"/>
                <a:cs typeface="Times New Roman"/>
                <a:sym typeface="Times New Roman"/>
              </a:rPr>
              <a:t> (Logistic Regression, Decision Trees, Neural Networks).</a:t>
            </a:r>
            <a:endParaRPr sz="1400">
              <a:latin typeface="Times New Roman"/>
              <a:ea typeface="Times New Roman"/>
              <a:cs typeface="Times New Roman"/>
              <a:sym typeface="Times New Roman"/>
            </a:endParaRPr>
          </a:p>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Evaluate results → fast, low-cost, and reliable predictions.</a:t>
            </a:r>
            <a:endParaRPr sz="14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1400">
                <a:latin typeface="Times New Roman"/>
                <a:ea typeface="Times New Roman"/>
                <a:cs typeface="Times New Roman"/>
                <a:sym typeface="Times New Roman"/>
              </a:rPr>
              <a:t>But, first let's answer the question </a:t>
            </a:r>
            <a:r>
              <a:rPr b="1" lang="en-US" sz="1400">
                <a:latin typeface="Times New Roman"/>
                <a:ea typeface="Times New Roman"/>
                <a:cs typeface="Times New Roman"/>
                <a:sym typeface="Times New Roman"/>
              </a:rPr>
              <a:t>“What is Machine Learning?”</a:t>
            </a:r>
            <a:endParaRPr b="1" sz="1400">
              <a:latin typeface="Times New Roman"/>
              <a:ea typeface="Times New Roman"/>
              <a:cs typeface="Times New Roman"/>
              <a:sym typeface="Times New Roman"/>
            </a:endParaRPr>
          </a:p>
          <a:p>
            <a:pPr indent="0" lvl="0" marL="0" rtl="0" algn="l">
              <a:lnSpc>
                <a:spcPct val="100000"/>
              </a:lnSpc>
              <a:spcBef>
                <a:spcPts val="1200"/>
              </a:spcBef>
              <a:spcAft>
                <a:spcPts val="600"/>
              </a:spcAft>
              <a:buSzPts val="2610"/>
              <a:buNone/>
            </a:pPr>
            <a:r>
              <a:t/>
            </a:r>
            <a:endParaRPr sz="1400">
              <a:latin typeface="Times New Roman"/>
              <a:ea typeface="Times New Roman"/>
              <a:cs typeface="Times New Roman"/>
              <a:sym typeface="Times New Roman"/>
            </a:endParaRPr>
          </a:p>
        </p:txBody>
      </p:sp>
      <p:sp>
        <p:nvSpPr>
          <p:cNvPr id="443" name="Google Shape;443;g37d255ce0cd_1_6"/>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pic>
        <p:nvPicPr>
          <p:cNvPr id="444" name="Google Shape;444;g37d255ce0cd_1_6"/>
          <p:cNvPicPr preferRelativeResize="0"/>
          <p:nvPr/>
        </p:nvPicPr>
        <p:blipFill rotWithShape="1">
          <a:blip r:embed="rId3">
            <a:alphaModFix/>
          </a:blip>
          <a:srcRect b="0" l="0" r="0" t="0"/>
          <a:stretch/>
        </p:blipFill>
        <p:spPr>
          <a:xfrm>
            <a:off x="7872946" y="313389"/>
            <a:ext cx="851975" cy="622300"/>
          </a:xfrm>
          <a:prstGeom prst="rect">
            <a:avLst/>
          </a:prstGeom>
          <a:noFill/>
          <a:ln>
            <a:noFill/>
          </a:ln>
        </p:spPr>
      </p:pic>
      <p:sp>
        <p:nvSpPr>
          <p:cNvPr id="445" name="Google Shape;445;g37d255ce0cd_1_6"/>
          <p:cNvSpPr txBox="1"/>
          <p:nvPr>
            <p:ph type="title"/>
          </p:nvPr>
        </p:nvSpPr>
        <p:spPr>
          <a:xfrm>
            <a:off x="840600" y="76200"/>
            <a:ext cx="7704600" cy="1581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CLASS 2: Beyond the Basics: How ML is Revolutionizing Heart Disease Detection</a:t>
            </a:r>
            <a:endParaRPr b="1" sz="25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10"/>
          <p:cNvSpPr txBox="1"/>
          <p:nvPr>
            <p:ph type="title"/>
          </p:nvPr>
        </p:nvSpPr>
        <p:spPr>
          <a:xfrm>
            <a:off x="982133" y="87101"/>
            <a:ext cx="7704600"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  CLASS 3: MACHINE LEARNING</a:t>
            </a:r>
            <a:endParaRPr b="1" sz="2500">
              <a:latin typeface="Times New Roman"/>
              <a:ea typeface="Times New Roman"/>
              <a:cs typeface="Times New Roman"/>
              <a:sym typeface="Times New Roman"/>
            </a:endParaRPr>
          </a:p>
          <a:p>
            <a:pPr indent="0" lvl="0" marL="457200" rtl="0" algn="l">
              <a:lnSpc>
                <a:spcPct val="115000"/>
              </a:lnSpc>
              <a:spcBef>
                <a:spcPts val="1800"/>
              </a:spcBef>
              <a:spcAft>
                <a:spcPts val="400"/>
              </a:spcAft>
              <a:buClr>
                <a:schemeClr val="dk1"/>
              </a:buClr>
              <a:buSzPts val="1100"/>
              <a:buFont typeface="Arial"/>
              <a:buNone/>
            </a:pPr>
            <a:r>
              <a:rPr b="1" lang="en-US" sz="1700">
                <a:latin typeface="Times New Roman"/>
                <a:ea typeface="Times New Roman"/>
                <a:cs typeface="Times New Roman"/>
                <a:sym typeface="Times New Roman"/>
              </a:rPr>
              <a:t>ML Advantages Over Conventional </a:t>
            </a:r>
            <a:endParaRPr b="1" sz="2500">
              <a:latin typeface="Times New Roman"/>
              <a:ea typeface="Times New Roman"/>
              <a:cs typeface="Times New Roman"/>
              <a:sym typeface="Times New Roman"/>
            </a:endParaRPr>
          </a:p>
        </p:txBody>
      </p:sp>
      <p:sp>
        <p:nvSpPr>
          <p:cNvPr id="455" name="Google Shape;455;p10"/>
          <p:cNvSpPr txBox="1"/>
          <p:nvPr>
            <p:ph idx="1" type="body"/>
          </p:nvPr>
        </p:nvSpPr>
        <p:spPr>
          <a:xfrm>
            <a:off x="656425" y="2347525"/>
            <a:ext cx="4336500" cy="36798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15000"/>
              </a:lnSpc>
              <a:spcBef>
                <a:spcPts val="1800"/>
              </a:spcBef>
              <a:spcAft>
                <a:spcPts val="0"/>
              </a:spcAft>
              <a:buSzPct val="186428"/>
              <a:buNone/>
            </a:pPr>
            <a:r>
              <a:rPr lang="en-US" sz="5600">
                <a:latin typeface="Times New Roman"/>
                <a:ea typeface="Times New Roman"/>
                <a:cs typeface="Times New Roman"/>
                <a:sym typeface="Times New Roman"/>
              </a:rPr>
              <a:t> Critical Need for ML in Heart Disease : </a:t>
            </a:r>
            <a:endParaRPr sz="5600">
              <a:latin typeface="Times New Roman"/>
              <a:ea typeface="Times New Roman"/>
              <a:cs typeface="Times New Roman"/>
              <a:sym typeface="Times New Roman"/>
            </a:endParaRPr>
          </a:p>
          <a:p>
            <a:pPr indent="-317500" lvl="0" marL="457200" rtl="0" algn="just">
              <a:lnSpc>
                <a:spcPct val="115000"/>
              </a:lnSpc>
              <a:spcBef>
                <a:spcPts val="40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Global Health Crisis: CVD causes 17.9 million deaths annually (32% of global deaths)</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Limitations of Traditional Methods:</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ECG, angiography require expert interpretation and considerable time</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Diagnostic variability between clinicians</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High costs and limited accessibility in underdeveloped areas</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Data Explosion: Healthcare generates 2 zettabytes of data annually, exceeding human analytical capacity</a:t>
            </a:r>
            <a:endParaRPr sz="56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ct val="100000"/>
              <a:buFont typeface="Times New Roman"/>
              <a:buChar char="●"/>
            </a:pPr>
            <a:r>
              <a:rPr lang="en-US" sz="5600">
                <a:latin typeface="Times New Roman"/>
                <a:ea typeface="Times New Roman"/>
                <a:cs typeface="Times New Roman"/>
                <a:sym typeface="Times New Roman"/>
              </a:rPr>
              <a:t>Urgent Need: Early detection critical for prevention, but current methods fail to leverage all available medical data</a:t>
            </a:r>
            <a:endParaRPr sz="5600">
              <a:latin typeface="Times New Roman"/>
              <a:ea typeface="Times New Roman"/>
              <a:cs typeface="Times New Roman"/>
              <a:sym typeface="Times New Roman"/>
            </a:endParaRPr>
          </a:p>
          <a:p>
            <a:pPr indent="0" lvl="0" marL="45720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0" rtl="0" algn="l">
              <a:lnSpc>
                <a:spcPct val="115000"/>
              </a:lnSpc>
              <a:spcBef>
                <a:spcPts val="0"/>
              </a:spcBef>
              <a:spcAft>
                <a:spcPts val="0"/>
              </a:spcAft>
              <a:buSzPct val="225680"/>
              <a:buNone/>
            </a:pPr>
            <a:r>
              <a:t/>
            </a:r>
            <a:endParaRPr sz="4626"/>
          </a:p>
          <a:p>
            <a:pPr indent="0" lvl="0" marL="457200" rtl="0" algn="l">
              <a:lnSpc>
                <a:spcPct val="115000"/>
              </a:lnSpc>
              <a:spcBef>
                <a:spcPts val="0"/>
              </a:spcBef>
              <a:spcAft>
                <a:spcPts val="0"/>
              </a:spcAft>
              <a:buSzPct val="225680"/>
              <a:buNone/>
            </a:pPr>
            <a:r>
              <a:t/>
            </a:r>
            <a:endParaRPr sz="4626"/>
          </a:p>
          <a:p>
            <a:pPr indent="0" lvl="0" marL="457200" rtl="0" algn="l">
              <a:lnSpc>
                <a:spcPct val="115000"/>
              </a:lnSpc>
              <a:spcBef>
                <a:spcPts val="0"/>
              </a:spcBef>
              <a:spcAft>
                <a:spcPts val="0"/>
              </a:spcAft>
              <a:buSzPct val="225680"/>
              <a:buNone/>
            </a:pPr>
            <a:r>
              <a:t/>
            </a:r>
            <a:endParaRPr sz="4626"/>
          </a:p>
          <a:p>
            <a:pPr indent="0" lvl="0" marL="0" rtl="0" algn="l">
              <a:lnSpc>
                <a:spcPct val="115000"/>
              </a:lnSpc>
              <a:spcBef>
                <a:spcPts val="1800"/>
              </a:spcBef>
              <a:spcAft>
                <a:spcPts val="0"/>
              </a:spcAft>
              <a:buSzPts val="2610"/>
              <a:buNone/>
            </a:pPr>
            <a:r>
              <a:t/>
            </a:r>
            <a:endParaRPr sz="1700">
              <a:latin typeface="Roboto"/>
              <a:ea typeface="Roboto"/>
              <a:cs typeface="Roboto"/>
              <a:sym typeface="Roboto"/>
            </a:endParaRPr>
          </a:p>
          <a:p>
            <a:pPr indent="0" lvl="0" marL="0" rtl="0" algn="l">
              <a:lnSpc>
                <a:spcPct val="115000"/>
              </a:lnSpc>
              <a:spcBef>
                <a:spcPts val="1800"/>
              </a:spcBef>
              <a:spcAft>
                <a:spcPts val="400"/>
              </a:spcAft>
              <a:buClr>
                <a:schemeClr val="dk1"/>
              </a:buClr>
              <a:buSzPct val="64705"/>
              <a:buFont typeface="Arial"/>
              <a:buNone/>
            </a:pPr>
            <a:r>
              <a:t/>
            </a:r>
            <a:endParaRPr sz="1700">
              <a:latin typeface="Roboto"/>
              <a:ea typeface="Roboto"/>
              <a:cs typeface="Roboto"/>
              <a:sym typeface="Roboto"/>
            </a:endParaRPr>
          </a:p>
        </p:txBody>
      </p:sp>
      <p:sp>
        <p:nvSpPr>
          <p:cNvPr id="456" name="Google Shape;456;p10"/>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457" name="Google Shape;457;p10"/>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pic>
        <p:nvPicPr>
          <p:cNvPr id="458" name="Google Shape;458;p10"/>
          <p:cNvPicPr preferRelativeResize="0"/>
          <p:nvPr/>
        </p:nvPicPr>
        <p:blipFill rotWithShape="1">
          <a:blip r:embed="rId4">
            <a:alphaModFix/>
          </a:blip>
          <a:srcRect b="0" l="0" r="0" t="0"/>
          <a:stretch/>
        </p:blipFill>
        <p:spPr>
          <a:xfrm>
            <a:off x="5081296" y="2464761"/>
            <a:ext cx="3966724" cy="2857500"/>
          </a:xfrm>
          <a:prstGeom prst="rect">
            <a:avLst/>
          </a:prstGeom>
          <a:noFill/>
          <a:ln>
            <a:noFill/>
          </a:ln>
        </p:spPr>
      </p:pic>
      <p:sp>
        <p:nvSpPr>
          <p:cNvPr id="459" name="Google Shape;459;p10"/>
          <p:cNvSpPr txBox="1"/>
          <p:nvPr/>
        </p:nvSpPr>
        <p:spPr>
          <a:xfrm>
            <a:off x="5435722" y="5447063"/>
            <a:ext cx="3120600" cy="54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US" sz="1000" u="none" cap="none" strike="noStrike">
                <a:solidFill>
                  <a:schemeClr val="dk1"/>
                </a:solidFill>
                <a:latin typeface="Times New Roman"/>
                <a:ea typeface="Times New Roman"/>
                <a:cs typeface="Times New Roman"/>
                <a:sym typeface="Times New Roman"/>
              </a:rPr>
              <a:t>Table  3.1 Based on Comparison for Conventional and Modern Methods  [6]</a:t>
            </a:r>
            <a:endParaRPr b="0" i="0" sz="1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7c4491bc67_1_2"/>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sp>
        <p:nvSpPr>
          <p:cNvPr id="466" name="Google Shape;466;g37c4491bc67_1_2"/>
          <p:cNvSpPr txBox="1"/>
          <p:nvPr/>
        </p:nvSpPr>
        <p:spPr>
          <a:xfrm>
            <a:off x="560575" y="1904850"/>
            <a:ext cx="4534800" cy="33069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1800"/>
              </a:spcBef>
              <a:spcAft>
                <a:spcPts val="0"/>
              </a:spcAft>
              <a:buClr>
                <a:srgbClr val="000000"/>
              </a:buClr>
              <a:buSzPts val="1700"/>
              <a:buFont typeface="Arial"/>
              <a:buNone/>
            </a:pPr>
            <a:r>
              <a:rPr b="1" i="0" lang="en-US" sz="1700" u="none" cap="none" strike="noStrike">
                <a:solidFill>
                  <a:schemeClr val="dk1"/>
                </a:solidFill>
                <a:latin typeface="Times New Roman"/>
                <a:ea typeface="Times New Roman"/>
                <a:cs typeface="Times New Roman"/>
                <a:sym typeface="Times New Roman"/>
              </a:rPr>
              <a:t>Methods :</a:t>
            </a:r>
            <a:endParaRPr b="1" i="0" sz="10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40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Pattern Recognition: Detects complex patterns in multimodal data (ECG, imaging, EHR) beyond human capability</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Reduces dependency on specialized expertise</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Enables real-time monitoring through IoT/wearables</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Cost-effective for mass screening</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Data Integration: Combines clinical data, imaging, biometric signals, and wearable device data simultaneously</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Consistency: Eliminates human diagnostic variability and provides standardized assessments</a:t>
            </a:r>
            <a:endParaRPr b="0" i="0" sz="1400" u="none" cap="none" strike="noStrike">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15000"/>
              </a:lnSpc>
              <a:spcBef>
                <a:spcPts val="1800"/>
              </a:spcBef>
              <a:spcAft>
                <a:spcPts val="0"/>
              </a:spcAft>
              <a:buClr>
                <a:srgbClr val="000000"/>
              </a:buClr>
              <a:buSzPts val="1900"/>
              <a:buFont typeface="Arial"/>
              <a:buNone/>
            </a:pPr>
            <a:r>
              <a:t/>
            </a:r>
            <a:endParaRPr b="0" i="0" sz="1900" u="none" cap="none" strike="noStrike">
              <a:solidFill>
                <a:schemeClr val="dk1"/>
              </a:solidFill>
              <a:latin typeface="Corbel"/>
              <a:ea typeface="Corbel"/>
              <a:cs typeface="Corbel"/>
              <a:sym typeface="Corbel"/>
            </a:endParaRPr>
          </a:p>
          <a:p>
            <a:pPr indent="0" lvl="0" marL="0" marR="0" rtl="0" algn="l">
              <a:lnSpc>
                <a:spcPct val="115000"/>
              </a:lnSpc>
              <a:spcBef>
                <a:spcPts val="1800"/>
              </a:spcBef>
              <a:spcAft>
                <a:spcPts val="0"/>
              </a:spcAft>
              <a:buClr>
                <a:srgbClr val="000000"/>
              </a:buClr>
              <a:buSzPts val="1700"/>
              <a:buFont typeface="Arial"/>
              <a:buNone/>
            </a:pPr>
            <a:r>
              <a:t/>
            </a:r>
            <a:endParaRPr b="1" i="0" sz="1700" u="none" cap="none" strike="noStrike">
              <a:solidFill>
                <a:schemeClr val="dk1"/>
              </a:solidFill>
              <a:latin typeface="Roboto"/>
              <a:ea typeface="Roboto"/>
              <a:cs typeface="Roboto"/>
              <a:sym typeface="Roboto"/>
            </a:endParaRPr>
          </a:p>
          <a:p>
            <a:pPr indent="0" lvl="0" marL="0" marR="0" rtl="0" algn="l">
              <a:lnSpc>
                <a:spcPct val="115000"/>
              </a:lnSpc>
              <a:spcBef>
                <a:spcPts val="1800"/>
              </a:spcBef>
              <a:spcAft>
                <a:spcPts val="400"/>
              </a:spcAft>
              <a:buClr>
                <a:srgbClr val="000000"/>
              </a:buClr>
              <a:buSzPts val="1700"/>
              <a:buFont typeface="Arial"/>
              <a:buNone/>
            </a:pPr>
            <a:r>
              <a:t/>
            </a:r>
            <a:endParaRPr b="1" i="0" sz="1700" u="none" cap="none" strike="noStrike">
              <a:solidFill>
                <a:schemeClr val="dk1"/>
              </a:solidFill>
              <a:latin typeface="Roboto"/>
              <a:ea typeface="Roboto"/>
              <a:cs typeface="Roboto"/>
              <a:sym typeface="Roboto"/>
            </a:endParaRPr>
          </a:p>
        </p:txBody>
      </p:sp>
      <p:sp>
        <p:nvSpPr>
          <p:cNvPr id="467" name="Google Shape;467;g37c4491bc67_1_2"/>
          <p:cNvSpPr txBox="1"/>
          <p:nvPr/>
        </p:nvSpPr>
        <p:spPr>
          <a:xfrm>
            <a:off x="5593800" y="1869325"/>
            <a:ext cx="3221400" cy="383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rbel"/>
              <a:ea typeface="Corbel"/>
              <a:cs typeface="Corbel"/>
              <a:sym typeface="Corbel"/>
            </a:endParaRPr>
          </a:p>
        </p:txBody>
      </p:sp>
      <p:pic>
        <p:nvPicPr>
          <p:cNvPr id="468" name="Google Shape;468;g37c4491bc67_1_2"/>
          <p:cNvPicPr preferRelativeResize="0"/>
          <p:nvPr/>
        </p:nvPicPr>
        <p:blipFill rotWithShape="1">
          <a:blip r:embed="rId3">
            <a:alphaModFix/>
          </a:blip>
          <a:srcRect b="0" l="0" r="0" t="0"/>
          <a:stretch/>
        </p:blipFill>
        <p:spPr>
          <a:xfrm>
            <a:off x="5095375" y="2171575"/>
            <a:ext cx="3970625" cy="2564675"/>
          </a:xfrm>
          <a:prstGeom prst="rect">
            <a:avLst/>
          </a:prstGeom>
          <a:noFill/>
          <a:ln>
            <a:noFill/>
          </a:ln>
        </p:spPr>
      </p:pic>
      <p:sp>
        <p:nvSpPr>
          <p:cNvPr id="469" name="Google Shape;469;g37c4491bc67_1_2"/>
          <p:cNvSpPr txBox="1"/>
          <p:nvPr/>
        </p:nvSpPr>
        <p:spPr>
          <a:xfrm>
            <a:off x="5202498" y="4736250"/>
            <a:ext cx="4173900" cy="475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Corbel"/>
                <a:ea typeface="Corbel"/>
                <a:cs typeface="Corbel"/>
                <a:sym typeface="Corbel"/>
              </a:rPr>
              <a:t>Table 3.2 : Prediction of Machine Learning Accuracy [7]</a:t>
            </a:r>
            <a:endParaRPr b="0" i="0" sz="1000" u="none" cap="none" strike="noStrike">
              <a:solidFill>
                <a:schemeClr val="dk1"/>
              </a:solidFill>
              <a:latin typeface="Corbel"/>
              <a:ea typeface="Corbel"/>
              <a:cs typeface="Corbel"/>
              <a:sym typeface="Corbel"/>
            </a:endParaRPr>
          </a:p>
        </p:txBody>
      </p:sp>
      <p:pic>
        <p:nvPicPr>
          <p:cNvPr id="470" name="Google Shape;470;g37c4491bc67_1_2"/>
          <p:cNvPicPr preferRelativeResize="0"/>
          <p:nvPr/>
        </p:nvPicPr>
        <p:blipFill rotWithShape="1">
          <a:blip r:embed="rId4">
            <a:alphaModFix/>
          </a:blip>
          <a:srcRect b="0" l="0" r="0" t="0"/>
          <a:stretch/>
        </p:blipFill>
        <p:spPr>
          <a:xfrm>
            <a:off x="7872946" y="313389"/>
            <a:ext cx="851975" cy="622300"/>
          </a:xfrm>
          <a:prstGeom prst="rect">
            <a:avLst/>
          </a:prstGeom>
          <a:noFill/>
          <a:ln>
            <a:noFill/>
          </a:ln>
        </p:spPr>
      </p:pic>
      <p:sp>
        <p:nvSpPr>
          <p:cNvPr id="471" name="Google Shape;471;g37c4491bc67_1_2"/>
          <p:cNvSpPr txBox="1"/>
          <p:nvPr>
            <p:ph type="title"/>
          </p:nvPr>
        </p:nvSpPr>
        <p:spPr>
          <a:xfrm>
            <a:off x="982133" y="87101"/>
            <a:ext cx="7704600"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  CLASS 3: ML Advantages Over Conventional </a:t>
            </a:r>
            <a:endParaRPr b="1" sz="25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7c4491bc67_1_12"/>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sp>
        <p:nvSpPr>
          <p:cNvPr id="478" name="Google Shape;478;g37c4491bc67_1_12"/>
          <p:cNvSpPr txBox="1"/>
          <p:nvPr/>
        </p:nvSpPr>
        <p:spPr>
          <a:xfrm>
            <a:off x="782647" y="1678221"/>
            <a:ext cx="6137100" cy="50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800"/>
              </a:spcBef>
              <a:spcAft>
                <a:spcPts val="0"/>
              </a:spcAft>
              <a:buClr>
                <a:schemeClr val="dk1"/>
              </a:buClr>
              <a:buSzPts val="1100"/>
              <a:buFont typeface="Arial"/>
              <a:buNone/>
            </a:pPr>
            <a:r>
              <a:rPr b="1" i="0" lang="en-US" sz="1700" u="none" cap="none" strike="noStrike">
                <a:solidFill>
                  <a:schemeClr val="dk1"/>
                </a:solidFill>
                <a:latin typeface="Times New Roman"/>
                <a:ea typeface="Times New Roman"/>
                <a:cs typeface="Times New Roman"/>
                <a:sym typeface="Times New Roman"/>
              </a:rPr>
              <a:t> Proven Superior Performance : </a:t>
            </a:r>
            <a:endParaRPr b="1" i="0" sz="17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rgbClr val="000000"/>
              </a:buClr>
              <a:buSzPts val="2400"/>
              <a:buFont typeface="Arial"/>
              <a:buNone/>
            </a:pPr>
            <a:r>
              <a:t/>
            </a:r>
            <a:endParaRPr b="0" i="0" sz="2400" u="none" cap="none" strike="noStrike">
              <a:solidFill>
                <a:schemeClr val="dk1"/>
              </a:solidFill>
              <a:latin typeface="Corbel"/>
              <a:ea typeface="Corbel"/>
              <a:cs typeface="Corbel"/>
              <a:sym typeface="Corbel"/>
            </a:endParaRPr>
          </a:p>
        </p:txBody>
      </p:sp>
      <p:sp>
        <p:nvSpPr>
          <p:cNvPr id="479" name="Google Shape;479;g37c4491bc67_1_12"/>
          <p:cNvSpPr txBox="1"/>
          <p:nvPr/>
        </p:nvSpPr>
        <p:spPr>
          <a:xfrm>
            <a:off x="648425" y="2111573"/>
            <a:ext cx="4641900" cy="3996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Random Forest: 90-91% accuracy consistently</a:t>
            </a:r>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XGBoost: 97.57% accuracy with 98% AUC</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Learning Vector Quantization: 98.7% accuracy</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Deep Learning: Up to 99.65% accuracy</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Comparative Performance: ML models consistently exceed 95% accuracy, outperforming traditional diagnostic methods</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Clinical Impact:</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Early detection before symptom manifestation</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Reduced diagnostic time and costs</a:t>
            </a:r>
            <a:endParaRPr b="0" i="0" sz="1400" u="none" cap="none" strike="noStrike">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chemeClr val="dk1"/>
              </a:buClr>
              <a:buSzPts val="1400"/>
              <a:buFont typeface="Roboto"/>
              <a:buChar char="●"/>
            </a:pPr>
            <a:r>
              <a:rPr b="0" i="0" lang="en-US" sz="1400" u="none" cap="none" strike="noStrike">
                <a:solidFill>
                  <a:schemeClr val="dk1"/>
                </a:solidFill>
                <a:latin typeface="Times New Roman"/>
                <a:ea typeface="Times New Roman"/>
                <a:cs typeface="Times New Roman"/>
                <a:sym typeface="Times New Roman"/>
              </a:rPr>
              <a:t>Real-time monitoring achieves 98.86% accuracy.</a:t>
            </a:r>
            <a:endParaRPr b="0" i="0" sz="1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orbel"/>
              <a:ea typeface="Corbel"/>
              <a:cs typeface="Corbel"/>
              <a:sym typeface="Corbel"/>
            </a:endParaRPr>
          </a:p>
        </p:txBody>
      </p:sp>
      <p:sp>
        <p:nvSpPr>
          <p:cNvPr id="480" name="Google Shape;480;g37c4491bc67_1_12"/>
          <p:cNvSpPr txBox="1"/>
          <p:nvPr/>
        </p:nvSpPr>
        <p:spPr>
          <a:xfrm>
            <a:off x="6089575" y="2116675"/>
            <a:ext cx="30717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orbel"/>
              <a:ea typeface="Corbel"/>
              <a:cs typeface="Corbel"/>
              <a:sym typeface="Corbel"/>
            </a:endParaRPr>
          </a:p>
        </p:txBody>
      </p:sp>
      <p:pic>
        <p:nvPicPr>
          <p:cNvPr id="481" name="Google Shape;481;g37c4491bc67_1_12"/>
          <p:cNvPicPr preferRelativeResize="0"/>
          <p:nvPr/>
        </p:nvPicPr>
        <p:blipFill rotWithShape="1">
          <a:blip r:embed="rId3">
            <a:alphaModFix/>
          </a:blip>
          <a:srcRect b="0" l="0" r="0" t="0"/>
          <a:stretch/>
        </p:blipFill>
        <p:spPr>
          <a:xfrm>
            <a:off x="5238352" y="1905026"/>
            <a:ext cx="3788701" cy="3125760"/>
          </a:xfrm>
          <a:prstGeom prst="rect">
            <a:avLst/>
          </a:prstGeom>
          <a:noFill/>
          <a:ln>
            <a:noFill/>
          </a:ln>
        </p:spPr>
      </p:pic>
      <p:sp>
        <p:nvSpPr>
          <p:cNvPr id="482" name="Google Shape;482;g37c4491bc67_1_12"/>
          <p:cNvSpPr txBox="1"/>
          <p:nvPr/>
        </p:nvSpPr>
        <p:spPr>
          <a:xfrm>
            <a:off x="5356077" y="5083576"/>
            <a:ext cx="3447300" cy="50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Times New Roman"/>
                <a:ea typeface="Times New Roman"/>
                <a:cs typeface="Times New Roman"/>
                <a:sym typeface="Times New Roman"/>
              </a:rPr>
              <a:t>Table 3.2 : Expenditure Saving on using Machine Learning rather than Old Methods [8]</a:t>
            </a:r>
            <a:endParaRPr b="0" i="0" sz="1000" u="none" cap="none" strike="noStrike">
              <a:solidFill>
                <a:schemeClr val="dk1"/>
              </a:solidFill>
              <a:latin typeface="Times New Roman"/>
              <a:ea typeface="Times New Roman"/>
              <a:cs typeface="Times New Roman"/>
              <a:sym typeface="Times New Roman"/>
            </a:endParaRPr>
          </a:p>
        </p:txBody>
      </p:sp>
      <p:pic>
        <p:nvPicPr>
          <p:cNvPr id="483" name="Google Shape;483;g37c4491bc67_1_12"/>
          <p:cNvPicPr preferRelativeResize="0"/>
          <p:nvPr/>
        </p:nvPicPr>
        <p:blipFill rotWithShape="1">
          <a:blip r:embed="rId4">
            <a:alphaModFix/>
          </a:blip>
          <a:srcRect b="0" l="0" r="0" t="0"/>
          <a:stretch/>
        </p:blipFill>
        <p:spPr>
          <a:xfrm>
            <a:off x="8046888" y="193386"/>
            <a:ext cx="851975" cy="739035"/>
          </a:xfrm>
          <a:prstGeom prst="rect">
            <a:avLst/>
          </a:prstGeom>
          <a:noFill/>
          <a:ln>
            <a:noFill/>
          </a:ln>
        </p:spPr>
      </p:pic>
      <p:sp>
        <p:nvSpPr>
          <p:cNvPr id="484" name="Google Shape;484;g37c4491bc67_1_12"/>
          <p:cNvSpPr txBox="1"/>
          <p:nvPr>
            <p:ph type="title"/>
          </p:nvPr>
        </p:nvSpPr>
        <p:spPr>
          <a:xfrm>
            <a:off x="916869" y="-76174"/>
            <a:ext cx="7704600" cy="1981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500">
                <a:latin typeface="Times New Roman"/>
                <a:ea typeface="Times New Roman"/>
                <a:cs typeface="Times New Roman"/>
                <a:sym typeface="Times New Roman"/>
              </a:rPr>
              <a:t>  CLASS 3: ML Advantages Over Conventional </a:t>
            </a:r>
            <a:endParaRPr b="1" sz="25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7c4491bc67_8_3"/>
          <p:cNvSpPr txBox="1"/>
          <p:nvPr>
            <p:ph type="title"/>
          </p:nvPr>
        </p:nvSpPr>
        <p:spPr>
          <a:xfrm>
            <a:off x="719700" y="485300"/>
            <a:ext cx="7704600" cy="13443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57142"/>
              <a:buFont typeface="Corbel"/>
              <a:buNone/>
            </a:pPr>
            <a:r>
              <a:rPr b="1" lang="en-US" sz="2800"/>
              <a:t>Literature Survey </a:t>
            </a:r>
            <a:br>
              <a:rPr b="1" lang="en-US" sz="2800"/>
            </a:br>
            <a:r>
              <a:rPr b="1" lang="en-US" sz="3222"/>
              <a:t> </a:t>
            </a:r>
            <a:r>
              <a:rPr b="1" lang="en-US" sz="2750">
                <a:latin typeface="Times New Roman"/>
                <a:ea typeface="Times New Roman"/>
                <a:cs typeface="Times New Roman"/>
                <a:sym typeface="Times New Roman"/>
              </a:rPr>
              <a:t> CLASS 4: MACHINE LEARNING TECHNIQUES</a:t>
            </a:r>
            <a:endParaRPr b="1" sz="2750">
              <a:latin typeface="Times New Roman"/>
              <a:ea typeface="Times New Roman"/>
              <a:cs typeface="Times New Roman"/>
              <a:sym typeface="Times New Roman"/>
            </a:endParaRPr>
          </a:p>
        </p:txBody>
      </p:sp>
      <p:sp>
        <p:nvSpPr>
          <p:cNvPr id="494" name="Google Shape;494;g37c4491bc67_8_3"/>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495" name="Google Shape;495;g37c4491bc67_8_3"/>
          <p:cNvPicPr preferRelativeResize="0"/>
          <p:nvPr/>
        </p:nvPicPr>
        <p:blipFill rotWithShape="1">
          <a:blip r:embed="rId3">
            <a:alphaModFix/>
          </a:blip>
          <a:srcRect b="0" l="0" r="0" t="0"/>
          <a:stretch/>
        </p:blipFill>
        <p:spPr>
          <a:xfrm>
            <a:off x="8168650" y="115675"/>
            <a:ext cx="851975" cy="622300"/>
          </a:xfrm>
          <a:prstGeom prst="rect">
            <a:avLst/>
          </a:prstGeom>
          <a:noFill/>
          <a:ln>
            <a:noFill/>
          </a:ln>
        </p:spPr>
      </p:pic>
      <p:sp>
        <p:nvSpPr>
          <p:cNvPr id="496" name="Google Shape;496;g37c4491bc67_8_3"/>
          <p:cNvSpPr txBox="1"/>
          <p:nvPr>
            <p:ph idx="1" type="body"/>
          </p:nvPr>
        </p:nvSpPr>
        <p:spPr>
          <a:xfrm>
            <a:off x="719700" y="2056225"/>
            <a:ext cx="8096400" cy="3889800"/>
          </a:xfrm>
          <a:prstGeom prst="rect">
            <a:avLst/>
          </a:prstGeom>
          <a:noFill/>
          <a:ln>
            <a:noFill/>
          </a:ln>
        </p:spPr>
        <p:txBody>
          <a:bodyPr anchorCtr="0" anchor="t" bIns="45700" lIns="91425" spcFirstLastPara="1" rIns="91425" wrap="square" tIns="45700">
            <a:noAutofit/>
          </a:bodyPr>
          <a:lstStyle/>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Machine Learning (ML) uses algorithms that learn patterns from historical patient data to predict heart disease risk.</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Clinical and demographic data such as age, blood pressure, cholesterol, BMI, smoking habits, and genetic factors are used as input features.</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Preprocessing steps include handling missing values, encoding categorical variables, and feature selection to improve model accuracy.</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Common ML algorithms applied include </a:t>
            </a:r>
            <a:r>
              <a:rPr b="1" lang="en-US" sz="1400">
                <a:latin typeface="Times New Roman"/>
                <a:ea typeface="Times New Roman"/>
                <a:cs typeface="Times New Roman"/>
                <a:sym typeface="Times New Roman"/>
              </a:rPr>
              <a:t>Decision Trees, Random Forest, K-Nearest Neighbors (KNN), Naive Bayes</a:t>
            </a:r>
            <a:r>
              <a:rPr lang="en-US" sz="1400">
                <a:latin typeface="Times New Roman"/>
                <a:ea typeface="Times New Roman"/>
                <a:cs typeface="Times New Roman"/>
                <a:sym typeface="Times New Roman"/>
              </a:rPr>
              <a:t>, and gradient boosting methods like </a:t>
            </a:r>
            <a:r>
              <a:rPr b="1" lang="en-US" sz="1400">
                <a:latin typeface="Times New Roman"/>
                <a:ea typeface="Times New Roman"/>
                <a:cs typeface="Times New Roman"/>
                <a:sym typeface="Times New Roman"/>
              </a:rPr>
              <a:t>XGBoost</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[10]</a:t>
            </a:r>
            <a:endParaRPr b="1"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These algorithms analyze complex nonlinear relationships in the data that traditional statistical methods may miss.</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Model training involves splitting data into training and testing sets, tuning hyperparameters, and evaluating performance using metrics like accuracy, precision, recall, and F1-score.</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The ultimate goal is to develop predictive models that can classify patients based on their likelihood of developing heart disease, enabling early intervention and better management.</a:t>
            </a:r>
            <a:endParaRPr sz="1400">
              <a:latin typeface="Times New Roman"/>
              <a:ea typeface="Times New Roman"/>
              <a:cs typeface="Times New Roman"/>
              <a:sym typeface="Times New Roman"/>
            </a:endParaRPr>
          </a:p>
          <a:p>
            <a:pPr indent="0" lvl="0" marL="0" rtl="0" algn="just">
              <a:lnSpc>
                <a:spcPct val="115000"/>
              </a:lnSpc>
              <a:spcBef>
                <a:spcPts val="1000"/>
              </a:spcBef>
              <a:spcAft>
                <a:spcPts val="1000"/>
              </a:spcAft>
              <a:buSzPts val="928"/>
              <a:buNone/>
            </a:pPr>
            <a:r>
              <a:t/>
            </a:r>
            <a:endParaRPr b="1" sz="14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37c4491bc67_11_0"/>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latin typeface="Times New Roman"/>
                <a:ea typeface="Times New Roman"/>
                <a:cs typeface="Times New Roman"/>
                <a:sym typeface="Times New Roman"/>
              </a:rPr>
              <a:t>Literature Survey </a:t>
            </a:r>
            <a:br>
              <a:rPr b="1" lang="en-US" sz="2800">
                <a:latin typeface="Times New Roman"/>
                <a:ea typeface="Times New Roman"/>
                <a:cs typeface="Times New Roman"/>
                <a:sym typeface="Times New Roman"/>
              </a:rPr>
            </a:br>
            <a:r>
              <a:rPr b="1" lang="en-US" sz="2800">
                <a:latin typeface="Times New Roman"/>
                <a:ea typeface="Times New Roman"/>
                <a:cs typeface="Times New Roman"/>
                <a:sym typeface="Times New Roman"/>
              </a:rPr>
              <a:t> </a:t>
            </a:r>
            <a:endParaRPr b="1" sz="2800">
              <a:latin typeface="Times New Roman"/>
              <a:ea typeface="Times New Roman"/>
              <a:cs typeface="Times New Roman"/>
              <a:sym typeface="Times New Roman"/>
            </a:endParaRPr>
          </a:p>
        </p:txBody>
      </p:sp>
      <p:sp>
        <p:nvSpPr>
          <p:cNvPr id="506" name="Google Shape;506;g37c4491bc67_11_0"/>
          <p:cNvSpPr txBox="1"/>
          <p:nvPr>
            <p:ph idx="1" type="body"/>
          </p:nvPr>
        </p:nvSpPr>
        <p:spPr>
          <a:xfrm>
            <a:off x="982125" y="743077"/>
            <a:ext cx="43701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Dataset</a:t>
            </a:r>
            <a:endParaRPr b="1" sz="2000">
              <a:latin typeface="Times New Roman"/>
              <a:ea typeface="Times New Roman"/>
              <a:cs typeface="Times New Roman"/>
              <a:sym typeface="Times New Roman"/>
            </a:endParaRPr>
          </a:p>
          <a:p>
            <a:pPr indent="0" lvl="0" marL="0" rtl="0" algn="l">
              <a:lnSpc>
                <a:spcPct val="95000"/>
              </a:lnSpc>
              <a:spcBef>
                <a:spcPts val="1000"/>
              </a:spcBef>
              <a:spcAft>
                <a:spcPts val="1000"/>
              </a:spcAft>
              <a:buSzPts val="1450"/>
              <a:buNone/>
            </a:pPr>
            <a:r>
              <a:t/>
            </a:r>
            <a:endParaRPr sz="2000">
              <a:latin typeface="Times New Roman"/>
              <a:ea typeface="Times New Roman"/>
              <a:cs typeface="Times New Roman"/>
              <a:sym typeface="Times New Roman"/>
            </a:endParaRPr>
          </a:p>
        </p:txBody>
      </p:sp>
      <p:sp>
        <p:nvSpPr>
          <p:cNvPr id="507" name="Google Shape;507;g37c4491bc67_11_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508" name="Google Shape;508;g37c4491bc67_11_0"/>
          <p:cNvPicPr preferRelativeResize="0"/>
          <p:nvPr/>
        </p:nvPicPr>
        <p:blipFill rotWithShape="1">
          <a:blip r:embed="rId3">
            <a:alphaModFix/>
          </a:blip>
          <a:srcRect b="0" l="0" r="0" t="0"/>
          <a:stretch/>
        </p:blipFill>
        <p:spPr>
          <a:xfrm>
            <a:off x="7834800" y="356825"/>
            <a:ext cx="851975" cy="622300"/>
          </a:xfrm>
          <a:prstGeom prst="rect">
            <a:avLst/>
          </a:prstGeom>
          <a:noFill/>
          <a:ln>
            <a:noFill/>
          </a:ln>
        </p:spPr>
      </p:pic>
      <p:graphicFrame>
        <p:nvGraphicFramePr>
          <p:cNvPr id="509" name="Google Shape;509;g37c4491bc67_11_0"/>
          <p:cNvGraphicFramePr/>
          <p:nvPr/>
        </p:nvGraphicFramePr>
        <p:xfrm>
          <a:off x="982100" y="1283875"/>
          <a:ext cx="3000000" cy="3000000"/>
        </p:xfrm>
        <a:graphic>
          <a:graphicData uri="http://schemas.openxmlformats.org/drawingml/2006/table">
            <a:tbl>
              <a:tblPr>
                <a:noFill/>
                <a:tableStyleId>{BC4A68C9-5836-4588-8373-21824B8CE76E}</a:tableStyleId>
              </a:tblPr>
              <a:tblGrid>
                <a:gridCol w="1417500"/>
                <a:gridCol w="1417500"/>
                <a:gridCol w="1348150"/>
                <a:gridCol w="2254550"/>
                <a:gridCol w="1266925"/>
              </a:tblGrid>
              <a:tr h="5560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Variable Name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Role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Type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Description</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Missing Values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59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age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Feature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Age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No</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59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sex</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Sex</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55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cp</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Chest Pain Type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119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trestbps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Resting blood Pressure (on admission to hospital)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319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chol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Serum Cholesterol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853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fbs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Fasting Blook Sugar &gt; 120 mg/dl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59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thal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Thalassemia</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Yes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
        <p:nvSpPr>
          <p:cNvPr id="510" name="Google Shape;510;g37c4491bc67_11_0"/>
          <p:cNvSpPr txBox="1"/>
          <p:nvPr>
            <p:ph type="title"/>
          </p:nvPr>
        </p:nvSpPr>
        <p:spPr>
          <a:xfrm>
            <a:off x="1562075" y="5841150"/>
            <a:ext cx="6134100" cy="51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60"/>
              <a:buFont typeface="Corbel"/>
              <a:buNone/>
            </a:pPr>
            <a:r>
              <a:rPr lang="en-US" sz="1000">
                <a:latin typeface="Times New Roman"/>
                <a:ea typeface="Times New Roman"/>
                <a:cs typeface="Times New Roman"/>
                <a:sym typeface="Times New Roman"/>
              </a:rPr>
              <a:t>Table 4.1 Continued </a:t>
            </a:r>
            <a:endParaRPr sz="10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g37c4491bc67_11_29"/>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20" name="Google Shape;520;g37c4491bc67_11_29"/>
          <p:cNvSpPr txBox="1"/>
          <p:nvPr>
            <p:ph idx="1" type="body"/>
          </p:nvPr>
        </p:nvSpPr>
        <p:spPr>
          <a:xfrm>
            <a:off x="982125" y="660952"/>
            <a:ext cx="43701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Dataset</a:t>
            </a:r>
            <a:endParaRPr b="1" sz="2000">
              <a:latin typeface="Times New Roman"/>
              <a:ea typeface="Times New Roman"/>
              <a:cs typeface="Times New Roman"/>
              <a:sym typeface="Times New Roman"/>
            </a:endParaRPr>
          </a:p>
          <a:p>
            <a:pPr indent="0" lvl="0" marL="0" rtl="0" algn="l">
              <a:lnSpc>
                <a:spcPct val="95000"/>
              </a:lnSpc>
              <a:spcBef>
                <a:spcPts val="1000"/>
              </a:spcBef>
              <a:spcAft>
                <a:spcPts val="1000"/>
              </a:spcAft>
              <a:buSzPts val="1450"/>
              <a:buNone/>
            </a:pPr>
            <a:r>
              <a:t/>
            </a:r>
            <a:endParaRPr sz="2000">
              <a:latin typeface="Times New Roman"/>
              <a:ea typeface="Times New Roman"/>
              <a:cs typeface="Times New Roman"/>
              <a:sym typeface="Times New Roman"/>
            </a:endParaRPr>
          </a:p>
        </p:txBody>
      </p:sp>
      <p:sp>
        <p:nvSpPr>
          <p:cNvPr id="521" name="Google Shape;521;g37c4491bc67_11_29"/>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522" name="Google Shape;522;g37c4491bc67_11_29"/>
          <p:cNvPicPr preferRelativeResize="0"/>
          <p:nvPr/>
        </p:nvPicPr>
        <p:blipFill rotWithShape="1">
          <a:blip r:embed="rId3">
            <a:alphaModFix/>
          </a:blip>
          <a:srcRect b="0" l="0" r="0" t="0"/>
          <a:stretch/>
        </p:blipFill>
        <p:spPr>
          <a:xfrm>
            <a:off x="8046888" y="209975"/>
            <a:ext cx="851975" cy="622300"/>
          </a:xfrm>
          <a:prstGeom prst="rect">
            <a:avLst/>
          </a:prstGeom>
          <a:noFill/>
          <a:ln>
            <a:noFill/>
          </a:ln>
        </p:spPr>
      </p:pic>
      <p:graphicFrame>
        <p:nvGraphicFramePr>
          <p:cNvPr id="523" name="Google Shape;523;g37c4491bc67_11_29"/>
          <p:cNvGraphicFramePr/>
          <p:nvPr/>
        </p:nvGraphicFramePr>
        <p:xfrm>
          <a:off x="1061725" y="1182273"/>
          <a:ext cx="3000000" cy="3000000"/>
        </p:xfrm>
        <a:graphic>
          <a:graphicData uri="http://schemas.openxmlformats.org/drawingml/2006/table">
            <a:tbl>
              <a:tblPr>
                <a:noFill/>
                <a:tableStyleId>{BC4A68C9-5836-4588-8373-21824B8CE76E}</a:tableStyleId>
              </a:tblPr>
              <a:tblGrid>
                <a:gridCol w="1442000"/>
                <a:gridCol w="1212525"/>
                <a:gridCol w="1506425"/>
                <a:gridCol w="2465675"/>
                <a:gridCol w="998375"/>
              </a:tblGrid>
              <a:tr h="6532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Variable Name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Role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Type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Description</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Missing Values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8503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restecg</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Feature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Resting Electrocardiographic results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2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thalach</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Maximum Heart Rate Achieved</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517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exang</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Exercise Induced angina</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2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oldpeak</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ST depression induced by exercise relative rest</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2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slope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Categorical</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Slope of the peak exercise ST segment</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6200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ca</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Feature</a:t>
                      </a:r>
                      <a:endParaRPr sz="1400" u="none" cap="none" strike="noStrike">
                        <a:solidFill>
                          <a:schemeClr val="dk1"/>
                        </a:solidFill>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Number of major vessels colored by fluoroscopy</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Yes</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r h="4246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num</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TARGET</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Integer</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Diagnosis of heart disease</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Times New Roman"/>
                          <a:ea typeface="Times New Roman"/>
                          <a:cs typeface="Times New Roman"/>
                          <a:sym typeface="Times New Roman"/>
                        </a:rPr>
                        <a:t>No</a:t>
                      </a:r>
                      <a:endParaRPr sz="1400" u="none" cap="none" strike="noStrike">
                        <a:latin typeface="Times New Roman"/>
                        <a:ea typeface="Times New Roman"/>
                        <a:cs typeface="Times New Roman"/>
                        <a:sym typeface="Times New Roman"/>
                      </a:endParaRPr>
                    </a:p>
                  </a:txBody>
                  <a:tcPr marT="91425" marB="91425" marR="91425" marL="91425">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r>
            </a:tbl>
          </a:graphicData>
        </a:graphic>
      </p:graphicFrame>
      <p:sp>
        <p:nvSpPr>
          <p:cNvPr id="524" name="Google Shape;524;g37c4491bc67_11_29"/>
          <p:cNvSpPr txBox="1"/>
          <p:nvPr>
            <p:ph type="title"/>
          </p:nvPr>
        </p:nvSpPr>
        <p:spPr>
          <a:xfrm>
            <a:off x="1767375" y="5957275"/>
            <a:ext cx="6134100" cy="51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60"/>
              <a:buFont typeface="Corbel"/>
              <a:buNone/>
            </a:pPr>
            <a:r>
              <a:rPr lang="en-US" sz="1000">
                <a:latin typeface="Times New Roman"/>
                <a:ea typeface="Times New Roman"/>
                <a:cs typeface="Times New Roman"/>
                <a:sym typeface="Times New Roman"/>
              </a:rPr>
              <a:t>Table 4.1 Data Set For ML [9]</a:t>
            </a:r>
            <a:endParaRPr sz="10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7c4491bc67_11_63"/>
          <p:cNvSpPr txBox="1"/>
          <p:nvPr>
            <p:ph idx="1" type="body"/>
          </p:nvPr>
        </p:nvSpPr>
        <p:spPr>
          <a:xfrm>
            <a:off x="721425" y="1453675"/>
            <a:ext cx="7817700" cy="4242900"/>
          </a:xfrm>
          <a:prstGeom prst="rect">
            <a:avLst/>
          </a:prstGeom>
          <a:noFill/>
          <a:ln>
            <a:noFill/>
          </a:ln>
        </p:spPr>
        <p:txBody>
          <a:bodyPr anchorCtr="0" anchor="ctr" bIns="45700" lIns="91425" spcFirstLastPara="1" rIns="91425" wrap="square" tIns="45700">
            <a:noAutofit/>
          </a:bodyPr>
          <a:lstStyle/>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EDA helps understand the dataset’s structure, distributions, and relationships between variables through visualization and statistical summaries.</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Common visualizations include histograms, box plots, scatter plots, and correlation heatmaps to detect patterns and anomalies.</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Feature selection identifies the most relevant attributes affecting heart disease prediction, improving model accuracy and reducing complexity.</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Techniques such as correlation analysis (Pearson coefficient) and mutual information are used to select key features like age, cholesterol levels, blood pressure, BMI, smoking, and genetic factors.</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Removing redundant and irrelevant features minimizes overfitting and enhances computational efficiency.</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Proper feature selection ensures models focus on impactful predictors, boosting interpretability and performance. [12]</a:t>
            </a:r>
            <a:endParaRPr sz="1400">
              <a:latin typeface="Times New Roman"/>
              <a:ea typeface="Times New Roman"/>
              <a:cs typeface="Times New Roman"/>
              <a:sym typeface="Times New Roman"/>
            </a:endParaRPr>
          </a:p>
          <a:p>
            <a:pPr indent="0" lvl="0" marL="0" rtl="0" algn="just">
              <a:lnSpc>
                <a:spcPct val="115000"/>
              </a:lnSpc>
              <a:spcBef>
                <a:spcPts val="360"/>
              </a:spcBef>
              <a:spcAft>
                <a:spcPts val="600"/>
              </a:spcAft>
              <a:buSzPts val="2610"/>
              <a:buNone/>
            </a:pPr>
            <a:r>
              <a:t/>
            </a:r>
            <a:endParaRPr sz="1400">
              <a:latin typeface="Times New Roman"/>
              <a:ea typeface="Times New Roman"/>
              <a:cs typeface="Times New Roman"/>
              <a:sym typeface="Times New Roman"/>
            </a:endParaRPr>
          </a:p>
        </p:txBody>
      </p:sp>
      <p:sp>
        <p:nvSpPr>
          <p:cNvPr id="531" name="Google Shape;531;g37c4491bc67_11_63"/>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sp>
        <p:nvSpPr>
          <p:cNvPr id="532" name="Google Shape;532;g37c4491bc67_11_63"/>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33" name="Google Shape;533;g37c4491bc67_11_63"/>
          <p:cNvSpPr txBox="1"/>
          <p:nvPr>
            <p:ph idx="1" type="body"/>
          </p:nvPr>
        </p:nvSpPr>
        <p:spPr>
          <a:xfrm>
            <a:off x="982125" y="1249550"/>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EDA, Feature Scaling &amp; Extraction</a:t>
            </a:r>
            <a:endParaRPr sz="2000">
              <a:latin typeface="Times New Roman"/>
              <a:ea typeface="Times New Roman"/>
              <a:cs typeface="Times New Roman"/>
              <a:sym typeface="Times New Roman"/>
            </a:endParaRPr>
          </a:p>
        </p:txBody>
      </p:sp>
      <p:pic>
        <p:nvPicPr>
          <p:cNvPr id="534" name="Google Shape;534;g37c4491bc67_11_63"/>
          <p:cNvPicPr preferRelativeResize="0"/>
          <p:nvPr/>
        </p:nvPicPr>
        <p:blipFill rotWithShape="1">
          <a:blip r:embed="rId3">
            <a:alphaModFix/>
          </a:blip>
          <a:srcRect b="0" l="0" r="0" t="0"/>
          <a:stretch/>
        </p:blipFill>
        <p:spPr>
          <a:xfrm>
            <a:off x="8046888" y="178611"/>
            <a:ext cx="851975" cy="73903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7c4491bc67_11_12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41" name="Google Shape;541;g37c4491bc67_11_120"/>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42" name="Google Shape;542;g37c4491bc67_11_120"/>
          <p:cNvSpPr txBox="1"/>
          <p:nvPr>
            <p:ph idx="1" type="body"/>
          </p:nvPr>
        </p:nvSpPr>
        <p:spPr>
          <a:xfrm>
            <a:off x="982125" y="743075"/>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EDA, Feature Scaling &amp; Extraction</a:t>
            </a:r>
            <a:endParaRPr sz="2000">
              <a:latin typeface="Times New Roman"/>
              <a:ea typeface="Times New Roman"/>
              <a:cs typeface="Times New Roman"/>
              <a:sym typeface="Times New Roman"/>
            </a:endParaRPr>
          </a:p>
        </p:txBody>
      </p:sp>
      <p:pic>
        <p:nvPicPr>
          <p:cNvPr id="543" name="Google Shape;543;g37c4491bc67_11_120"/>
          <p:cNvPicPr preferRelativeResize="0"/>
          <p:nvPr/>
        </p:nvPicPr>
        <p:blipFill rotWithShape="1">
          <a:blip r:embed="rId3">
            <a:alphaModFix/>
          </a:blip>
          <a:srcRect b="0" l="0" r="0" t="0"/>
          <a:stretch/>
        </p:blipFill>
        <p:spPr>
          <a:xfrm>
            <a:off x="1099304" y="1440050"/>
            <a:ext cx="7206650" cy="4464600"/>
          </a:xfrm>
          <a:prstGeom prst="rect">
            <a:avLst/>
          </a:prstGeom>
          <a:noFill/>
          <a:ln>
            <a:noFill/>
          </a:ln>
        </p:spPr>
      </p:pic>
      <p:sp>
        <p:nvSpPr>
          <p:cNvPr id="544" name="Google Shape;544;g37c4491bc67_11_120"/>
          <p:cNvSpPr txBox="1"/>
          <p:nvPr>
            <p:ph type="title"/>
          </p:nvPr>
        </p:nvSpPr>
        <p:spPr>
          <a:xfrm>
            <a:off x="1641850" y="5979425"/>
            <a:ext cx="6134100" cy="51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60"/>
              <a:buFont typeface="Corbel"/>
              <a:buNone/>
            </a:pPr>
            <a:r>
              <a:rPr lang="en-US" sz="1000">
                <a:latin typeface="Times New Roman"/>
                <a:ea typeface="Times New Roman"/>
                <a:cs typeface="Times New Roman"/>
                <a:sym typeface="Times New Roman"/>
              </a:rPr>
              <a:t>Figure 4.1 Enhanced Correlation Matrix of Features[10]</a:t>
            </a:r>
            <a:endParaRPr sz="1000">
              <a:latin typeface="Times New Roman"/>
              <a:ea typeface="Times New Roman"/>
              <a:cs typeface="Times New Roman"/>
              <a:sym typeface="Times New Roman"/>
            </a:endParaRPr>
          </a:p>
        </p:txBody>
      </p:sp>
      <p:pic>
        <p:nvPicPr>
          <p:cNvPr id="545" name="Google Shape;545;g37c4491bc67_11_120"/>
          <p:cNvPicPr preferRelativeResize="0"/>
          <p:nvPr/>
        </p:nvPicPr>
        <p:blipFill rotWithShape="1">
          <a:blip r:embed="rId4">
            <a:alphaModFix/>
          </a:blip>
          <a:srcRect b="0" l="0" r="0" t="0"/>
          <a:stretch/>
        </p:blipFill>
        <p:spPr>
          <a:xfrm>
            <a:off x="7913738" y="233111"/>
            <a:ext cx="851975" cy="73903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7c4491bc67_11_94"/>
          <p:cNvSpPr txBox="1"/>
          <p:nvPr>
            <p:ph idx="12" type="sldNum"/>
          </p:nvPr>
        </p:nvSpPr>
        <p:spPr>
          <a:xfrm>
            <a:off x="8587492" y="6381948"/>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52" name="Google Shape;552;g37c4491bc67_11_94"/>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53" name="Google Shape;553;g37c4491bc67_11_94"/>
          <p:cNvSpPr txBox="1"/>
          <p:nvPr>
            <p:ph idx="1" type="body"/>
          </p:nvPr>
        </p:nvSpPr>
        <p:spPr>
          <a:xfrm>
            <a:off x="982125" y="962100"/>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Model Selection &amp; Development</a:t>
            </a:r>
            <a:endParaRPr b="1" sz="2000">
              <a:latin typeface="Times New Roman"/>
              <a:ea typeface="Times New Roman"/>
              <a:cs typeface="Times New Roman"/>
              <a:sym typeface="Times New Roman"/>
            </a:endParaRPr>
          </a:p>
        </p:txBody>
      </p:sp>
      <p:sp>
        <p:nvSpPr>
          <p:cNvPr id="554" name="Google Shape;554;g37c4491bc67_11_94"/>
          <p:cNvSpPr txBox="1"/>
          <p:nvPr>
            <p:ph idx="1" type="body"/>
          </p:nvPr>
        </p:nvSpPr>
        <p:spPr>
          <a:xfrm>
            <a:off x="623175" y="1479525"/>
            <a:ext cx="8063700" cy="4487400"/>
          </a:xfrm>
          <a:prstGeom prst="rect">
            <a:avLst/>
          </a:prstGeom>
          <a:noFill/>
          <a:ln>
            <a:noFill/>
          </a:ln>
        </p:spPr>
        <p:txBody>
          <a:bodyPr anchorCtr="0" anchor="ctr" bIns="45700" lIns="91425" spcFirstLastPara="1" rIns="91425" wrap="square" tIns="45700">
            <a:noAutofit/>
          </a:bodyPr>
          <a:lstStyle/>
          <a:p>
            <a:pPr indent="-317500" lvl="0" marL="457200" rtl="0" algn="just">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Multiple models were considered, focus was on </a:t>
            </a:r>
            <a:r>
              <a:rPr b="1" lang="en-US" sz="1400">
                <a:latin typeface="Times New Roman"/>
                <a:ea typeface="Times New Roman"/>
                <a:cs typeface="Times New Roman"/>
                <a:sym typeface="Times New Roman"/>
              </a:rPr>
              <a:t>hybrid ensemble</a:t>
            </a:r>
            <a:r>
              <a:rPr lang="en-US" sz="1400">
                <a:latin typeface="Times New Roman"/>
                <a:ea typeface="Times New Roman"/>
                <a:cs typeface="Times New Roman"/>
                <a:sym typeface="Times New Roman"/>
              </a:rPr>
              <a:t> methods for enhanced predictive accuracy and generalization [10].</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Stacking Hybrid Model (Random Forest + XGBoost):</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Uses stacking ensemble technique with </a:t>
            </a:r>
            <a:r>
              <a:rPr b="1" lang="en-US" sz="1400">
                <a:latin typeface="Times New Roman"/>
                <a:ea typeface="Times New Roman"/>
                <a:cs typeface="Times New Roman"/>
                <a:sym typeface="Times New Roman"/>
              </a:rPr>
              <a:t>Random Forest</a:t>
            </a:r>
            <a:r>
              <a:rPr lang="en-US" sz="1400">
                <a:latin typeface="Times New Roman"/>
                <a:ea typeface="Times New Roman"/>
                <a:cs typeface="Times New Roman"/>
                <a:sym typeface="Times New Roman"/>
              </a:rPr>
              <a:t> as base learner and </a:t>
            </a:r>
            <a:r>
              <a:rPr b="1" lang="en-US" sz="1400">
                <a:latin typeface="Times New Roman"/>
                <a:ea typeface="Times New Roman"/>
                <a:cs typeface="Times New Roman"/>
                <a:sym typeface="Times New Roman"/>
              </a:rPr>
              <a:t>XGBoost</a:t>
            </a:r>
            <a:r>
              <a:rPr lang="en-US" sz="1400">
                <a:latin typeface="Times New Roman"/>
                <a:ea typeface="Times New Roman"/>
                <a:cs typeface="Times New Roman"/>
                <a:sym typeface="Times New Roman"/>
              </a:rPr>
              <a:t> as meta-learner.</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Meta-model captures patterns missed by base models, resulting in superior performance.</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Demonstrated the best overall performance in all metrics and is recommended as the best model [10].</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Voting Hybrid Model (</a:t>
            </a:r>
            <a:r>
              <a:rPr b="1" lang="en-US" sz="1400">
                <a:latin typeface="Times New Roman"/>
                <a:ea typeface="Times New Roman"/>
                <a:cs typeface="Times New Roman"/>
                <a:sym typeface="Times New Roman"/>
              </a:rPr>
              <a:t>Random Forest</a:t>
            </a:r>
            <a:r>
              <a:rPr lang="en-US" sz="1400">
                <a:latin typeface="Times New Roman"/>
                <a:ea typeface="Times New Roman"/>
                <a:cs typeface="Times New Roman"/>
                <a:sym typeface="Times New Roman"/>
              </a:rPr>
              <a:t> + </a:t>
            </a:r>
            <a:r>
              <a:rPr b="1" lang="en-US" sz="1400">
                <a:latin typeface="Times New Roman"/>
                <a:ea typeface="Times New Roman"/>
                <a:cs typeface="Times New Roman"/>
                <a:sym typeface="Times New Roman"/>
              </a:rPr>
              <a:t>SVM</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Combines predictions via voting mechanism to improve stability.</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Performance inferior to stacking hybrid model [10].</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Hybrid Voting Model (</a:t>
            </a:r>
            <a:r>
              <a:rPr b="1" lang="en-US" sz="1400">
                <a:latin typeface="Times New Roman"/>
                <a:ea typeface="Times New Roman"/>
                <a:cs typeface="Times New Roman"/>
                <a:sym typeface="Times New Roman"/>
              </a:rPr>
              <a:t>Gradient Boosting</a:t>
            </a:r>
            <a:r>
              <a:rPr lang="en-US" sz="1400">
                <a:latin typeface="Times New Roman"/>
                <a:ea typeface="Times New Roman"/>
                <a:cs typeface="Times New Roman"/>
                <a:sym typeface="Times New Roman"/>
              </a:rPr>
              <a:t> + </a:t>
            </a:r>
            <a:r>
              <a:rPr b="1" lang="en-US" sz="1400">
                <a:latin typeface="Times New Roman"/>
                <a:ea typeface="Times New Roman"/>
                <a:cs typeface="Times New Roman"/>
                <a:sym typeface="Times New Roman"/>
              </a:rPr>
              <a:t>Random Forest</a:t>
            </a:r>
            <a:r>
              <a:rPr lang="en-US" sz="1400">
                <a:latin typeface="Times New Roman"/>
                <a:ea typeface="Times New Roman"/>
                <a:cs typeface="Times New Roman"/>
                <a:sym typeface="Times New Roman"/>
              </a:rPr>
              <a:t> + </a:t>
            </a:r>
            <a:r>
              <a:rPr b="1" lang="en-US" sz="1400">
                <a:latin typeface="Times New Roman"/>
                <a:ea typeface="Times New Roman"/>
                <a:cs typeface="Times New Roman"/>
                <a:sym typeface="Times New Roman"/>
              </a:rPr>
              <a:t>SVM</a:t>
            </a:r>
            <a:r>
              <a:rPr lang="en-US" sz="1400">
                <a:latin typeface="Times New Roman"/>
                <a:ea typeface="Times New Roman"/>
                <a:cs typeface="Times New Roman"/>
                <a:sym typeface="Times New Roman"/>
              </a:rPr>
              <a:t>):</a:t>
            </a:r>
            <a:endParaRPr sz="1400">
              <a:latin typeface="Times New Roman"/>
              <a:ea typeface="Times New Roman"/>
              <a:cs typeface="Times New Roman"/>
              <a:sym typeface="Times New Roman"/>
            </a:endParaRPr>
          </a:p>
          <a:p>
            <a:pPr indent="-317500" lvl="1" marL="9144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Versatile but less accurate than stacking model [10].</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Individual classifiers trained for benchmarking:</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Roboto"/>
              <a:buChar char="●"/>
            </a:pPr>
            <a:r>
              <a:rPr b="1" lang="en-US" sz="1400">
                <a:latin typeface="Times New Roman"/>
                <a:ea typeface="Times New Roman"/>
                <a:cs typeface="Times New Roman"/>
                <a:sym typeface="Times New Roman"/>
              </a:rPr>
              <a:t>Logistic Regression</a:t>
            </a:r>
            <a:r>
              <a:rPr lang="en-US" sz="1400">
                <a:latin typeface="Times New Roman"/>
                <a:ea typeface="Times New Roman"/>
                <a:cs typeface="Times New Roman"/>
                <a:sym typeface="Times New Roman"/>
              </a:rPr>
              <a:t> (simple &amp; interpretable), </a:t>
            </a:r>
            <a:r>
              <a:rPr b="1" lang="en-US" sz="1400">
                <a:latin typeface="Times New Roman"/>
                <a:ea typeface="Times New Roman"/>
                <a:cs typeface="Times New Roman"/>
                <a:sym typeface="Times New Roman"/>
              </a:rPr>
              <a:t>Decision Tree</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Random Forest</a:t>
            </a:r>
            <a:r>
              <a:rPr lang="en-US" sz="1400">
                <a:latin typeface="Times New Roman"/>
                <a:ea typeface="Times New Roman"/>
                <a:cs typeface="Times New Roman"/>
                <a:sym typeface="Times New Roman"/>
              </a:rPr>
              <a:t>, </a:t>
            </a:r>
            <a:r>
              <a:rPr b="1" lang="en-US" sz="1400">
                <a:latin typeface="Times New Roman"/>
                <a:ea typeface="Times New Roman"/>
                <a:cs typeface="Times New Roman"/>
                <a:sym typeface="Times New Roman"/>
              </a:rPr>
              <a:t>K-Nearest Neighbors</a:t>
            </a:r>
            <a:r>
              <a:rPr lang="en-US" sz="1400">
                <a:latin typeface="Times New Roman"/>
                <a:ea typeface="Times New Roman"/>
                <a:cs typeface="Times New Roman"/>
                <a:sym typeface="Times New Roman"/>
              </a:rPr>
              <a:t> (KNN), </a:t>
            </a:r>
            <a:r>
              <a:rPr b="1" lang="en-US" sz="1400">
                <a:latin typeface="Times New Roman"/>
                <a:ea typeface="Times New Roman"/>
                <a:cs typeface="Times New Roman"/>
                <a:sym typeface="Times New Roman"/>
              </a:rPr>
              <a:t>Naive Bayes</a:t>
            </a:r>
            <a:r>
              <a:rPr lang="en-US" sz="1400">
                <a:latin typeface="Times New Roman"/>
                <a:ea typeface="Times New Roman"/>
                <a:cs typeface="Times New Roman"/>
                <a:sym typeface="Times New Roman"/>
              </a:rPr>
              <a:t>, and </a:t>
            </a:r>
            <a:r>
              <a:rPr b="1" lang="en-US" sz="1400">
                <a:latin typeface="Times New Roman"/>
                <a:ea typeface="Times New Roman"/>
                <a:cs typeface="Times New Roman"/>
                <a:sym typeface="Times New Roman"/>
              </a:rPr>
              <a:t>Support Vector Machine</a:t>
            </a:r>
            <a:r>
              <a:rPr lang="en-US" sz="1400">
                <a:latin typeface="Times New Roman"/>
                <a:ea typeface="Times New Roman"/>
                <a:cs typeface="Times New Roman"/>
                <a:sym typeface="Times New Roman"/>
              </a:rPr>
              <a:t> (SVM) [10].</a:t>
            </a:r>
            <a:endParaRPr sz="1400">
              <a:latin typeface="Times New Roman"/>
              <a:ea typeface="Times New Roman"/>
              <a:cs typeface="Times New Roman"/>
              <a:sym typeface="Times New Roman"/>
            </a:endParaRPr>
          </a:p>
          <a:p>
            <a:pPr indent="0" lvl="0" marL="457200" rtl="0" algn="just">
              <a:lnSpc>
                <a:spcPct val="115000"/>
              </a:lnSpc>
              <a:spcBef>
                <a:spcPts val="0"/>
              </a:spcBef>
              <a:spcAft>
                <a:spcPts val="0"/>
              </a:spcAft>
              <a:buSzPts val="2610"/>
              <a:buNone/>
            </a:pPr>
            <a:r>
              <a:t/>
            </a:r>
            <a:endParaRPr sz="1400">
              <a:latin typeface="Times New Roman"/>
              <a:ea typeface="Times New Roman"/>
              <a:cs typeface="Times New Roman"/>
              <a:sym typeface="Times New Roman"/>
            </a:endParaRPr>
          </a:p>
        </p:txBody>
      </p:sp>
      <p:pic>
        <p:nvPicPr>
          <p:cNvPr id="555" name="Google Shape;555;g37c4491bc67_11_94"/>
          <p:cNvPicPr preferRelativeResize="0"/>
          <p:nvPr/>
        </p:nvPicPr>
        <p:blipFill rotWithShape="1">
          <a:blip r:embed="rId3">
            <a:alphaModFix/>
          </a:blip>
          <a:srcRect b="0" l="0" r="0" t="0"/>
          <a:stretch/>
        </p:blipFill>
        <p:spPr>
          <a:xfrm>
            <a:off x="8045025" y="223061"/>
            <a:ext cx="851975" cy="73903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7c4491bc67_11_103"/>
          <p:cNvSpPr txBox="1"/>
          <p:nvPr>
            <p:ph idx="1" type="body"/>
          </p:nvPr>
        </p:nvSpPr>
        <p:spPr>
          <a:xfrm>
            <a:off x="623175" y="825200"/>
            <a:ext cx="8422500" cy="2056500"/>
          </a:xfrm>
          <a:prstGeom prst="rect">
            <a:avLst/>
          </a:prstGeom>
          <a:noFill/>
          <a:ln>
            <a:noFill/>
          </a:ln>
        </p:spPr>
        <p:txBody>
          <a:bodyPr anchorCtr="0" anchor="ctr" bIns="45700" lIns="91425" spcFirstLastPara="1" rIns="91425" wrap="square" tIns="45700">
            <a:noAutofit/>
          </a:bodyPr>
          <a:lstStyle/>
          <a:p>
            <a:pPr indent="-317500" lvl="0" marL="457200" rtl="0" algn="just">
              <a:lnSpc>
                <a:spcPct val="115000"/>
              </a:lnSpc>
              <a:spcBef>
                <a:spcPts val="0"/>
              </a:spcBef>
              <a:spcAft>
                <a:spcPts val="0"/>
              </a:spcAft>
              <a:buClr>
                <a:schemeClr val="dk1"/>
              </a:buClr>
              <a:buSzPts val="1400"/>
              <a:buFont typeface="Roboto"/>
              <a:buChar char="●"/>
            </a:pPr>
            <a:r>
              <a:rPr b="1" lang="en-US" sz="1400">
                <a:latin typeface="Times New Roman"/>
                <a:ea typeface="Times New Roman"/>
                <a:cs typeface="Times New Roman"/>
                <a:sym typeface="Times New Roman"/>
              </a:rPr>
              <a:t>Cross-validation</a:t>
            </a:r>
            <a:r>
              <a:rPr lang="en-US" sz="1400">
                <a:latin typeface="Times New Roman"/>
                <a:ea typeface="Times New Roman"/>
                <a:cs typeface="Times New Roman"/>
                <a:sym typeface="Times New Roman"/>
              </a:rPr>
              <a:t> with 5 folds used to ensure robust evaluation and reduce </a:t>
            </a:r>
            <a:r>
              <a:rPr b="1" lang="en-US" sz="1400">
                <a:latin typeface="Times New Roman"/>
                <a:ea typeface="Times New Roman"/>
                <a:cs typeface="Times New Roman"/>
                <a:sym typeface="Times New Roman"/>
              </a:rPr>
              <a:t>overfitting </a:t>
            </a:r>
            <a:r>
              <a:rPr lang="en-US" sz="1400">
                <a:latin typeface="Times New Roman"/>
                <a:ea typeface="Times New Roman"/>
                <a:cs typeface="Times New Roman"/>
                <a:sym typeface="Times New Roman"/>
              </a:rPr>
              <a:t>[10].</a:t>
            </a:r>
            <a:endParaRPr sz="1400">
              <a:latin typeface="Times New Roman"/>
              <a:ea typeface="Times New Roman"/>
              <a:cs typeface="Times New Roman"/>
              <a:sym typeface="Times New Roman"/>
            </a:endParaRPr>
          </a:p>
          <a:p>
            <a:pPr indent="-317500" lvl="0" marL="457200" rtl="0" algn="just">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Stacking Hybrid Model (</a:t>
            </a:r>
            <a:r>
              <a:rPr b="1" lang="en-US" sz="1400">
                <a:latin typeface="Times New Roman"/>
                <a:ea typeface="Times New Roman"/>
                <a:cs typeface="Times New Roman"/>
                <a:sym typeface="Times New Roman"/>
              </a:rPr>
              <a:t>RF + XGBoost</a:t>
            </a:r>
            <a:r>
              <a:rPr lang="en-US" sz="1400">
                <a:latin typeface="Times New Roman"/>
                <a:ea typeface="Times New Roman"/>
                <a:cs typeface="Times New Roman"/>
                <a:sym typeface="Times New Roman"/>
              </a:rPr>
              <a:t>) optimally leverages strengths of both models, making it most suitable for heart disease prediction [10].</a:t>
            </a:r>
            <a:endParaRPr sz="1400">
              <a:latin typeface="Times New Roman"/>
              <a:ea typeface="Times New Roman"/>
              <a:cs typeface="Times New Roman"/>
              <a:sym typeface="Times New Roman"/>
            </a:endParaRPr>
          </a:p>
        </p:txBody>
      </p:sp>
      <p:sp>
        <p:nvSpPr>
          <p:cNvPr id="562" name="Google Shape;562;g37c4491bc67_11_103"/>
          <p:cNvSpPr txBox="1"/>
          <p:nvPr>
            <p:ph idx="12" type="sldNum"/>
          </p:nvPr>
        </p:nvSpPr>
        <p:spPr>
          <a:xfrm>
            <a:off x="8587492" y="6381948"/>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63" name="Google Shape;563;g37c4491bc67_11_103"/>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64" name="Google Shape;564;g37c4491bc67_11_103"/>
          <p:cNvSpPr txBox="1"/>
          <p:nvPr>
            <p:ph idx="1" type="body"/>
          </p:nvPr>
        </p:nvSpPr>
        <p:spPr>
          <a:xfrm>
            <a:off x="883875" y="825200"/>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Model Selection &amp; Development</a:t>
            </a:r>
            <a:endParaRPr b="1" sz="2000">
              <a:latin typeface="Times New Roman"/>
              <a:ea typeface="Times New Roman"/>
              <a:cs typeface="Times New Roman"/>
              <a:sym typeface="Times New Roman"/>
            </a:endParaRPr>
          </a:p>
        </p:txBody>
      </p:sp>
      <p:pic>
        <p:nvPicPr>
          <p:cNvPr id="565" name="Google Shape;565;g37c4491bc67_11_103"/>
          <p:cNvPicPr preferRelativeResize="0"/>
          <p:nvPr/>
        </p:nvPicPr>
        <p:blipFill rotWithShape="1">
          <a:blip r:embed="rId3">
            <a:alphaModFix/>
          </a:blip>
          <a:srcRect b="0" l="0" r="0" t="0"/>
          <a:stretch/>
        </p:blipFill>
        <p:spPr>
          <a:xfrm>
            <a:off x="1480200" y="2386350"/>
            <a:ext cx="5858075" cy="3078150"/>
          </a:xfrm>
          <a:prstGeom prst="rect">
            <a:avLst/>
          </a:prstGeom>
          <a:noFill/>
          <a:ln>
            <a:noFill/>
          </a:ln>
        </p:spPr>
      </p:pic>
      <p:sp>
        <p:nvSpPr>
          <p:cNvPr id="566" name="Google Shape;566;g37c4491bc67_11_103"/>
          <p:cNvSpPr txBox="1"/>
          <p:nvPr>
            <p:ph type="title"/>
          </p:nvPr>
        </p:nvSpPr>
        <p:spPr>
          <a:xfrm>
            <a:off x="1504950" y="5560325"/>
            <a:ext cx="6134100" cy="51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60"/>
              <a:buFont typeface="Corbel"/>
              <a:buNone/>
            </a:pPr>
            <a:r>
              <a:rPr lang="en-US" sz="1000">
                <a:latin typeface="Times New Roman"/>
                <a:ea typeface="Times New Roman"/>
                <a:cs typeface="Times New Roman"/>
                <a:sym typeface="Times New Roman"/>
              </a:rPr>
              <a:t>Figure 4.2 Model  Comparison [14]</a:t>
            </a:r>
            <a:endParaRPr sz="1000">
              <a:latin typeface="Times New Roman"/>
              <a:ea typeface="Times New Roman"/>
              <a:cs typeface="Times New Roman"/>
              <a:sym typeface="Times New Roman"/>
            </a:endParaRPr>
          </a:p>
        </p:txBody>
      </p:sp>
      <p:pic>
        <p:nvPicPr>
          <p:cNvPr id="567" name="Google Shape;567;g37c4491bc67_11_103"/>
          <p:cNvPicPr preferRelativeResize="0"/>
          <p:nvPr/>
        </p:nvPicPr>
        <p:blipFill rotWithShape="1">
          <a:blip r:embed="rId4">
            <a:alphaModFix/>
          </a:blip>
          <a:srcRect b="0" l="0" r="0" t="0"/>
          <a:stretch/>
        </p:blipFill>
        <p:spPr>
          <a:xfrm>
            <a:off x="7622575" y="476675"/>
            <a:ext cx="851975" cy="622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7c4491bc67_11_8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74" name="Google Shape;574;g37c4491bc67_11_80"/>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75" name="Google Shape;575;g37c4491bc67_11_80"/>
          <p:cNvSpPr txBox="1"/>
          <p:nvPr>
            <p:ph idx="1" type="body"/>
          </p:nvPr>
        </p:nvSpPr>
        <p:spPr>
          <a:xfrm>
            <a:off x="982125" y="1079325"/>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000">
                <a:latin typeface="Times New Roman"/>
                <a:ea typeface="Times New Roman"/>
                <a:cs typeface="Times New Roman"/>
                <a:sym typeface="Times New Roman"/>
              </a:rPr>
              <a:t>   Overall Process</a:t>
            </a:r>
            <a:endParaRPr b="1" sz="2000">
              <a:latin typeface="Times New Roman"/>
              <a:ea typeface="Times New Roman"/>
              <a:cs typeface="Times New Roman"/>
              <a:sym typeface="Times New Roman"/>
            </a:endParaRPr>
          </a:p>
          <a:p>
            <a:pPr indent="0" lvl="0" marL="0" rtl="0" algn="l">
              <a:lnSpc>
                <a:spcPct val="95000"/>
              </a:lnSpc>
              <a:spcBef>
                <a:spcPts val="1000"/>
              </a:spcBef>
              <a:spcAft>
                <a:spcPts val="0"/>
              </a:spcAft>
              <a:buSzPts val="1450"/>
              <a:buNone/>
            </a:pPr>
            <a:r>
              <a:t/>
            </a:r>
            <a:endParaRPr b="1" sz="2000">
              <a:latin typeface="Times New Roman"/>
              <a:ea typeface="Times New Roman"/>
              <a:cs typeface="Times New Roman"/>
              <a:sym typeface="Times New Roman"/>
            </a:endParaRPr>
          </a:p>
        </p:txBody>
      </p:sp>
      <p:pic>
        <p:nvPicPr>
          <p:cNvPr id="576" name="Google Shape;576;g37c4491bc67_11_80"/>
          <p:cNvPicPr preferRelativeResize="0"/>
          <p:nvPr/>
        </p:nvPicPr>
        <p:blipFill rotWithShape="1">
          <a:blip r:embed="rId3">
            <a:alphaModFix/>
          </a:blip>
          <a:srcRect b="0" l="0" r="0" t="0"/>
          <a:stretch/>
        </p:blipFill>
        <p:spPr>
          <a:xfrm>
            <a:off x="797725" y="2153700"/>
            <a:ext cx="7952450" cy="2550600"/>
          </a:xfrm>
          <a:prstGeom prst="rect">
            <a:avLst/>
          </a:prstGeom>
          <a:noFill/>
          <a:ln>
            <a:noFill/>
          </a:ln>
        </p:spPr>
      </p:pic>
      <p:sp>
        <p:nvSpPr>
          <p:cNvPr id="577" name="Google Shape;577;g37c4491bc67_11_80"/>
          <p:cNvSpPr txBox="1"/>
          <p:nvPr>
            <p:ph type="title"/>
          </p:nvPr>
        </p:nvSpPr>
        <p:spPr>
          <a:xfrm>
            <a:off x="1504950" y="4629500"/>
            <a:ext cx="6134100" cy="516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960"/>
              <a:buFont typeface="Corbel"/>
              <a:buNone/>
            </a:pPr>
            <a:r>
              <a:rPr lang="en-US" sz="1000">
                <a:latin typeface="Times New Roman"/>
                <a:ea typeface="Times New Roman"/>
                <a:cs typeface="Times New Roman"/>
                <a:sym typeface="Times New Roman"/>
              </a:rPr>
              <a:t>Figure 4.3 The Proposed Heart Disease Prediction Model [11]</a:t>
            </a:r>
            <a:endParaRPr sz="1000">
              <a:latin typeface="Times New Roman"/>
              <a:ea typeface="Times New Roman"/>
              <a:cs typeface="Times New Roman"/>
              <a:sym typeface="Times New Roman"/>
            </a:endParaRPr>
          </a:p>
        </p:txBody>
      </p:sp>
      <p:pic>
        <p:nvPicPr>
          <p:cNvPr id="578" name="Google Shape;578;g37c4491bc67_11_80"/>
          <p:cNvPicPr preferRelativeResize="0"/>
          <p:nvPr/>
        </p:nvPicPr>
        <p:blipFill rotWithShape="1">
          <a:blip r:embed="rId4">
            <a:alphaModFix/>
          </a:blip>
          <a:srcRect b="0" l="0" r="0" t="0"/>
          <a:stretch/>
        </p:blipFill>
        <p:spPr>
          <a:xfrm>
            <a:off x="7622575" y="476675"/>
            <a:ext cx="851975" cy="622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1"/>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85" name="Google Shape;585;p11"/>
          <p:cNvSpPr txBox="1"/>
          <p:nvPr>
            <p:ph type="title"/>
          </p:nvPr>
        </p:nvSpPr>
        <p:spPr>
          <a:xfrm>
            <a:off x="982125" y="12592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2800"/>
              <a:t>Literature Survey </a:t>
            </a:r>
            <a:br>
              <a:rPr b="1" lang="en-US" sz="2800"/>
            </a:br>
            <a:r>
              <a:rPr b="1" lang="en-US" sz="2800"/>
              <a:t> </a:t>
            </a:r>
            <a:endParaRPr b="1" sz="2800"/>
          </a:p>
        </p:txBody>
      </p:sp>
      <p:sp>
        <p:nvSpPr>
          <p:cNvPr id="586" name="Google Shape;586;p11"/>
          <p:cNvSpPr txBox="1"/>
          <p:nvPr>
            <p:ph idx="1" type="body"/>
          </p:nvPr>
        </p:nvSpPr>
        <p:spPr>
          <a:xfrm>
            <a:off x="982125" y="1079325"/>
            <a:ext cx="8161800" cy="622200"/>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1000"/>
              </a:spcBef>
              <a:spcAft>
                <a:spcPts val="0"/>
              </a:spcAft>
              <a:buSzPts val="1450"/>
              <a:buNone/>
            </a:pPr>
            <a:r>
              <a:rPr b="1" lang="en-US" sz="2500">
                <a:latin typeface="Times New Roman"/>
                <a:ea typeface="Times New Roman"/>
                <a:cs typeface="Times New Roman"/>
                <a:sym typeface="Times New Roman"/>
              </a:rPr>
              <a:t>   Rationale Behind the Problem Statement</a:t>
            </a:r>
            <a:endParaRPr b="1" sz="2500">
              <a:latin typeface="Times New Roman"/>
              <a:ea typeface="Times New Roman"/>
              <a:cs typeface="Times New Roman"/>
              <a:sym typeface="Times New Roman"/>
            </a:endParaRPr>
          </a:p>
          <a:p>
            <a:pPr indent="0" lvl="0" marL="0" rtl="0" algn="l">
              <a:lnSpc>
                <a:spcPct val="95000"/>
              </a:lnSpc>
              <a:spcBef>
                <a:spcPts val="1000"/>
              </a:spcBef>
              <a:spcAft>
                <a:spcPts val="0"/>
              </a:spcAft>
              <a:buSzPts val="1450"/>
              <a:buNone/>
            </a:pPr>
            <a:r>
              <a:t/>
            </a:r>
            <a:endParaRPr b="1" sz="2500">
              <a:latin typeface="Times New Roman"/>
              <a:ea typeface="Times New Roman"/>
              <a:cs typeface="Times New Roman"/>
              <a:sym typeface="Times New Roman"/>
            </a:endParaRPr>
          </a:p>
        </p:txBody>
      </p:sp>
      <p:pic>
        <p:nvPicPr>
          <p:cNvPr id="587" name="Google Shape;587;p11"/>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sp>
        <p:nvSpPr>
          <p:cNvPr id="588" name="Google Shape;588;p11"/>
          <p:cNvSpPr txBox="1"/>
          <p:nvPr/>
        </p:nvSpPr>
        <p:spPr>
          <a:xfrm>
            <a:off x="916411" y="2196458"/>
            <a:ext cx="7900418" cy="3911715"/>
          </a:xfrm>
          <a:prstGeom prst="rect">
            <a:avLst/>
          </a:prstGeom>
          <a:noFill/>
          <a:ln>
            <a:noFill/>
          </a:ln>
        </p:spPr>
        <p:txBody>
          <a:bodyPr anchorCtr="0" anchor="t" bIns="45700" lIns="91425" spcFirstLastPara="1" rIns="91425" wrap="square" tIns="45700">
            <a:noAutofit/>
          </a:bodyPr>
          <a:lstStyle/>
          <a:p>
            <a:pPr indent="-285750" lvl="0" marL="285750" marR="0" rtl="0" algn="l">
              <a:lnSpc>
                <a:spcPct val="100000"/>
              </a:lnSpc>
              <a:spcBef>
                <a:spcPts val="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High Burden of Cardiovascular Diseases</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Heart disease is the leading cause of death worldwide, accounting for 17.9 million deaths annually. [15]</a:t>
            </a:r>
            <a:endParaRPr/>
          </a:p>
          <a:p>
            <a:pPr indent="-285750" lvl="0" marL="285750" marR="0" rtl="0" algn="l">
              <a:lnSpc>
                <a:spcPct val="100000"/>
              </a:lnSpc>
              <a:spcBef>
                <a:spcPts val="120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Limitations of Existing Methods</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Current diagnostic tools (ECG, angiography, imaging) are expensive, invasive, time-consuming, and not always accessible in rural or low-resource settings. [16]</a:t>
            </a:r>
            <a:endParaRPr/>
          </a:p>
          <a:p>
            <a:pPr indent="-285750" lvl="0" marL="285750" marR="0" rtl="0" algn="l">
              <a:lnSpc>
                <a:spcPct val="100000"/>
              </a:lnSpc>
              <a:spcBef>
                <a:spcPts val="120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Need for Early &amp; Accurate Prediction</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Traditional risk scores (like Framingham) rely on limited variables and fail to capture the complexity of real patient data, leading to delayed interventions.</a:t>
            </a:r>
            <a:endParaRPr/>
          </a:p>
          <a:p>
            <a:pPr indent="-285750" lvl="0" marL="285750" marR="0" rtl="0" algn="l">
              <a:lnSpc>
                <a:spcPct val="100000"/>
              </a:lnSpc>
              <a:spcBef>
                <a:spcPts val="1200"/>
              </a:spcBef>
              <a:spcAft>
                <a:spcPts val="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Role of Machine Learning</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ML can analyze diverse health factors (age, BP, cholesterol, lifestyle) and uncover hidden patterns that doctors may miss.</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It offers fast, low-cost, and scalable predictions that empower healthcare providers.</a:t>
            </a:r>
            <a:endParaRPr/>
          </a:p>
          <a:p>
            <a:pPr indent="-285750" lvl="0" marL="285750" marR="0" rtl="0" algn="l">
              <a:lnSpc>
                <a:spcPct val="100000"/>
              </a:lnSpc>
              <a:spcBef>
                <a:spcPts val="1200"/>
              </a:spcBef>
              <a:spcAft>
                <a:spcPts val="1200"/>
              </a:spcAft>
              <a:buClr>
                <a:schemeClr val="dk1"/>
              </a:buClr>
              <a:buSzPts val="1400"/>
              <a:buFont typeface="Noto Sans Symbols"/>
              <a:buChar char="❖"/>
            </a:pPr>
            <a:r>
              <a:rPr b="1" i="0" lang="en-US" sz="1400" u="none" cap="none" strike="noStrike">
                <a:solidFill>
                  <a:schemeClr val="dk1"/>
                </a:solidFill>
                <a:latin typeface="Times New Roman"/>
                <a:ea typeface="Times New Roman"/>
                <a:cs typeface="Times New Roman"/>
                <a:sym typeface="Times New Roman"/>
              </a:rPr>
              <a:t>Our Aim</a:t>
            </a:r>
            <a:br>
              <a:rPr b="0" i="0" lang="en-US" sz="1400" u="none" cap="none" strike="noStrike">
                <a:solidFill>
                  <a:schemeClr val="dk1"/>
                </a:solidFill>
                <a:latin typeface="Times New Roman"/>
                <a:ea typeface="Times New Roman"/>
                <a:cs typeface="Times New Roman"/>
                <a:sym typeface="Times New Roman"/>
              </a:rPr>
            </a:br>
            <a:r>
              <a:rPr b="0" i="0" lang="en-US" sz="1400" u="none" cap="none" strike="noStrike">
                <a:solidFill>
                  <a:schemeClr val="dk1"/>
                </a:solidFill>
                <a:latin typeface="Times New Roman"/>
                <a:ea typeface="Times New Roman"/>
                <a:cs typeface="Times New Roman"/>
                <a:sym typeface="Times New Roman"/>
              </a:rPr>
              <a:t>To develop a reliable, data-efficient, and generalizable prediction model that supports early diagnosis, preventive care, and better decision-making.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9e1144912c_0_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595" name="Google Shape;595;g39e1144912c_0_0"/>
          <p:cNvSpPr txBox="1"/>
          <p:nvPr>
            <p:ph idx="1" type="body"/>
          </p:nvPr>
        </p:nvSpPr>
        <p:spPr>
          <a:xfrm>
            <a:off x="804950" y="0"/>
            <a:ext cx="8161800" cy="622200"/>
          </a:xfrm>
          <a:prstGeom prst="rect">
            <a:avLst/>
          </a:prstGeom>
          <a:noFill/>
          <a:ln>
            <a:noFill/>
          </a:ln>
        </p:spPr>
        <p:txBody>
          <a:bodyPr anchorCtr="0" anchor="t" bIns="45700" lIns="91425" spcFirstLastPara="1" rIns="91425" wrap="square" tIns="45700">
            <a:noAutofit/>
          </a:bodyPr>
          <a:lstStyle/>
          <a:p>
            <a:pPr indent="0" lvl="0" marL="0" rtl="0" algn="ctr">
              <a:lnSpc>
                <a:spcPct val="95000"/>
              </a:lnSpc>
              <a:spcBef>
                <a:spcPts val="1000"/>
              </a:spcBef>
              <a:spcAft>
                <a:spcPts val="0"/>
              </a:spcAft>
              <a:buSzPts val="1450"/>
              <a:buNone/>
            </a:pPr>
            <a:r>
              <a:rPr b="1" lang="en-US" sz="2500">
                <a:latin typeface="Times New Roman"/>
                <a:ea typeface="Times New Roman"/>
                <a:cs typeface="Times New Roman"/>
                <a:sym typeface="Times New Roman"/>
              </a:rPr>
              <a:t>High Level Design</a:t>
            </a:r>
            <a:endParaRPr b="1" sz="2500">
              <a:latin typeface="Times New Roman"/>
              <a:ea typeface="Times New Roman"/>
              <a:cs typeface="Times New Roman"/>
              <a:sym typeface="Times New Roman"/>
            </a:endParaRPr>
          </a:p>
        </p:txBody>
      </p:sp>
      <p:pic>
        <p:nvPicPr>
          <p:cNvPr id="596" name="Google Shape;596;g39e1144912c_0_0"/>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pic>
        <p:nvPicPr>
          <p:cNvPr id="597" name="Google Shape;597;g39e1144912c_0_0"/>
          <p:cNvPicPr preferRelativeResize="0"/>
          <p:nvPr/>
        </p:nvPicPr>
        <p:blipFill>
          <a:blip r:embed="rId4">
            <a:alphaModFix/>
          </a:blip>
          <a:stretch>
            <a:fillRect/>
          </a:stretch>
        </p:blipFill>
        <p:spPr>
          <a:xfrm>
            <a:off x="1084925" y="1323762"/>
            <a:ext cx="7601838" cy="42104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9e1144912c_0_177"/>
          <p:cNvSpPr txBox="1"/>
          <p:nvPr>
            <p:ph idx="1" type="body"/>
          </p:nvPr>
        </p:nvSpPr>
        <p:spPr>
          <a:xfrm>
            <a:off x="982823" y="1182882"/>
            <a:ext cx="7441500" cy="438900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1800"/>
              </a:spcBef>
              <a:spcAft>
                <a:spcPts val="0"/>
              </a:spcAft>
              <a:buClr>
                <a:srgbClr val="1F1F1F"/>
              </a:buClr>
              <a:buSzPts val="1400"/>
              <a:buFont typeface="Times New Roman"/>
              <a:buAutoNum type="arabicParenR"/>
            </a:pPr>
            <a:r>
              <a:rPr b="1" lang="en-US" sz="1400">
                <a:latin typeface="Times New Roman"/>
                <a:ea typeface="Times New Roman"/>
                <a:cs typeface="Times New Roman"/>
                <a:sym typeface="Times New Roman"/>
              </a:rPr>
              <a:t>Data Source and Ingestion</a:t>
            </a:r>
            <a:endParaRPr b="1"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Input: Dataset from the UCI Machine Learning Repository (processed.cleveland.data).</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Format: CSV file without headers.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Process: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Load dataset using pandas.read_csv().</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Assign feature names for clarity and preprocessing.</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Convert the target column so that all non-zero entries become 1 (indicating presence of heart disease).</a:t>
            </a:r>
            <a:endParaRPr sz="1400">
              <a:latin typeface="Times New Roman"/>
              <a:ea typeface="Times New Roman"/>
              <a:cs typeface="Times New Roman"/>
              <a:sym typeface="Times New Roman"/>
            </a:endParaRPr>
          </a:p>
          <a:p>
            <a:pPr indent="0" lvl="0" marL="0" rtl="0" algn="l">
              <a:lnSpc>
                <a:spcPct val="115000"/>
              </a:lnSpc>
              <a:spcBef>
                <a:spcPts val="1800"/>
              </a:spcBef>
              <a:spcAft>
                <a:spcPts val="0"/>
              </a:spcAft>
              <a:buNone/>
            </a:pPr>
            <a:r>
              <a:rPr b="1" lang="en-US" sz="1400">
                <a:latin typeface="Times New Roman"/>
                <a:ea typeface="Times New Roman"/>
                <a:cs typeface="Times New Roman"/>
                <a:sym typeface="Times New Roman"/>
              </a:rPr>
              <a:t>2. Data Preprocessing</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Objectives: Clean, transform, and prepare data for modeling.</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Steps: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AutoNum type="arabicPeriod"/>
            </a:pPr>
            <a:r>
              <a:rPr lang="en-US" sz="1400">
                <a:latin typeface="Times New Roman"/>
                <a:ea typeface="Times New Roman"/>
                <a:cs typeface="Times New Roman"/>
                <a:sym typeface="Times New Roman"/>
              </a:rPr>
              <a:t>Missing Value Handling</a:t>
            </a:r>
            <a:endParaRPr sz="1400">
              <a:latin typeface="Times New Roman"/>
              <a:ea typeface="Times New Roman"/>
              <a:cs typeface="Times New Roman"/>
              <a:sym typeface="Times New Roman"/>
            </a:endParaRPr>
          </a:p>
          <a:p>
            <a:pPr indent="-317500" lvl="2" marL="13716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Replace '?' symbols with np.nan.</a:t>
            </a:r>
            <a:endParaRPr sz="1400">
              <a:latin typeface="Times New Roman"/>
              <a:ea typeface="Times New Roman"/>
              <a:cs typeface="Times New Roman"/>
              <a:sym typeface="Times New Roman"/>
            </a:endParaRPr>
          </a:p>
          <a:p>
            <a:pPr indent="-317500" lvl="2" marL="13716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Convert categorical columns (ca and thal) to numeric types.</a:t>
            </a:r>
            <a:endParaRPr sz="1400">
              <a:latin typeface="Times New Roman"/>
              <a:ea typeface="Times New Roman"/>
              <a:cs typeface="Times New Roman"/>
              <a:sym typeface="Times New Roman"/>
            </a:endParaRPr>
          </a:p>
          <a:p>
            <a:pPr indent="-317500" lvl="2" marL="13716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Fill missing values in these columns with their respective mode values.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AutoNum type="arabicPeriod"/>
            </a:pPr>
            <a:r>
              <a:rPr lang="en-US" sz="1400">
                <a:latin typeface="Times New Roman"/>
                <a:ea typeface="Times New Roman"/>
                <a:cs typeface="Times New Roman"/>
                <a:sym typeface="Times New Roman"/>
              </a:rPr>
              <a:t>Data Type Conversion</a:t>
            </a:r>
            <a:endParaRPr sz="1400">
              <a:latin typeface="Times New Roman"/>
              <a:ea typeface="Times New Roman"/>
              <a:cs typeface="Times New Roman"/>
              <a:sym typeface="Times New Roman"/>
            </a:endParaRPr>
          </a:p>
          <a:p>
            <a:pPr indent="-317500" lvl="2" marL="13716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Ensure all columns are numeric to avoid type errors during model training.</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AutoNum type="arabicPeriod"/>
            </a:pPr>
            <a:r>
              <a:rPr lang="en-US" sz="1400">
                <a:latin typeface="Times New Roman"/>
                <a:ea typeface="Times New Roman"/>
                <a:cs typeface="Times New Roman"/>
                <a:sym typeface="Times New Roman"/>
              </a:rPr>
              <a:t>Feature Transformation</a:t>
            </a:r>
            <a:endParaRPr sz="1400">
              <a:latin typeface="Times New Roman"/>
              <a:ea typeface="Times New Roman"/>
              <a:cs typeface="Times New Roman"/>
              <a:sym typeface="Times New Roman"/>
            </a:endParaRPr>
          </a:p>
          <a:p>
            <a:pPr indent="-317500" lvl="2" marL="13716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Binary encode target into 0 (no disease) and 1 (disease).</a:t>
            </a:r>
            <a:endParaRPr sz="1400">
              <a:latin typeface="Times New Roman"/>
              <a:ea typeface="Times New Roman"/>
              <a:cs typeface="Times New Roman"/>
              <a:sym typeface="Times New Roman"/>
            </a:endParaRPr>
          </a:p>
          <a:p>
            <a:pPr indent="0" lvl="0" marL="0" rtl="0" algn="just">
              <a:lnSpc>
                <a:spcPct val="115000"/>
              </a:lnSpc>
              <a:spcBef>
                <a:spcPts val="1800"/>
              </a:spcBef>
              <a:spcAft>
                <a:spcPts val="0"/>
              </a:spcAft>
              <a:buNone/>
            </a:pPr>
            <a:r>
              <a:t/>
            </a:r>
            <a:endParaRPr sz="1400">
              <a:latin typeface="Times New Roman"/>
              <a:ea typeface="Times New Roman"/>
              <a:cs typeface="Times New Roman"/>
              <a:sym typeface="Times New Roman"/>
            </a:endParaRPr>
          </a:p>
          <a:p>
            <a:pPr indent="-195580" lvl="0" marL="342900" rtl="0" algn="l">
              <a:lnSpc>
                <a:spcPct val="50000"/>
              </a:lnSpc>
              <a:spcBef>
                <a:spcPts val="2000"/>
              </a:spcBef>
              <a:spcAft>
                <a:spcPts val="0"/>
              </a:spcAft>
              <a:buSzPts val="2320"/>
              <a:buNone/>
            </a:pPr>
            <a:r>
              <a:t/>
            </a:r>
            <a:endParaRPr sz="1400"/>
          </a:p>
          <a:p>
            <a:pPr indent="-195580" lvl="0" marL="342900" rtl="0" algn="l">
              <a:lnSpc>
                <a:spcPct val="115000"/>
              </a:lnSpc>
              <a:spcBef>
                <a:spcPts val="2000"/>
              </a:spcBef>
              <a:spcAft>
                <a:spcPts val="0"/>
              </a:spcAft>
              <a:buSzPts val="2320"/>
              <a:buNone/>
            </a:pPr>
            <a:r>
              <a:t/>
            </a:r>
            <a:endParaRPr sz="1400"/>
          </a:p>
          <a:p>
            <a:pPr indent="-195580" lvl="0" marL="342900" rtl="0" algn="l">
              <a:lnSpc>
                <a:spcPct val="115000"/>
              </a:lnSpc>
              <a:spcBef>
                <a:spcPts val="2000"/>
              </a:spcBef>
              <a:spcAft>
                <a:spcPts val="0"/>
              </a:spcAft>
              <a:buSzPts val="2320"/>
              <a:buNone/>
            </a:pPr>
            <a:r>
              <a:t/>
            </a:r>
            <a:endParaRPr sz="1400"/>
          </a:p>
          <a:p>
            <a:pPr indent="-195580" lvl="0" marL="342900" rtl="0" algn="l">
              <a:lnSpc>
                <a:spcPct val="115000"/>
              </a:lnSpc>
              <a:spcBef>
                <a:spcPts val="2000"/>
              </a:spcBef>
              <a:spcAft>
                <a:spcPts val="1000"/>
              </a:spcAft>
              <a:buSzPts val="2320"/>
              <a:buNone/>
            </a:pPr>
            <a:r>
              <a:t/>
            </a:r>
            <a:endParaRPr sz="1400">
              <a:latin typeface="Times New Roman"/>
              <a:ea typeface="Times New Roman"/>
              <a:cs typeface="Times New Roman"/>
              <a:sym typeface="Times New Roman"/>
            </a:endParaRPr>
          </a:p>
        </p:txBody>
      </p:sp>
      <p:sp>
        <p:nvSpPr>
          <p:cNvPr id="607" name="Google Shape;607;g39e1144912c_0_177"/>
          <p:cNvSpPr txBox="1"/>
          <p:nvPr>
            <p:ph type="title"/>
          </p:nvPr>
        </p:nvSpPr>
        <p:spPr>
          <a:xfrm>
            <a:off x="719675" y="281351"/>
            <a:ext cx="7037400" cy="5061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1000"/>
              </a:spcBef>
              <a:spcAft>
                <a:spcPts val="0"/>
              </a:spcAft>
              <a:buClr>
                <a:schemeClr val="dk1"/>
              </a:buClr>
              <a:buSzPts val="1450"/>
              <a:buFont typeface="Arial"/>
              <a:buNone/>
            </a:pPr>
            <a:r>
              <a:rPr b="1" lang="en-US" sz="1800">
                <a:latin typeface="Times New Roman"/>
                <a:ea typeface="Times New Roman"/>
                <a:cs typeface="Times New Roman"/>
                <a:sym typeface="Times New Roman"/>
              </a:rPr>
              <a:t>Detailed Design</a:t>
            </a:r>
            <a:endParaRPr b="1" sz="1800">
              <a:latin typeface="Times New Roman"/>
              <a:ea typeface="Times New Roman"/>
              <a:cs typeface="Times New Roman"/>
              <a:sym typeface="Times New Roman"/>
            </a:endParaRPr>
          </a:p>
          <a:p>
            <a:pPr indent="0" lvl="0" marL="0" rtl="0" algn="ctr">
              <a:spcBef>
                <a:spcPts val="0"/>
              </a:spcBef>
              <a:spcAft>
                <a:spcPts val="0"/>
              </a:spcAft>
              <a:buClr>
                <a:schemeClr val="dk1"/>
              </a:buClr>
              <a:buSzPts val="4889"/>
              <a:buFont typeface="Corbel"/>
              <a:buNone/>
            </a:pPr>
            <a:r>
              <a:t/>
            </a:r>
            <a:endParaRPr b="1" sz="1800"/>
          </a:p>
        </p:txBody>
      </p:sp>
      <p:sp>
        <p:nvSpPr>
          <p:cNvPr id="608" name="Google Shape;608;g39e1144912c_0_177"/>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09" name="Google Shape;609;g39e1144912c_0_177"/>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9e1144912c_0_327"/>
          <p:cNvSpPr txBox="1"/>
          <p:nvPr>
            <p:ph idx="1" type="body"/>
          </p:nvPr>
        </p:nvSpPr>
        <p:spPr>
          <a:xfrm>
            <a:off x="982823" y="1409082"/>
            <a:ext cx="7441500" cy="4389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3. Exploratory Data Analysis (EDA)</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Goal: Understand class distribution and feature correlations.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Steps: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Create count plots for target to visualize class balance.</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Generate a correlation matrix using df.corr().</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Plot a heatmap to identify highly correlated features that impact model performance.</a:t>
            </a:r>
            <a:endParaRPr sz="1400">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4. Data Splitting</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Roboto"/>
              <a:buChar char="●"/>
            </a:pPr>
            <a:r>
              <a:rPr lang="en-US" sz="1400">
                <a:latin typeface="Times New Roman"/>
                <a:ea typeface="Times New Roman"/>
                <a:cs typeface="Times New Roman"/>
                <a:sym typeface="Times New Roman"/>
              </a:rPr>
              <a:t>Tool: train_test_split from scikit-learn.</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Parameters: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Test size: 20%</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Stratified Splitting: Ensures class balance in train and test sets.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Random state: 42 for reproducibility.</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Output:</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X_train, X_test, y_train, y_test</a:t>
            </a:r>
            <a:endParaRPr sz="1400">
              <a:latin typeface="Times New Roman"/>
              <a:ea typeface="Times New Roman"/>
              <a:cs typeface="Times New Roman"/>
              <a:sym typeface="Times New Roman"/>
            </a:endParaRPr>
          </a:p>
          <a:p>
            <a:pPr indent="-195580" lvl="0" marL="342900" rtl="0" algn="l">
              <a:lnSpc>
                <a:spcPct val="115000"/>
              </a:lnSpc>
              <a:spcBef>
                <a:spcPts val="2000"/>
              </a:spcBef>
              <a:spcAft>
                <a:spcPts val="1000"/>
              </a:spcAft>
              <a:buSzPts val="2320"/>
              <a:buNone/>
            </a:pPr>
            <a:r>
              <a:t/>
            </a:r>
            <a:endParaRPr b="1" sz="1400">
              <a:latin typeface="Times New Roman"/>
              <a:ea typeface="Times New Roman"/>
              <a:cs typeface="Times New Roman"/>
              <a:sym typeface="Times New Roman"/>
            </a:endParaRPr>
          </a:p>
        </p:txBody>
      </p:sp>
      <p:sp>
        <p:nvSpPr>
          <p:cNvPr id="619" name="Google Shape;619;g39e1144912c_0_327"/>
          <p:cNvSpPr txBox="1"/>
          <p:nvPr>
            <p:ph type="title"/>
          </p:nvPr>
        </p:nvSpPr>
        <p:spPr>
          <a:xfrm>
            <a:off x="719675" y="281351"/>
            <a:ext cx="7037400" cy="5061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1000"/>
              </a:spcBef>
              <a:spcAft>
                <a:spcPts val="0"/>
              </a:spcAft>
              <a:buClr>
                <a:schemeClr val="dk1"/>
              </a:buClr>
              <a:buSzPts val="1450"/>
              <a:buFont typeface="Arial"/>
              <a:buNone/>
            </a:pPr>
            <a:r>
              <a:rPr b="1" lang="en-US" sz="1800">
                <a:latin typeface="Times New Roman"/>
                <a:ea typeface="Times New Roman"/>
                <a:cs typeface="Times New Roman"/>
                <a:sym typeface="Times New Roman"/>
              </a:rPr>
              <a:t>Detailed Design</a:t>
            </a:r>
            <a:endParaRPr b="1" sz="1800">
              <a:latin typeface="Times New Roman"/>
              <a:ea typeface="Times New Roman"/>
              <a:cs typeface="Times New Roman"/>
              <a:sym typeface="Times New Roman"/>
            </a:endParaRPr>
          </a:p>
          <a:p>
            <a:pPr indent="0" lvl="0" marL="0" rtl="0" algn="ctr">
              <a:spcBef>
                <a:spcPts val="0"/>
              </a:spcBef>
              <a:spcAft>
                <a:spcPts val="0"/>
              </a:spcAft>
              <a:buClr>
                <a:schemeClr val="dk1"/>
              </a:buClr>
              <a:buSzPts val="4889"/>
              <a:buFont typeface="Corbel"/>
              <a:buNone/>
            </a:pPr>
            <a:r>
              <a:t/>
            </a:r>
            <a:endParaRPr b="1" sz="1800"/>
          </a:p>
        </p:txBody>
      </p:sp>
      <p:sp>
        <p:nvSpPr>
          <p:cNvPr id="620" name="Google Shape;620;g39e1144912c_0_327"/>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21" name="Google Shape;621;g39e1144912c_0_327"/>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9e1144912c_0_339"/>
          <p:cNvSpPr txBox="1"/>
          <p:nvPr>
            <p:ph idx="1" type="body"/>
          </p:nvPr>
        </p:nvSpPr>
        <p:spPr>
          <a:xfrm>
            <a:off x="982823" y="1409082"/>
            <a:ext cx="7441500" cy="4389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5. Feature Scaling</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Purpose: Normalize feature distributions to improve model performance.</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Process: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Initialize StandardScaler.</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Fit and transform X_train to standard scale (mean 0, std 1).</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Apply same scaler on X_test for consistent scaling.</a:t>
            </a:r>
            <a:endParaRPr sz="1400">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6. Model Training</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Roboto"/>
              <a:buChar char="●"/>
            </a:pPr>
            <a:r>
              <a:rPr lang="en-US" sz="1400">
                <a:latin typeface="Times New Roman"/>
                <a:ea typeface="Times New Roman"/>
                <a:cs typeface="Times New Roman"/>
                <a:sym typeface="Times New Roman"/>
              </a:rPr>
              <a:t>Algorithm: Random Forest Classifier (RandomForestClassifier)</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Configuration:</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n_estimators = 200 (number of trees)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random_state = 42 for reproducibility.</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Training:</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Fit the model using X_train_scaled and y_train.</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The model learns decision boundaries from ensemble-based tree voting.</a:t>
            </a:r>
            <a:endParaRPr sz="1400">
              <a:latin typeface="Times New Roman"/>
              <a:ea typeface="Times New Roman"/>
              <a:cs typeface="Times New Roman"/>
              <a:sym typeface="Times New Roman"/>
            </a:endParaRPr>
          </a:p>
          <a:p>
            <a:pPr indent="-195580" lvl="0" marL="342900" rtl="0" algn="l">
              <a:lnSpc>
                <a:spcPct val="115000"/>
              </a:lnSpc>
              <a:spcBef>
                <a:spcPts val="2000"/>
              </a:spcBef>
              <a:spcAft>
                <a:spcPts val="1000"/>
              </a:spcAft>
              <a:buSzPts val="2320"/>
              <a:buNone/>
            </a:pPr>
            <a:r>
              <a:t/>
            </a:r>
            <a:endParaRPr sz="1400">
              <a:latin typeface="Times New Roman"/>
              <a:ea typeface="Times New Roman"/>
              <a:cs typeface="Times New Roman"/>
              <a:sym typeface="Times New Roman"/>
            </a:endParaRPr>
          </a:p>
        </p:txBody>
      </p:sp>
      <p:sp>
        <p:nvSpPr>
          <p:cNvPr id="631" name="Google Shape;631;g39e1144912c_0_339"/>
          <p:cNvSpPr txBox="1"/>
          <p:nvPr>
            <p:ph type="title"/>
          </p:nvPr>
        </p:nvSpPr>
        <p:spPr>
          <a:xfrm>
            <a:off x="719675" y="281351"/>
            <a:ext cx="7037400" cy="5061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1000"/>
              </a:spcBef>
              <a:spcAft>
                <a:spcPts val="0"/>
              </a:spcAft>
              <a:buClr>
                <a:schemeClr val="dk1"/>
              </a:buClr>
              <a:buSzPts val="1450"/>
              <a:buFont typeface="Arial"/>
              <a:buNone/>
            </a:pPr>
            <a:r>
              <a:rPr b="1" lang="en-US" sz="1800">
                <a:latin typeface="Times New Roman"/>
                <a:ea typeface="Times New Roman"/>
                <a:cs typeface="Times New Roman"/>
                <a:sym typeface="Times New Roman"/>
              </a:rPr>
              <a:t>Detailed Design</a:t>
            </a:r>
            <a:endParaRPr b="1" sz="1800">
              <a:latin typeface="Times New Roman"/>
              <a:ea typeface="Times New Roman"/>
              <a:cs typeface="Times New Roman"/>
              <a:sym typeface="Times New Roman"/>
            </a:endParaRPr>
          </a:p>
          <a:p>
            <a:pPr indent="0" lvl="0" marL="0" rtl="0" algn="ctr">
              <a:spcBef>
                <a:spcPts val="0"/>
              </a:spcBef>
              <a:spcAft>
                <a:spcPts val="0"/>
              </a:spcAft>
              <a:buClr>
                <a:schemeClr val="dk1"/>
              </a:buClr>
              <a:buSzPts val="4889"/>
              <a:buFont typeface="Corbel"/>
              <a:buNone/>
            </a:pPr>
            <a:r>
              <a:t/>
            </a:r>
            <a:endParaRPr b="1" sz="1800"/>
          </a:p>
        </p:txBody>
      </p:sp>
      <p:sp>
        <p:nvSpPr>
          <p:cNvPr id="632" name="Google Shape;632;g39e1144912c_0_339"/>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33" name="Google Shape;633;g39e1144912c_0_339"/>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9e1144912c_0_350"/>
          <p:cNvSpPr txBox="1"/>
          <p:nvPr>
            <p:ph type="title"/>
          </p:nvPr>
        </p:nvSpPr>
        <p:spPr>
          <a:xfrm>
            <a:off x="719675" y="281351"/>
            <a:ext cx="7037400" cy="5061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1000"/>
              </a:spcBef>
              <a:spcAft>
                <a:spcPts val="0"/>
              </a:spcAft>
              <a:buClr>
                <a:schemeClr val="dk1"/>
              </a:buClr>
              <a:buSzPts val="1450"/>
              <a:buFont typeface="Arial"/>
              <a:buNone/>
            </a:pPr>
            <a:r>
              <a:rPr b="1" lang="en-US" sz="1800">
                <a:latin typeface="Times New Roman"/>
                <a:ea typeface="Times New Roman"/>
                <a:cs typeface="Times New Roman"/>
                <a:sym typeface="Times New Roman"/>
              </a:rPr>
              <a:t>Detailed Design</a:t>
            </a:r>
            <a:endParaRPr b="1" sz="1800">
              <a:latin typeface="Times New Roman"/>
              <a:ea typeface="Times New Roman"/>
              <a:cs typeface="Times New Roman"/>
              <a:sym typeface="Times New Roman"/>
            </a:endParaRPr>
          </a:p>
          <a:p>
            <a:pPr indent="0" lvl="0" marL="0" rtl="0" algn="ctr">
              <a:spcBef>
                <a:spcPts val="0"/>
              </a:spcBef>
              <a:spcAft>
                <a:spcPts val="0"/>
              </a:spcAft>
              <a:buClr>
                <a:schemeClr val="dk1"/>
              </a:buClr>
              <a:buSzPts val="4889"/>
              <a:buFont typeface="Corbel"/>
              <a:buNone/>
            </a:pPr>
            <a:r>
              <a:t/>
            </a:r>
            <a:endParaRPr b="1" sz="1800"/>
          </a:p>
        </p:txBody>
      </p:sp>
      <p:sp>
        <p:nvSpPr>
          <p:cNvPr id="643" name="Google Shape;643;g39e1144912c_0_35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44" name="Google Shape;644;g39e1144912c_0_350"/>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645" name="Google Shape;645;g39e1144912c_0_350"/>
          <p:cNvSpPr txBox="1"/>
          <p:nvPr>
            <p:ph idx="1" type="body"/>
          </p:nvPr>
        </p:nvSpPr>
        <p:spPr>
          <a:xfrm>
            <a:off x="982823" y="1409082"/>
            <a:ext cx="7441500" cy="4389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7. Model Evaluation</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Metrics: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Accuracy Score: accuracy_score(y_test, y_pred)</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Confusion Matrix: Visual validation of true and false predictions.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Classification Report: Precision, recall, f1-score for each class.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Objective: Measure predictive quality and model balance on unseen data.</a:t>
            </a:r>
            <a:endParaRPr sz="1400">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8. Model Persistence</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Purpose: Save trained artifacts for reuse or deployment.</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Library: joblib</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Artifacts: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heart_model.pkl – Serialized trained Random Forest model.</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Roboto"/>
              <a:buChar char="●"/>
            </a:pPr>
            <a:r>
              <a:rPr lang="en-US" sz="1400">
                <a:latin typeface="Times New Roman"/>
                <a:ea typeface="Times New Roman"/>
                <a:cs typeface="Times New Roman"/>
                <a:sym typeface="Times New Roman"/>
              </a:rPr>
              <a:t>scaler.pkl – Serialized StandardScaler for consistent feature scaling.</a:t>
            </a:r>
            <a:endParaRPr sz="1400">
              <a:latin typeface="Times New Roman"/>
              <a:ea typeface="Times New Roman"/>
              <a:cs typeface="Times New Roman"/>
              <a:sym typeface="Times New Roman"/>
            </a:endParaRPr>
          </a:p>
          <a:p>
            <a:pPr indent="-195580" lvl="0" marL="342900" rtl="0" algn="l">
              <a:lnSpc>
                <a:spcPct val="115000"/>
              </a:lnSpc>
              <a:spcBef>
                <a:spcPts val="2000"/>
              </a:spcBef>
              <a:spcAft>
                <a:spcPts val="1000"/>
              </a:spcAft>
              <a:buSzPts val="2320"/>
              <a:buNone/>
            </a:pPr>
            <a:r>
              <a:t/>
            </a:r>
            <a:endParaRPr b="1" sz="14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g39e1144912c_0_361"/>
          <p:cNvSpPr txBox="1"/>
          <p:nvPr>
            <p:ph type="title"/>
          </p:nvPr>
        </p:nvSpPr>
        <p:spPr>
          <a:xfrm>
            <a:off x="719675" y="281351"/>
            <a:ext cx="7037400" cy="506100"/>
          </a:xfrm>
          <a:prstGeom prst="rect">
            <a:avLst/>
          </a:prstGeom>
          <a:noFill/>
          <a:ln>
            <a:noFill/>
          </a:ln>
        </p:spPr>
        <p:txBody>
          <a:bodyPr anchorCtr="0" anchor="ctr" bIns="45700" lIns="91425" spcFirstLastPara="1" rIns="91425" wrap="square" tIns="45700">
            <a:noAutofit/>
          </a:bodyPr>
          <a:lstStyle/>
          <a:p>
            <a:pPr indent="0" lvl="0" marL="0" rtl="0" algn="ctr">
              <a:lnSpc>
                <a:spcPct val="95000"/>
              </a:lnSpc>
              <a:spcBef>
                <a:spcPts val="1000"/>
              </a:spcBef>
              <a:spcAft>
                <a:spcPts val="0"/>
              </a:spcAft>
              <a:buClr>
                <a:schemeClr val="dk1"/>
              </a:buClr>
              <a:buSzPts val="1450"/>
              <a:buFont typeface="Arial"/>
              <a:buNone/>
            </a:pPr>
            <a:r>
              <a:rPr b="1" lang="en-US" sz="1800">
                <a:latin typeface="Times New Roman"/>
                <a:ea typeface="Times New Roman"/>
                <a:cs typeface="Times New Roman"/>
                <a:sym typeface="Times New Roman"/>
              </a:rPr>
              <a:t>Detailed Design</a:t>
            </a:r>
            <a:endParaRPr b="1" sz="1800">
              <a:latin typeface="Times New Roman"/>
              <a:ea typeface="Times New Roman"/>
              <a:cs typeface="Times New Roman"/>
              <a:sym typeface="Times New Roman"/>
            </a:endParaRPr>
          </a:p>
          <a:p>
            <a:pPr indent="0" lvl="0" marL="0" rtl="0" algn="ctr">
              <a:spcBef>
                <a:spcPts val="0"/>
              </a:spcBef>
              <a:spcAft>
                <a:spcPts val="0"/>
              </a:spcAft>
              <a:buClr>
                <a:schemeClr val="dk1"/>
              </a:buClr>
              <a:buSzPts val="4889"/>
              <a:buFont typeface="Corbel"/>
              <a:buNone/>
            </a:pPr>
            <a:r>
              <a:t/>
            </a:r>
            <a:endParaRPr b="1" sz="1800"/>
          </a:p>
        </p:txBody>
      </p:sp>
      <p:sp>
        <p:nvSpPr>
          <p:cNvPr id="655" name="Google Shape;655;g39e1144912c_0_361"/>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56" name="Google Shape;656;g39e1144912c_0_361"/>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657" name="Google Shape;657;g39e1144912c_0_361"/>
          <p:cNvSpPr txBox="1"/>
          <p:nvPr>
            <p:ph idx="1" type="body"/>
          </p:nvPr>
        </p:nvSpPr>
        <p:spPr>
          <a:xfrm>
            <a:off x="982825" y="1409075"/>
            <a:ext cx="7704000" cy="4122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9. Output and Visualization</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Figures: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Target distribution bar plot (disease vs no disease).</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Correlation heatmap to analyze inter-feature relationships.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Reports: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Classification summary printed on console.</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Accuracy displayed as percentage.</a:t>
            </a:r>
            <a:endParaRPr sz="1400">
              <a:latin typeface="Times New Roman"/>
              <a:ea typeface="Times New Roman"/>
              <a:cs typeface="Times New Roman"/>
              <a:sym typeface="Times New Roman"/>
            </a:endParaRPr>
          </a:p>
          <a:p>
            <a:pPr indent="0" lvl="0" marL="0" rtl="0" algn="l">
              <a:lnSpc>
                <a:spcPct val="115000"/>
              </a:lnSpc>
              <a:spcBef>
                <a:spcPts val="1800"/>
              </a:spcBef>
              <a:spcAft>
                <a:spcPts val="0"/>
              </a:spcAft>
              <a:buClr>
                <a:schemeClr val="dk1"/>
              </a:buClr>
              <a:buSzPts val="1100"/>
              <a:buFont typeface="Arial"/>
              <a:buNone/>
            </a:pPr>
            <a:r>
              <a:rPr b="1" lang="en-US" sz="1400">
                <a:latin typeface="Times New Roman"/>
                <a:ea typeface="Times New Roman"/>
                <a:cs typeface="Times New Roman"/>
                <a:sym typeface="Times New Roman"/>
              </a:rPr>
              <a:t>10. Deployment Readiness</a:t>
            </a:r>
            <a:endParaRPr b="1" sz="1400">
              <a:latin typeface="Times New Roman"/>
              <a:ea typeface="Times New Roman"/>
              <a:cs typeface="Times New Roman"/>
              <a:sym typeface="Times New Roman"/>
            </a:endParaRPr>
          </a:p>
          <a:p>
            <a:pPr indent="-317500" lvl="0" marL="457200" rtl="0" algn="l">
              <a:lnSpc>
                <a:spcPct val="115000"/>
              </a:lnSpc>
              <a:spcBef>
                <a:spcPts val="400"/>
              </a:spcBef>
              <a:spcAft>
                <a:spcPts val="0"/>
              </a:spcAft>
              <a:buClr>
                <a:schemeClr val="dk1"/>
              </a:buClr>
              <a:buSzPts val="1400"/>
              <a:buFont typeface="Roboto"/>
              <a:buChar char="●"/>
            </a:pPr>
            <a:r>
              <a:rPr lang="en-US" sz="1400">
                <a:latin typeface="Times New Roman"/>
                <a:ea typeface="Times New Roman"/>
                <a:cs typeface="Times New Roman"/>
                <a:sym typeface="Times New Roman"/>
              </a:rPr>
              <a:t>The saved model (heart_model.pkl) and scaler (scaler.pkl) can later be integrated into:</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A web app (Flask, FastAPI) for real-time predictions.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Batch inference pipelines for bulk patient records.</a:t>
            </a:r>
            <a:endParaRPr sz="1400">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US" sz="1400">
                <a:latin typeface="Times New Roman"/>
                <a:ea typeface="Times New Roman"/>
                <a:cs typeface="Times New Roman"/>
                <a:sym typeface="Times New Roman"/>
              </a:rPr>
              <a:t>Dashboards for medical analytics with visualization tools.</a:t>
            </a:r>
            <a:endParaRPr b="1" sz="140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e44f340ae_1_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67" name="Google Shape;667;g3ae44f340ae_1_0"/>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668" name="Google Shape;668;g3ae44f340ae_1_0"/>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a:t>
            </a:r>
            <a:r>
              <a:rPr b="1" lang="en-US" sz="1800"/>
              <a:t> </a:t>
            </a:r>
            <a:br>
              <a:rPr b="1" lang="en-US" sz="1800"/>
            </a:br>
            <a:r>
              <a:rPr b="1" lang="en-US" sz="1800"/>
              <a:t> </a:t>
            </a:r>
            <a:endParaRPr b="1" sz="1800"/>
          </a:p>
        </p:txBody>
      </p:sp>
      <p:sp>
        <p:nvSpPr>
          <p:cNvPr id="669" name="Google Shape;669;g3ae44f340ae_1_0"/>
          <p:cNvSpPr txBox="1"/>
          <p:nvPr/>
        </p:nvSpPr>
        <p:spPr>
          <a:xfrm>
            <a:off x="1261475" y="1430050"/>
            <a:ext cx="6997500" cy="213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Algorithm used for implementation </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1. Load heart‑disease dataset into Python.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2. Clean, encode, scale features and handle missing values.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3. Split data into train and test sets.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4. Train the dataset into ML model Random Forest.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5. Evaluate models using accuracy, precision, recall, F1‑score, and Confusion Matrix.</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6. Select the best model and save it for heart‑disease risk prediction.</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ae44f340ae_1_15"/>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79" name="Google Shape;679;g3ae44f340ae_1_15"/>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680" name="Google Shape;680;g3ae44f340ae_1_15"/>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681" name="Google Shape;681;g3ae44f340ae_1_15"/>
          <p:cNvSpPr txBox="1"/>
          <p:nvPr/>
        </p:nvSpPr>
        <p:spPr>
          <a:xfrm>
            <a:off x="1261475" y="1430050"/>
            <a:ext cx="6997500" cy="338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Input Dataset Representation</a:t>
            </a:r>
            <a:endParaRPr b="1" sz="150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D={(x1 ,y1),(x2 ,y2),…,(xN,yN)}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Where:</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 xi = [xi1 ,xi2 ,…,xid]is a feature vector with d input attributes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 yi ∈{0,1} is the heart disease label (0 = No disease, 1 = Disease)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 For the Cleveland dataset: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 N=303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 d=13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g3ae44f340ae_1_29"/>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691" name="Google Shape;691;g3ae44f340ae_1_29"/>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692" name="Google Shape;692;g3ae44f340ae_1_29"/>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693" name="Google Shape;693;g3ae44f340ae_1_29"/>
          <p:cNvSpPr txBox="1"/>
          <p:nvPr/>
        </p:nvSpPr>
        <p:spPr>
          <a:xfrm>
            <a:off x="1261475" y="1430050"/>
            <a:ext cx="6997500" cy="289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Bootstrap Sampling (Bagging)</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Random Forest creates B different bootstrap datasets:</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Db={(xi ′,yi ′)},b=1,2,…,B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Where each bootstrapped dataset is constructed by sampling from D with replacement: </a:t>
            </a:r>
            <a:endParaRPr>
              <a:solidFill>
                <a:schemeClr val="dk1"/>
              </a:solidFill>
              <a:latin typeface="Times New Roman"/>
              <a:ea typeface="Times New Roman"/>
              <a:cs typeface="Times New Roman"/>
              <a:sym typeface="Times New Roman"/>
            </a:endParaRPr>
          </a:p>
          <a:p>
            <a:pPr indent="457200" lvl="0" marL="9144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xi ′∼D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Typically: B=200 trees in our model.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g3ae44f340ae_1_41"/>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03" name="Google Shape;703;g3ae44f340ae_1_41"/>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04" name="Google Shape;704;g3ae44f340ae_1_41"/>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705" name="Google Shape;705;g3ae44f340ae_1_41"/>
          <p:cNvSpPr txBox="1"/>
          <p:nvPr/>
        </p:nvSpPr>
        <p:spPr>
          <a:xfrm>
            <a:off x="1261475" y="1430050"/>
            <a:ext cx="6997500" cy="338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Random Feature Selection (Feature Subspacing)</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At each node of every decision tree: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Instead of considering all ddd features,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Random Forest selects a subset of m features:</a:t>
            </a:r>
            <a:endParaRPr>
              <a:solidFill>
                <a:schemeClr val="dk1"/>
              </a:solidFill>
              <a:latin typeface="Times New Roman"/>
              <a:ea typeface="Times New Roman"/>
              <a:cs typeface="Times New Roman"/>
              <a:sym typeface="Times New Roman"/>
            </a:endParaRPr>
          </a:p>
          <a:p>
            <a:pPr indent="457200" lvl="0" marL="9144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𝑚 = Sqrt(𝑑) For classification tasks.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So, at each split: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Choose best split only from m randomly selected features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lang="en-US">
                <a:solidFill>
                  <a:schemeClr val="dk1"/>
                </a:solidFill>
                <a:latin typeface="Times New Roman"/>
                <a:ea typeface="Times New Roman"/>
                <a:cs typeface="Times New Roman"/>
                <a:sym typeface="Times New Roman"/>
              </a:rPr>
              <a:t>❖ This reduces correlation between trees → improves model generalization.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g3ae44f340ae_1_53"/>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15" name="Google Shape;715;g3ae44f340ae_1_53"/>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16" name="Google Shape;716;g3ae44f340ae_1_53"/>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717" name="Google Shape;717;g3ae44f340ae_1_53"/>
          <p:cNvSpPr txBox="1"/>
          <p:nvPr/>
        </p:nvSpPr>
        <p:spPr>
          <a:xfrm>
            <a:off x="1261475" y="1430050"/>
            <a:ext cx="6997500" cy="19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Decision Tree Construction</a:t>
            </a:r>
            <a:endParaRPr b="1" sz="15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pic>
        <p:nvPicPr>
          <p:cNvPr id="718" name="Google Shape;718;g3ae44f340ae_1_53"/>
          <p:cNvPicPr preferRelativeResize="0"/>
          <p:nvPr/>
        </p:nvPicPr>
        <p:blipFill>
          <a:blip r:embed="rId4">
            <a:alphaModFix/>
          </a:blip>
          <a:stretch>
            <a:fillRect/>
          </a:stretch>
        </p:blipFill>
        <p:spPr>
          <a:xfrm>
            <a:off x="3137625" y="2479125"/>
            <a:ext cx="2752725" cy="1181100"/>
          </a:xfrm>
          <a:prstGeom prst="rect">
            <a:avLst/>
          </a:prstGeom>
          <a:noFill/>
          <a:ln>
            <a:noFill/>
          </a:ln>
        </p:spPr>
      </p:pic>
      <p:sp>
        <p:nvSpPr>
          <p:cNvPr id="719" name="Google Shape;719;g3ae44f340ae_1_53"/>
          <p:cNvSpPr txBox="1"/>
          <p:nvPr/>
        </p:nvSpPr>
        <p:spPr>
          <a:xfrm>
            <a:off x="2114100" y="4217850"/>
            <a:ext cx="5436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Where: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pk proportion of samples belonging to class k in a node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K = 2 (heart disease vs no disease)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ae44f340ae_1_68"/>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29" name="Google Shape;729;g3ae44f340ae_1_68"/>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30" name="Google Shape;730;g3ae44f340ae_1_68"/>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731" name="Google Shape;731;g3ae44f340ae_1_68"/>
          <p:cNvSpPr txBox="1"/>
          <p:nvPr/>
        </p:nvSpPr>
        <p:spPr>
          <a:xfrm>
            <a:off x="1261475" y="1430050"/>
            <a:ext cx="6997500" cy="19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Decision Tree Construction</a:t>
            </a:r>
            <a:endParaRPr b="1" sz="15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732" name="Google Shape;732;g3ae44f340ae_1_68"/>
          <p:cNvSpPr txBox="1"/>
          <p:nvPr/>
        </p:nvSpPr>
        <p:spPr>
          <a:xfrm>
            <a:off x="2114100" y="4217850"/>
            <a:ext cx="5436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Where: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pk proportion of samples belonging to class k in a node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K = 2 (heart disease vs no disease)</a:t>
            </a:r>
            <a:endParaRPr>
              <a:solidFill>
                <a:schemeClr val="dk1"/>
              </a:solidFill>
              <a:latin typeface="Times New Roman"/>
              <a:ea typeface="Times New Roman"/>
              <a:cs typeface="Times New Roman"/>
              <a:sym typeface="Times New Roman"/>
            </a:endParaRPr>
          </a:p>
        </p:txBody>
      </p:sp>
      <p:pic>
        <p:nvPicPr>
          <p:cNvPr id="733" name="Google Shape;733;g3ae44f340ae_1_68"/>
          <p:cNvPicPr preferRelativeResize="0"/>
          <p:nvPr/>
        </p:nvPicPr>
        <p:blipFill>
          <a:blip r:embed="rId4">
            <a:alphaModFix/>
          </a:blip>
          <a:stretch>
            <a:fillRect/>
          </a:stretch>
        </p:blipFill>
        <p:spPr>
          <a:xfrm>
            <a:off x="2947988" y="2886075"/>
            <a:ext cx="3248025" cy="10858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g3ae44f340ae_1_82"/>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43" name="Google Shape;743;g3ae44f340ae_1_82"/>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44" name="Google Shape;744;g3ae44f340ae_1_82"/>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745" name="Google Shape;745;g3ae44f340ae_1_82"/>
          <p:cNvSpPr txBox="1"/>
          <p:nvPr/>
        </p:nvSpPr>
        <p:spPr>
          <a:xfrm>
            <a:off x="1261475" y="1430050"/>
            <a:ext cx="6997500" cy="190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Decision Tree Construction</a:t>
            </a:r>
            <a:endParaRPr b="1" sz="15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sp>
        <p:nvSpPr>
          <p:cNvPr id="746" name="Google Shape;746;g3ae44f340ae_1_82"/>
          <p:cNvSpPr txBox="1"/>
          <p:nvPr/>
        </p:nvSpPr>
        <p:spPr>
          <a:xfrm>
            <a:off x="2114100" y="4217850"/>
            <a:ext cx="5436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Where: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pk proportion of samples belonging to class k in a node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K = 2 (heart disease vs no disease)</a:t>
            </a:r>
            <a:endParaRPr>
              <a:solidFill>
                <a:schemeClr val="dk1"/>
              </a:solidFill>
              <a:latin typeface="Times New Roman"/>
              <a:ea typeface="Times New Roman"/>
              <a:cs typeface="Times New Roman"/>
              <a:sym typeface="Times New Roman"/>
            </a:endParaRPr>
          </a:p>
        </p:txBody>
      </p:sp>
      <p:pic>
        <p:nvPicPr>
          <p:cNvPr id="747" name="Google Shape;747;g3ae44f340ae_1_82"/>
          <p:cNvPicPr preferRelativeResize="0"/>
          <p:nvPr/>
        </p:nvPicPr>
        <p:blipFill>
          <a:blip r:embed="rId4">
            <a:alphaModFix/>
          </a:blip>
          <a:stretch>
            <a:fillRect/>
          </a:stretch>
        </p:blipFill>
        <p:spPr>
          <a:xfrm>
            <a:off x="2947988" y="2886075"/>
            <a:ext cx="3248025" cy="10858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ae44f340ae_1_95"/>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57" name="Google Shape;757;g3ae44f340ae_1_95"/>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58" name="Google Shape;758;g3ae44f340ae_1_95"/>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Implementation And Mathematical Model </a:t>
            </a:r>
            <a:br>
              <a:rPr b="1" lang="en-US" sz="1800"/>
            </a:br>
            <a:r>
              <a:rPr b="1" lang="en-US" sz="1800"/>
              <a:t> </a:t>
            </a:r>
            <a:endParaRPr b="1" sz="1800"/>
          </a:p>
        </p:txBody>
      </p:sp>
      <p:sp>
        <p:nvSpPr>
          <p:cNvPr id="759" name="Google Shape;759;g3ae44f340ae_1_95"/>
          <p:cNvSpPr txBox="1"/>
          <p:nvPr/>
        </p:nvSpPr>
        <p:spPr>
          <a:xfrm>
            <a:off x="1261475" y="1430050"/>
            <a:ext cx="6997500" cy="214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Times New Roman"/>
                <a:ea typeface="Times New Roman"/>
                <a:cs typeface="Times New Roman"/>
                <a:sym typeface="Times New Roman"/>
              </a:rPr>
              <a:t>Mathematical Model For Random Forest</a:t>
            </a:r>
            <a:endParaRPr b="1"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1600">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rPr b="1" lang="en-US" sz="1500">
                <a:solidFill>
                  <a:schemeClr val="dk1"/>
                </a:solidFill>
                <a:latin typeface="Times New Roman"/>
                <a:ea typeface="Times New Roman"/>
                <a:cs typeface="Times New Roman"/>
                <a:sym typeface="Times New Roman"/>
              </a:rPr>
              <a:t>Optimal Split Selection</a:t>
            </a:r>
            <a:r>
              <a:rPr lang="en-US">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p:txBody>
      </p:sp>
      <p:pic>
        <p:nvPicPr>
          <p:cNvPr id="760" name="Google Shape;760;g3ae44f340ae_1_95"/>
          <p:cNvPicPr preferRelativeResize="0"/>
          <p:nvPr/>
        </p:nvPicPr>
        <p:blipFill rotWithShape="1">
          <a:blip r:embed="rId4">
            <a:alphaModFix/>
          </a:blip>
          <a:srcRect b="12346" l="11801" r="0" t="17463"/>
          <a:stretch/>
        </p:blipFill>
        <p:spPr>
          <a:xfrm>
            <a:off x="2880725" y="2639700"/>
            <a:ext cx="3721500" cy="695350"/>
          </a:xfrm>
          <a:prstGeom prst="rect">
            <a:avLst/>
          </a:prstGeom>
          <a:noFill/>
          <a:ln>
            <a:noFill/>
          </a:ln>
        </p:spPr>
      </p:pic>
      <p:sp>
        <p:nvSpPr>
          <p:cNvPr id="761" name="Google Shape;761;g3ae44f340ae_1_95"/>
          <p:cNvSpPr txBox="1"/>
          <p:nvPr/>
        </p:nvSpPr>
        <p:spPr>
          <a:xfrm>
            <a:off x="2311550" y="3729975"/>
            <a:ext cx="5540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Where: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I(t) = impurity (Gini or Entropy)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tL, tR = left &amp; right child nodes </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a:solidFill>
                  <a:schemeClr val="dk1"/>
                </a:solidFill>
                <a:latin typeface="Times New Roman"/>
                <a:ea typeface="Times New Roman"/>
                <a:cs typeface="Times New Roman"/>
                <a:sym typeface="Times New Roman"/>
              </a:rPr>
              <a:t>❖ NL,NR = number of samples</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e44f340ae_1_110"/>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71" name="Google Shape;771;g3ae44f340ae_1_110"/>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72" name="Google Shape;772;g3ae44f340ae_1_110"/>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Results And Discussion</a:t>
            </a:r>
            <a:endParaRPr b="1" sz="1800"/>
          </a:p>
        </p:txBody>
      </p:sp>
      <p:pic>
        <p:nvPicPr>
          <p:cNvPr id="773" name="Google Shape;773;g3ae44f340ae_1_110"/>
          <p:cNvPicPr preferRelativeResize="0"/>
          <p:nvPr/>
        </p:nvPicPr>
        <p:blipFill rotWithShape="1">
          <a:blip r:embed="rId4">
            <a:alphaModFix/>
          </a:blip>
          <a:srcRect b="-8" l="1994" r="2109" t="10810"/>
          <a:stretch/>
        </p:blipFill>
        <p:spPr>
          <a:xfrm>
            <a:off x="1579750" y="1546200"/>
            <a:ext cx="6772048" cy="3322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e44f340ae_1_124"/>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83" name="Google Shape;783;g3ae44f340ae_1_124"/>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84" name="Google Shape;784;g3ae44f340ae_1_124"/>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Results And Discussion</a:t>
            </a:r>
            <a:endParaRPr b="1" sz="1800"/>
          </a:p>
        </p:txBody>
      </p:sp>
      <p:pic>
        <p:nvPicPr>
          <p:cNvPr id="785" name="Google Shape;785;g3ae44f340ae_1_124"/>
          <p:cNvPicPr preferRelativeResize="0"/>
          <p:nvPr/>
        </p:nvPicPr>
        <p:blipFill rotWithShape="1">
          <a:blip r:embed="rId4">
            <a:alphaModFix/>
          </a:blip>
          <a:srcRect b="-8" l="1994" r="2109" t="10810"/>
          <a:stretch/>
        </p:blipFill>
        <p:spPr>
          <a:xfrm>
            <a:off x="1579750" y="1546200"/>
            <a:ext cx="6772048" cy="3322450"/>
          </a:xfrm>
          <a:prstGeom prst="rect">
            <a:avLst/>
          </a:prstGeom>
          <a:noFill/>
          <a:ln>
            <a:noFill/>
          </a:ln>
        </p:spPr>
      </p:pic>
      <p:pic>
        <p:nvPicPr>
          <p:cNvPr id="786" name="Google Shape;786;g3ae44f340ae_1_124"/>
          <p:cNvPicPr preferRelativeResize="0"/>
          <p:nvPr/>
        </p:nvPicPr>
        <p:blipFill rotWithShape="1">
          <a:blip r:embed="rId5">
            <a:alphaModFix/>
          </a:blip>
          <a:srcRect b="2158" l="1351" r="7349" t="69521"/>
          <a:stretch/>
        </p:blipFill>
        <p:spPr>
          <a:xfrm>
            <a:off x="1579750" y="4868650"/>
            <a:ext cx="6772052" cy="11120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ae44f340ae_1_136"/>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796" name="Google Shape;796;g3ae44f340ae_1_136"/>
          <p:cNvPicPr preferRelativeResize="0"/>
          <p:nvPr/>
        </p:nvPicPr>
        <p:blipFill rotWithShape="1">
          <a:blip r:embed="rId3">
            <a:alphaModFix/>
          </a:blip>
          <a:srcRect b="0" l="0" r="0" t="0"/>
          <a:stretch/>
        </p:blipFill>
        <p:spPr>
          <a:xfrm>
            <a:off x="7960131" y="281354"/>
            <a:ext cx="955269" cy="817621"/>
          </a:xfrm>
          <a:prstGeom prst="rect">
            <a:avLst/>
          </a:prstGeom>
          <a:noFill/>
          <a:ln>
            <a:noFill/>
          </a:ln>
        </p:spPr>
      </p:pic>
      <p:sp>
        <p:nvSpPr>
          <p:cNvPr id="797" name="Google Shape;797;g3ae44f340ae_1_136"/>
          <p:cNvSpPr txBox="1"/>
          <p:nvPr>
            <p:ph type="title"/>
          </p:nvPr>
        </p:nvSpPr>
        <p:spPr>
          <a:xfrm>
            <a:off x="796250" y="145575"/>
            <a:ext cx="7704600" cy="9534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rbel"/>
              <a:buNone/>
            </a:pPr>
            <a:r>
              <a:rPr b="1" lang="en-US" sz="1800"/>
              <a:t>Results And Discussion</a:t>
            </a:r>
            <a:endParaRPr b="1" sz="1800"/>
          </a:p>
        </p:txBody>
      </p:sp>
      <p:pic>
        <p:nvPicPr>
          <p:cNvPr id="798" name="Google Shape;798;g3ae44f340ae_1_136"/>
          <p:cNvPicPr preferRelativeResize="0"/>
          <p:nvPr/>
        </p:nvPicPr>
        <p:blipFill rotWithShape="1">
          <a:blip r:embed="rId4">
            <a:alphaModFix/>
          </a:blip>
          <a:srcRect b="0" l="6546" r="8317" t="33927"/>
          <a:stretch/>
        </p:blipFill>
        <p:spPr>
          <a:xfrm>
            <a:off x="975725" y="1897763"/>
            <a:ext cx="7525124" cy="30624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7"/>
          <p:cNvSpPr txBox="1"/>
          <p:nvPr>
            <p:ph type="title"/>
          </p:nvPr>
        </p:nvSpPr>
        <p:spPr>
          <a:xfrm>
            <a:off x="1473800" y="0"/>
            <a:ext cx="6403200" cy="1338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References</a:t>
            </a:r>
            <a:endParaRPr b="1" sz="2800"/>
          </a:p>
        </p:txBody>
      </p:sp>
      <p:sp>
        <p:nvSpPr>
          <p:cNvPr id="808" name="Google Shape;808;p17"/>
          <p:cNvSpPr txBox="1"/>
          <p:nvPr>
            <p:ph idx="1" type="body"/>
          </p:nvPr>
        </p:nvSpPr>
        <p:spPr>
          <a:xfrm>
            <a:off x="1206751" y="1175174"/>
            <a:ext cx="6730500" cy="41154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0"/>
              </a:spcBef>
              <a:spcAft>
                <a:spcPts val="0"/>
              </a:spcAft>
              <a:buSzPct val="128888"/>
              <a:buNone/>
            </a:pPr>
            <a:r>
              <a:t/>
            </a:r>
            <a:endParaRPr sz="18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rPr lang="en-US" sz="5500">
                <a:latin typeface="Times New Roman"/>
                <a:ea typeface="Times New Roman"/>
                <a:cs typeface="Times New Roman"/>
                <a:sym typeface="Times New Roman"/>
              </a:rPr>
              <a:t>[1] Zhang, J., Xu, H., Li, Y., Li, J. and Wang, Y., “Psychometric evaluation of the Pediatric Quality of Life Inventory 3.0 cardiac module in adolescents with congenital heart disease in China”, Health and Quality of Life Outcomes, Volume 21, Article no. 125, Pages 1, 2023.</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rPr lang="en-US" sz="5500">
                <a:latin typeface="Times New Roman"/>
                <a:ea typeface="Times New Roman"/>
                <a:cs typeface="Times New Roman"/>
                <a:sym typeface="Times New Roman"/>
              </a:rPr>
              <a:t>[2] Zhang, J., Xu, H., Li, Y., Li, J. and Wang, Y., “Psychometric evaluation of the Pediatric Quality of Life Inventory 3.0 cardiac module in adolescents with congenital heart disease in China”, Health and Quality of Life Outcomes, Volume 21, Article no. 125, Pages 4, 2023.</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rPr lang="en-US" sz="5500">
                <a:latin typeface="Times New Roman"/>
                <a:ea typeface="Times New Roman"/>
                <a:cs typeface="Times New Roman"/>
                <a:sym typeface="Times New Roman"/>
              </a:rPr>
              <a:t>[3] Harikrishnan, S., Bahl, A., Roy, A., Mishra, A., Prajapati, J., Manjunath, C. N., Sethi, R., Guha, S., Satheesh, S., Dhaliwal, R. S., Sharma, M., Ganapathy, S., &amp; Jeemon, P., “One-year mortality and re-admission rate by disease etiology in National Heart Failure Registry of India”, </a:t>
            </a:r>
            <a:r>
              <a:rPr i="1" lang="en-US" sz="5500">
                <a:latin typeface="Times New Roman"/>
                <a:ea typeface="Times New Roman"/>
                <a:cs typeface="Times New Roman"/>
                <a:sym typeface="Times New Roman"/>
              </a:rPr>
              <a:t>Nature Communications</a:t>
            </a:r>
            <a:r>
              <a:rPr lang="en-US" sz="5500">
                <a:latin typeface="Times New Roman"/>
                <a:ea typeface="Times New Roman"/>
                <a:cs typeface="Times New Roman"/>
                <a:sym typeface="Times New Roman"/>
              </a:rPr>
              <a:t>, Volume 16, Article no. 275, Pages 4, 2025.</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42181"/>
              <a:buNone/>
            </a:pPr>
            <a:r>
              <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42181"/>
              <a:buFont typeface="Arial"/>
              <a:buNone/>
            </a:pPr>
            <a:r>
              <a:rPr lang="en-US" sz="5500">
                <a:latin typeface="Times New Roman"/>
                <a:ea typeface="Times New Roman"/>
                <a:cs typeface="Times New Roman"/>
                <a:sym typeface="Times New Roman"/>
              </a:rPr>
              <a:t>[4] C. W. Callaway </a:t>
            </a:r>
            <a:r>
              <a:rPr i="1" lang="en-US" sz="5500">
                <a:latin typeface="Times New Roman"/>
                <a:ea typeface="Times New Roman"/>
                <a:cs typeface="Times New Roman"/>
                <a:sym typeface="Times New Roman"/>
              </a:rPr>
              <a:t>et al</a:t>
            </a:r>
            <a:r>
              <a:rPr lang="en-US" sz="5500">
                <a:latin typeface="Times New Roman"/>
                <a:ea typeface="Times New Roman"/>
                <a:cs typeface="Times New Roman"/>
                <a:sym typeface="Times New Roman"/>
              </a:rPr>
              <a:t>., "Transforming Cardiovascular Care Through Artificial Intelligence: The Future is Now: A Scientific Statement From the American Heart Association," </a:t>
            </a:r>
            <a:r>
              <a:rPr i="1" lang="en-US" sz="5500">
                <a:latin typeface="Times New Roman"/>
                <a:ea typeface="Times New Roman"/>
                <a:cs typeface="Times New Roman"/>
                <a:sym typeface="Times New Roman"/>
              </a:rPr>
              <a:t>Circulation</a:t>
            </a:r>
            <a:r>
              <a:rPr lang="en-US" sz="5500">
                <a:latin typeface="Times New Roman"/>
                <a:ea typeface="Times New Roman"/>
                <a:cs typeface="Times New Roman"/>
                <a:sym typeface="Times New Roman"/>
              </a:rPr>
              <a:t>, vol. 148, no. 9, pp. e127-e148, Aug. 2023, doi: 10.1161/CIRCULATIONAHA.120.048365.</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42181"/>
              <a:buFont typeface="Arial"/>
              <a:buNone/>
            </a:pPr>
            <a:r>
              <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ct val="42181"/>
              <a:buFont typeface="Arial"/>
              <a:buNone/>
            </a:pPr>
            <a:r>
              <a:rPr lang="en-US" sz="5500">
                <a:latin typeface="Times New Roman"/>
                <a:ea typeface="Times New Roman"/>
                <a:cs typeface="Times New Roman"/>
                <a:sym typeface="Times New Roman"/>
              </a:rPr>
              <a:t>[5] M. A. Naser, A. A. Majeed, M. Alsabah, T. R. Al-Shaikhli, and K. M. Kaky, "A Review of Machine Learning’s Role in Cardiovascular Disease Prediction: Recent Advances and Future Challenges," </a:t>
            </a:r>
            <a:r>
              <a:rPr i="1" lang="en-US" sz="5500">
                <a:latin typeface="Times New Roman"/>
                <a:ea typeface="Times New Roman"/>
                <a:cs typeface="Times New Roman"/>
                <a:sym typeface="Times New Roman"/>
              </a:rPr>
              <a:t>Algorithms</a:t>
            </a:r>
            <a:r>
              <a:rPr lang="en-US" sz="5500">
                <a:latin typeface="Times New Roman"/>
                <a:ea typeface="Times New Roman"/>
                <a:cs typeface="Times New Roman"/>
                <a:sym typeface="Times New Roman"/>
              </a:rPr>
              <a:t>, vol. 17, no. 2, art. 78, 2024, doi: 10.3390/a17020078</a:t>
            </a:r>
            <a:endParaRPr sz="5500">
              <a:latin typeface="Times New Roman"/>
              <a:ea typeface="Times New Roman"/>
              <a:cs typeface="Times New Roman"/>
              <a:sym typeface="Times New Roman"/>
            </a:endParaRPr>
          </a:p>
          <a:p>
            <a:pPr indent="0" lvl="0" marL="0" rtl="0" algn="l">
              <a:lnSpc>
                <a:spcPct val="115000"/>
              </a:lnSpc>
              <a:spcBef>
                <a:spcPts val="0"/>
              </a:spcBef>
              <a:spcAft>
                <a:spcPts val="0"/>
              </a:spcAft>
              <a:buSzPct val="210908"/>
              <a:buNone/>
            </a:pPr>
            <a:r>
              <a:t/>
            </a:r>
            <a:endParaRPr sz="1100">
              <a:latin typeface="Arial"/>
              <a:ea typeface="Arial"/>
              <a:cs typeface="Arial"/>
              <a:sym typeface="Arial"/>
            </a:endParaRPr>
          </a:p>
          <a:p>
            <a:pPr indent="0" lvl="0" marL="0" rtl="0" algn="l">
              <a:lnSpc>
                <a:spcPct val="115000"/>
              </a:lnSpc>
              <a:spcBef>
                <a:spcPts val="0"/>
              </a:spcBef>
              <a:spcAft>
                <a:spcPts val="0"/>
              </a:spcAft>
              <a:buSzPct val="193333"/>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SzPct val="193333"/>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SzPct val="145000"/>
              <a:buNone/>
            </a:pPr>
            <a:r>
              <a:t/>
            </a:r>
            <a:endParaRPr sz="1600">
              <a:latin typeface="Times New Roman"/>
              <a:ea typeface="Times New Roman"/>
              <a:cs typeface="Times New Roman"/>
              <a:sym typeface="Times New Roman"/>
            </a:endParaRPr>
          </a:p>
          <a:p>
            <a:pPr indent="0" lvl="0" marL="0" rtl="0" algn="l">
              <a:lnSpc>
                <a:spcPct val="115000"/>
              </a:lnSpc>
              <a:spcBef>
                <a:spcPts val="0"/>
              </a:spcBef>
              <a:spcAft>
                <a:spcPts val="0"/>
              </a:spcAft>
              <a:buSzPct val="145000"/>
              <a:buNone/>
            </a:pPr>
            <a:r>
              <a:t/>
            </a:r>
            <a:endParaRPr b="1" sz="2000">
              <a:latin typeface="Times New Roman"/>
              <a:ea typeface="Times New Roman"/>
              <a:cs typeface="Times New Roman"/>
              <a:sym typeface="Times New Roman"/>
            </a:endParaRPr>
          </a:p>
        </p:txBody>
      </p:sp>
      <p:sp>
        <p:nvSpPr>
          <p:cNvPr id="809" name="Google Shape;809;p17"/>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810" name="Google Shape;810;p17"/>
          <p:cNvPicPr preferRelativeResize="0"/>
          <p:nvPr/>
        </p:nvPicPr>
        <p:blipFill rotWithShape="1">
          <a:blip r:embed="rId3">
            <a:alphaModFix/>
          </a:blip>
          <a:srcRect b="0" l="0" r="0" t="0"/>
          <a:stretch/>
        </p:blipFill>
        <p:spPr>
          <a:xfrm>
            <a:off x="7622575" y="476675"/>
            <a:ext cx="851975" cy="6223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g37c4491bc67_1_52"/>
          <p:cNvSpPr txBox="1"/>
          <p:nvPr>
            <p:ph type="title"/>
          </p:nvPr>
        </p:nvSpPr>
        <p:spPr>
          <a:xfrm>
            <a:off x="2930454" y="-163275"/>
            <a:ext cx="3972900" cy="13431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References</a:t>
            </a:r>
            <a:endParaRPr sz="1400"/>
          </a:p>
        </p:txBody>
      </p:sp>
      <p:sp>
        <p:nvSpPr>
          <p:cNvPr id="817" name="Google Shape;817;g37c4491bc67_1_52"/>
          <p:cNvSpPr txBox="1"/>
          <p:nvPr>
            <p:ph idx="1" type="body"/>
          </p:nvPr>
        </p:nvSpPr>
        <p:spPr>
          <a:xfrm>
            <a:off x="892500" y="1432011"/>
            <a:ext cx="7929900" cy="4591200"/>
          </a:xfrm>
          <a:prstGeom prst="rect">
            <a:avLst/>
          </a:prstGeom>
          <a:noFill/>
          <a:ln>
            <a:noFill/>
          </a:ln>
        </p:spPr>
        <p:txBody>
          <a:bodyPr anchorCtr="0" anchor="ctr" bIns="45700" lIns="91425" spcFirstLastPara="1" rIns="91425" wrap="square" tIns="45700">
            <a:normAutofit fontScale="25000" lnSpcReduction="20000"/>
          </a:bodyPr>
          <a:lstStyle/>
          <a:p>
            <a:pPr indent="0" lvl="0" marL="0" rtl="0" algn="just">
              <a:lnSpc>
                <a:spcPct val="115000"/>
              </a:lnSpc>
              <a:spcBef>
                <a:spcPts val="360"/>
              </a:spcBef>
              <a:spcAft>
                <a:spcPts val="0"/>
              </a:spcAft>
              <a:buSzPct val="189818"/>
              <a:buNone/>
            </a:pPr>
            <a:r>
              <a:rPr lang="en-US" sz="5500">
                <a:latin typeface="Times New Roman"/>
                <a:ea typeface="Times New Roman"/>
                <a:cs typeface="Times New Roman"/>
                <a:sym typeface="Times New Roman"/>
              </a:rPr>
              <a:t>[6]  B. Kumar, S. Sharma, A. Gupta, and R. Singh, “A comprehensive review of machine learning for heart disease prediction: Recent advances and future perspectives,” </a:t>
            </a:r>
            <a:r>
              <a:rPr i="1" lang="en-US" sz="5500">
                <a:latin typeface="Times New Roman"/>
                <a:ea typeface="Times New Roman"/>
                <a:cs typeface="Times New Roman"/>
                <a:sym typeface="Times New Roman"/>
              </a:rPr>
              <a:t>Frontiers in Artificial Intelligence</a:t>
            </a:r>
            <a:r>
              <a:rPr lang="en-US" sz="5500">
                <a:latin typeface="Times New Roman"/>
                <a:ea typeface="Times New Roman"/>
                <a:cs typeface="Times New Roman"/>
                <a:sym typeface="Times New Roman"/>
              </a:rPr>
              <a:t>, vol. 8, art. 1583459, May 2025, doi: 10.3389/frai.2025.1583459.</a:t>
            </a:r>
            <a:endParaRPr sz="5500">
              <a:latin typeface="Times New Roman"/>
              <a:ea typeface="Times New Roman"/>
              <a:cs typeface="Times New Roman"/>
              <a:sym typeface="Times New Roman"/>
            </a:endParaRPr>
          </a:p>
          <a:p>
            <a:pPr indent="0" lvl="0" marL="0" rtl="0" algn="just">
              <a:lnSpc>
                <a:spcPct val="115000"/>
              </a:lnSpc>
              <a:spcBef>
                <a:spcPts val="600"/>
              </a:spcBef>
              <a:spcAft>
                <a:spcPts val="0"/>
              </a:spcAft>
              <a:buSzPct val="189818"/>
              <a:buNone/>
            </a:pPr>
            <a:r>
              <a:t/>
            </a:r>
            <a:endParaRPr sz="55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275"/>
              <a:buFont typeface="Arial"/>
              <a:buNone/>
            </a:pPr>
            <a:r>
              <a:rPr lang="en-US" sz="5500">
                <a:latin typeface="Times New Roman"/>
                <a:ea typeface="Times New Roman"/>
                <a:cs typeface="Times New Roman"/>
                <a:sym typeface="Times New Roman"/>
              </a:rPr>
              <a:t>[7a] A. Rajesh, P. Kumar, S. Mehta, and R. Sharma, "Cardiovascular disease prediction using machine learning metrics," </a:t>
            </a:r>
            <a:r>
              <a:rPr i="1" lang="en-US" sz="5500">
                <a:latin typeface="Times New Roman"/>
                <a:ea typeface="Times New Roman"/>
                <a:cs typeface="Times New Roman"/>
                <a:sym typeface="Times New Roman"/>
              </a:rPr>
              <a:t>J. Young Pharmacists</a:t>
            </a:r>
            <a:r>
              <a:rPr lang="en-US" sz="5500">
                <a:latin typeface="Times New Roman"/>
                <a:ea typeface="Times New Roman"/>
                <a:cs typeface="Times New Roman"/>
                <a:sym typeface="Times New Roman"/>
              </a:rPr>
              <a:t>, vol. 17, no. 1, pp. 226-233, Jun. 2025, doi: 10.5530/jyp.20251231.</a:t>
            </a:r>
            <a:endParaRPr sz="55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275"/>
              <a:buFont typeface="Arial"/>
              <a:buNone/>
            </a:pPr>
            <a:r>
              <a:rPr lang="en-US" sz="5500">
                <a:latin typeface="Times New Roman"/>
                <a:ea typeface="Times New Roman"/>
                <a:cs typeface="Times New Roman"/>
                <a:sym typeface="Times New Roman"/>
              </a:rPr>
              <a:t>[7b] S. M. Alzahrani et al., "Comprehensive evaluation and performance analysis of machine learning algorithms for heart disease prediction," </a:t>
            </a:r>
            <a:r>
              <a:rPr i="1" lang="en-US" sz="5500">
                <a:latin typeface="Times New Roman"/>
                <a:ea typeface="Times New Roman"/>
                <a:cs typeface="Times New Roman"/>
                <a:sym typeface="Times New Roman"/>
              </a:rPr>
              <a:t>PMC Cardiovascular Medicine</a:t>
            </a:r>
            <a:r>
              <a:rPr lang="en-US" sz="5500">
                <a:latin typeface="Times New Roman"/>
                <a:ea typeface="Times New Roman"/>
                <a:cs typeface="Times New Roman"/>
                <a:sym typeface="Times New Roman"/>
              </a:rPr>
              <a:t>, Apr. 2024. [Online]. Available: </a:t>
            </a:r>
            <a:r>
              <a:rPr lang="en-US" sz="5500" u="sng">
                <a:solidFill>
                  <a:schemeClr val="hlink"/>
                </a:solidFill>
                <a:latin typeface="Times New Roman"/>
                <a:ea typeface="Times New Roman"/>
                <a:cs typeface="Times New Roman"/>
                <a:sym typeface="Times New Roman"/>
                <a:hlinkClick r:id="rId3"/>
              </a:rPr>
              <a:t>https://pmc.ncbi.nlm.nih.gov/articles/PMC10991287/</a:t>
            </a:r>
            <a:r>
              <a:rPr lang="en-US" sz="5500">
                <a:latin typeface="Times New Roman"/>
                <a:ea typeface="Times New Roman"/>
                <a:cs typeface="Times New Roman"/>
                <a:sym typeface="Times New Roman"/>
              </a:rPr>
              <a:t> .</a:t>
            </a:r>
            <a:endParaRPr sz="5500">
              <a:latin typeface="Times New Roman"/>
              <a:ea typeface="Times New Roman"/>
              <a:cs typeface="Times New Roman"/>
              <a:sym typeface="Times New Roman"/>
            </a:endParaRPr>
          </a:p>
          <a:p>
            <a:pPr indent="0" lvl="0" marL="0" rtl="0" algn="just">
              <a:lnSpc>
                <a:spcPct val="115000"/>
              </a:lnSpc>
              <a:spcBef>
                <a:spcPts val="1200"/>
              </a:spcBef>
              <a:spcAft>
                <a:spcPts val="0"/>
              </a:spcAft>
              <a:buSzPct val="189818"/>
              <a:buNone/>
            </a:pPr>
            <a:r>
              <a:rPr lang="en-US" sz="5500">
                <a:latin typeface="Times New Roman"/>
                <a:ea typeface="Times New Roman"/>
                <a:cs typeface="Times New Roman"/>
                <a:sym typeface="Times New Roman"/>
              </a:rPr>
              <a:t>[7c] M. A. Rahman, S. K. Biswas, and N. Ahmed, "Prediction of heart disease based on machine learning using Jupyter notebook," </a:t>
            </a:r>
            <a:r>
              <a:rPr i="1" lang="en-US" sz="5500">
                <a:latin typeface="Times New Roman"/>
                <a:ea typeface="Times New Roman"/>
                <a:cs typeface="Times New Roman"/>
                <a:sym typeface="Times New Roman"/>
              </a:rPr>
              <a:t>PMC Public Health</a:t>
            </a:r>
            <a:r>
              <a:rPr lang="en-US" sz="5500">
                <a:latin typeface="Times New Roman"/>
                <a:ea typeface="Times New Roman"/>
                <a:cs typeface="Times New Roman"/>
                <a:sym typeface="Times New Roman"/>
              </a:rPr>
              <a:t>, Jul. 2023. [Online]. Available: </a:t>
            </a:r>
            <a:r>
              <a:rPr lang="en-US" sz="5500" u="sng">
                <a:solidFill>
                  <a:schemeClr val="hlink"/>
                </a:solidFill>
                <a:latin typeface="Times New Roman"/>
                <a:ea typeface="Times New Roman"/>
                <a:cs typeface="Times New Roman"/>
                <a:sym typeface="Times New Roman"/>
                <a:hlinkClick r:id="rId4"/>
              </a:rPr>
              <a:t>https://pmc.ncbi.nlm.nih.gov/articles/PMC10378171/</a:t>
            </a:r>
            <a:r>
              <a:rPr lang="en-US" sz="5500">
                <a:latin typeface="Times New Roman"/>
                <a:ea typeface="Times New Roman"/>
                <a:cs typeface="Times New Roman"/>
                <a:sym typeface="Times New Roman"/>
              </a:rPr>
              <a:t> .</a:t>
            </a:r>
            <a:endParaRPr sz="55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275"/>
              <a:buFont typeface="Arial"/>
              <a:buNone/>
            </a:pPr>
            <a:r>
              <a:t/>
            </a:r>
            <a:endParaRPr sz="5500">
              <a:latin typeface="Times New Roman"/>
              <a:ea typeface="Times New Roman"/>
              <a:cs typeface="Times New Roman"/>
              <a:sym typeface="Times New Roman"/>
            </a:endParaRPr>
          </a:p>
          <a:p>
            <a:pPr indent="0" lvl="0" marL="0" rtl="0" algn="just">
              <a:lnSpc>
                <a:spcPct val="115000"/>
              </a:lnSpc>
              <a:spcBef>
                <a:spcPts val="600"/>
              </a:spcBef>
              <a:spcAft>
                <a:spcPts val="0"/>
              </a:spcAft>
              <a:buClr>
                <a:schemeClr val="dk1"/>
              </a:buClr>
              <a:buSzPts val="275"/>
              <a:buFont typeface="Arial"/>
              <a:buNone/>
            </a:pPr>
            <a:r>
              <a:rPr lang="en-US" sz="5500">
                <a:latin typeface="Times New Roman"/>
                <a:ea typeface="Times New Roman"/>
                <a:cs typeface="Times New Roman"/>
                <a:sym typeface="Times New Roman"/>
              </a:rPr>
              <a:t>[8a] A. A. Lamir, S. Razzagzadeh, and Z. Rezaei, "A comprehensive machine learning framework for heart disease prediction: Performance evaluation and future perspectives," </a:t>
            </a:r>
            <a:r>
              <a:rPr i="1" lang="en-US" sz="5500">
                <a:latin typeface="Times New Roman"/>
                <a:ea typeface="Times New Roman"/>
                <a:cs typeface="Times New Roman"/>
                <a:sym typeface="Times New Roman"/>
              </a:rPr>
              <a:t>arXiv preprint</a:t>
            </a:r>
            <a:r>
              <a:rPr lang="en-US" sz="5500">
                <a:latin typeface="Times New Roman"/>
                <a:ea typeface="Times New Roman"/>
                <a:cs typeface="Times New Roman"/>
                <a:sym typeface="Times New Roman"/>
              </a:rPr>
              <a:t>, arXiv:2505.09969, May 2025, doi: 10.48550/arXiv.2505.09969.</a:t>
            </a:r>
            <a:endParaRPr sz="55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275"/>
              <a:buFont typeface="Arial"/>
              <a:buNone/>
            </a:pPr>
            <a:r>
              <a:rPr lang="en-US" sz="5500">
                <a:latin typeface="Times New Roman"/>
                <a:ea typeface="Times New Roman"/>
                <a:cs typeface="Times New Roman"/>
                <a:sym typeface="Times New Roman"/>
              </a:rPr>
              <a:t>[8b] A. Gnanavelu, P. Kumar, S. Rajesh, and M. Sharma, "Cardiovascular disease prediction using machine learning metrics," </a:t>
            </a:r>
            <a:r>
              <a:rPr i="1" lang="en-US" sz="5500">
                <a:latin typeface="Times New Roman"/>
                <a:ea typeface="Times New Roman"/>
                <a:cs typeface="Times New Roman"/>
                <a:sym typeface="Times New Roman"/>
              </a:rPr>
              <a:t>J. Young Pharmacists</a:t>
            </a:r>
            <a:r>
              <a:rPr lang="en-US" sz="5500">
                <a:latin typeface="Times New Roman"/>
                <a:ea typeface="Times New Roman"/>
                <a:cs typeface="Times New Roman"/>
                <a:sym typeface="Times New Roman"/>
              </a:rPr>
              <a:t>, vol. 17, no. 1, pp. 226-233, Jun. 2025, doi: 10.5530/jyp.20251231.</a:t>
            </a:r>
            <a:endParaRPr sz="5500">
              <a:latin typeface="Times New Roman"/>
              <a:ea typeface="Times New Roman"/>
              <a:cs typeface="Times New Roman"/>
              <a:sym typeface="Times New Roman"/>
            </a:endParaRPr>
          </a:p>
          <a:p>
            <a:pPr indent="0" lvl="0" marL="0" rtl="0" algn="l">
              <a:lnSpc>
                <a:spcPct val="100000"/>
              </a:lnSpc>
              <a:spcBef>
                <a:spcPts val="600"/>
              </a:spcBef>
              <a:spcAft>
                <a:spcPts val="0"/>
              </a:spcAft>
              <a:buSzPts val="2610"/>
              <a:buNone/>
            </a:pPr>
            <a:r>
              <a:t/>
            </a:r>
            <a:endParaRPr sz="1150">
              <a:latin typeface="Times New Roman"/>
              <a:ea typeface="Times New Roman"/>
              <a:cs typeface="Times New Roman"/>
              <a:sym typeface="Times New Roman"/>
            </a:endParaRPr>
          </a:p>
          <a:p>
            <a:pPr indent="0" lvl="0" marL="0" rtl="0" algn="l">
              <a:lnSpc>
                <a:spcPct val="100000"/>
              </a:lnSpc>
              <a:spcBef>
                <a:spcPts val="600"/>
              </a:spcBef>
              <a:spcAft>
                <a:spcPts val="0"/>
              </a:spcAft>
              <a:buSzPts val="2610"/>
              <a:buNone/>
            </a:pPr>
            <a:r>
              <a:t/>
            </a:r>
            <a:endParaRPr sz="1150">
              <a:latin typeface="Times New Roman"/>
              <a:ea typeface="Times New Roman"/>
              <a:cs typeface="Times New Roman"/>
              <a:sym typeface="Times New Roman"/>
            </a:endParaRPr>
          </a:p>
          <a:p>
            <a:pPr indent="0" lvl="0" marL="0" rtl="0" algn="l">
              <a:lnSpc>
                <a:spcPct val="100000"/>
              </a:lnSpc>
              <a:spcBef>
                <a:spcPts val="600"/>
              </a:spcBef>
              <a:spcAft>
                <a:spcPts val="0"/>
              </a:spcAft>
              <a:buSzPts val="2610"/>
              <a:buNone/>
            </a:pPr>
            <a:r>
              <a:t/>
            </a:r>
            <a:endParaRPr sz="1150">
              <a:latin typeface="Times New Roman"/>
              <a:ea typeface="Times New Roman"/>
              <a:cs typeface="Times New Roman"/>
              <a:sym typeface="Times New Roman"/>
            </a:endParaRPr>
          </a:p>
          <a:p>
            <a:pPr indent="0" lvl="0" marL="0" rtl="0" algn="l">
              <a:lnSpc>
                <a:spcPct val="100000"/>
              </a:lnSpc>
              <a:spcBef>
                <a:spcPts val="600"/>
              </a:spcBef>
              <a:spcAft>
                <a:spcPts val="0"/>
              </a:spcAft>
              <a:buSzPts val="2610"/>
              <a:buNone/>
            </a:pPr>
            <a:r>
              <a:t/>
            </a:r>
            <a:endParaRPr sz="1100">
              <a:latin typeface="Arial"/>
              <a:ea typeface="Arial"/>
              <a:cs typeface="Arial"/>
              <a:sym typeface="Arial"/>
            </a:endParaRPr>
          </a:p>
          <a:p>
            <a:pPr indent="0" lvl="0" marL="0" rtl="0" algn="l">
              <a:lnSpc>
                <a:spcPct val="100000"/>
              </a:lnSpc>
              <a:spcBef>
                <a:spcPts val="600"/>
              </a:spcBef>
              <a:spcAft>
                <a:spcPts val="600"/>
              </a:spcAft>
              <a:buSzPts val="2610"/>
              <a:buNone/>
            </a:pPr>
            <a:r>
              <a:t/>
            </a:r>
            <a:endParaRPr sz="1100">
              <a:latin typeface="Arial"/>
              <a:ea typeface="Arial"/>
              <a:cs typeface="Arial"/>
              <a:sym typeface="Arial"/>
            </a:endParaRPr>
          </a:p>
        </p:txBody>
      </p:sp>
      <p:sp>
        <p:nvSpPr>
          <p:cNvPr id="818" name="Google Shape;818;g37c4491bc67_1_52"/>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chemeClr val="dk1"/>
              </a:buClr>
              <a:buSzPts val="1000"/>
              <a:buFont typeface="Corbel"/>
              <a:buNone/>
            </a:pPr>
            <a:fld id="{00000000-1234-1234-1234-123412341234}" type="slidenum">
              <a:rPr lang="en-US"/>
              <a:t>‹#›</a:t>
            </a:fld>
            <a:endParaRPr/>
          </a:p>
        </p:txBody>
      </p:sp>
      <p:pic>
        <p:nvPicPr>
          <p:cNvPr id="819" name="Google Shape;819;g37c4491bc67_1_52"/>
          <p:cNvPicPr preferRelativeResize="0"/>
          <p:nvPr/>
        </p:nvPicPr>
        <p:blipFill rotWithShape="1">
          <a:blip r:embed="rId5">
            <a:alphaModFix/>
          </a:blip>
          <a:srcRect b="0" l="0" r="0" t="0"/>
          <a:stretch/>
        </p:blipFill>
        <p:spPr>
          <a:xfrm>
            <a:off x="8046888" y="218561"/>
            <a:ext cx="851975" cy="73903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7c4491bc67_11_11"/>
          <p:cNvSpPr txBox="1"/>
          <p:nvPr>
            <p:ph idx="1" type="body"/>
          </p:nvPr>
        </p:nvSpPr>
        <p:spPr>
          <a:xfrm>
            <a:off x="1005575" y="1492200"/>
            <a:ext cx="7681200" cy="5365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2320"/>
              <a:buNone/>
            </a:pPr>
            <a:r>
              <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rPr lang="en-US" sz="1350">
                <a:latin typeface="Times New Roman"/>
                <a:ea typeface="Times New Roman"/>
                <a:cs typeface="Times New Roman"/>
                <a:sym typeface="Times New Roman"/>
              </a:rPr>
              <a:t> [9] </a:t>
            </a:r>
            <a:r>
              <a:rPr b="1" lang="en-US" sz="1350">
                <a:latin typeface="Times New Roman"/>
                <a:ea typeface="Times New Roman"/>
                <a:cs typeface="Times New Roman"/>
                <a:sym typeface="Times New Roman"/>
              </a:rPr>
              <a:t>Markelle Kelly, Rachel Longjohn, and Kolby Nottingham,</a:t>
            </a:r>
            <a:r>
              <a:rPr lang="en-US" sz="1350">
                <a:latin typeface="Times New Roman"/>
                <a:ea typeface="Times New Roman"/>
                <a:cs typeface="Times New Roman"/>
                <a:sym typeface="Times New Roman"/>
              </a:rPr>
              <a:t> </a:t>
            </a:r>
            <a:r>
              <a:rPr i="1" lang="en-US" sz="1350">
                <a:latin typeface="Times New Roman"/>
                <a:ea typeface="Times New Roman"/>
                <a:cs typeface="Times New Roman"/>
                <a:sym typeface="Times New Roman"/>
              </a:rPr>
              <a:t>The UCI Machine Learning Repository</a:t>
            </a:r>
            <a:r>
              <a:rPr lang="en-US" sz="1350">
                <a:latin typeface="Times New Roman"/>
                <a:ea typeface="Times New Roman"/>
                <a:cs typeface="Times New Roman"/>
                <a:sym typeface="Times New Roman"/>
              </a:rPr>
              <a:t>, available:</a:t>
            </a:r>
            <a:r>
              <a:rPr lang="en-US" sz="1350">
                <a:solidFill>
                  <a:schemeClr val="hlink"/>
                </a:solidFill>
                <a:uFill>
                  <a:noFill/>
                </a:uFill>
                <a:latin typeface="Times New Roman"/>
                <a:ea typeface="Times New Roman"/>
                <a:cs typeface="Times New Roman"/>
                <a:sym typeface="Times New Roman"/>
                <a:hlinkClick r:id="rId3"/>
              </a:rPr>
              <a:t> </a:t>
            </a:r>
            <a:r>
              <a:rPr lang="en-US" sz="1350" u="sng">
                <a:solidFill>
                  <a:schemeClr val="hlink"/>
                </a:solidFill>
                <a:latin typeface="Times New Roman"/>
                <a:ea typeface="Times New Roman"/>
                <a:cs typeface="Times New Roman"/>
                <a:sym typeface="Times New Roman"/>
                <a:hlinkClick r:id="rId4"/>
              </a:rPr>
              <a:t>https://archive.ics.uci.edu</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rPr lang="en-US" sz="1350">
                <a:latin typeface="Times New Roman"/>
                <a:ea typeface="Times New Roman"/>
                <a:cs typeface="Times New Roman"/>
                <a:sym typeface="Times New Roman"/>
              </a:rPr>
              <a:t> [10</a:t>
            </a:r>
            <a:r>
              <a:rPr lang="en-US" sz="1350">
                <a:highlight>
                  <a:srgbClr val="EFEFEF"/>
                </a:highlight>
                <a:latin typeface="Times New Roman"/>
                <a:ea typeface="Times New Roman"/>
                <a:cs typeface="Times New Roman"/>
                <a:sym typeface="Times New Roman"/>
              </a:rPr>
              <a:t>]  </a:t>
            </a:r>
            <a:r>
              <a:rPr lang="en-US" sz="1350">
                <a:latin typeface="Times New Roman"/>
                <a:ea typeface="Times New Roman"/>
                <a:cs typeface="Times New Roman"/>
                <a:sym typeface="Times New Roman"/>
              </a:rPr>
              <a:t>R. S. Bhaduaria, I. Javid, and A. Khara, "Advanced Heart Attack Risk Prediction Using Stacked Hybrid Machine Learning," Journal of Mobile Multimedia, vol. 21, no. 3-4, pp. 393-406, Jul. 2025, doi: 10.13052/jmm1550-4646.21343. [Accessed: Sep. 5, 2025]. </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rPr lang="en-US" sz="1350">
                <a:latin typeface="Times New Roman"/>
                <a:ea typeface="Times New Roman"/>
                <a:cs typeface="Times New Roman"/>
                <a:sym typeface="Times New Roman"/>
              </a:rPr>
              <a:t> available:- </a:t>
            </a:r>
            <a:r>
              <a:rPr lang="en-US" sz="1350" u="sng">
                <a:solidFill>
                  <a:schemeClr val="hlink"/>
                </a:solidFill>
                <a:latin typeface="Times New Roman"/>
                <a:ea typeface="Times New Roman"/>
                <a:cs typeface="Times New Roman"/>
                <a:sym typeface="Times New Roman"/>
                <a:hlinkClick r:id="rId5"/>
              </a:rPr>
              <a:t>https://ieeexplore.ieee.org/document/11129235</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320"/>
              <a:buNone/>
            </a:pPr>
            <a:r>
              <a:rPr lang="en-US" sz="1350">
                <a:latin typeface="Times New Roman"/>
                <a:ea typeface="Times New Roman"/>
                <a:cs typeface="Times New Roman"/>
                <a:sym typeface="Times New Roman"/>
              </a:rPr>
              <a:t> [11]  N. L. Fitriyani, M. Syafrudin, G. Alfian, and J. Rhee, "HDPM: An Effective Heart Disease Prediction Model for a Clinical Decision Support System," IEEE Access, vol. 8, article no. 9144587, pp. 133034–133050, 2020, doi: 10.1109/ACCESS.2020.3010511. [Accessed: Sep. 6, 2025].</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rPr lang="en-US" sz="1350">
                <a:latin typeface="Times New Roman"/>
                <a:ea typeface="Times New Roman"/>
                <a:cs typeface="Times New Roman"/>
                <a:sym typeface="Times New Roman"/>
              </a:rPr>
              <a:t>available:- </a:t>
            </a:r>
            <a:r>
              <a:rPr lang="en-US" sz="1350" u="sng">
                <a:solidFill>
                  <a:schemeClr val="hlink"/>
                </a:solidFill>
                <a:latin typeface="Times New Roman"/>
                <a:ea typeface="Times New Roman"/>
                <a:cs typeface="Times New Roman"/>
                <a:sym typeface="Times New Roman"/>
                <a:hlinkClick r:id="rId6"/>
              </a:rPr>
              <a:t>https://ieeexplore.ieee.org/document/9144587</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1100"/>
              <a:buNone/>
            </a:pPr>
            <a:r>
              <a:t/>
            </a:r>
            <a:endParaRPr sz="1350">
              <a:latin typeface="Times New Roman"/>
              <a:ea typeface="Times New Roman"/>
              <a:cs typeface="Times New Roman"/>
              <a:sym typeface="Times New Roman"/>
            </a:endParaRPr>
          </a:p>
          <a:p>
            <a:pPr indent="0" lvl="0" marL="0" rtl="0" algn="just">
              <a:lnSpc>
                <a:spcPct val="115000"/>
              </a:lnSpc>
              <a:spcBef>
                <a:spcPts val="0"/>
              </a:spcBef>
              <a:spcAft>
                <a:spcPts val="0"/>
              </a:spcAft>
              <a:buSzPts val="2900"/>
              <a:buNone/>
            </a:pPr>
            <a:r>
              <a:rPr lang="en-US" sz="1350">
                <a:latin typeface="Times New Roman"/>
                <a:ea typeface="Times New Roman"/>
                <a:cs typeface="Times New Roman"/>
                <a:sym typeface="Times New Roman"/>
              </a:rPr>
              <a:t>[12] P. Goswami and D. Bhatia, "Application of Machine Learning in FPGA EDA Tool Development," IEEE Access, vol. 11, pp. 109564–109580, 2023, doi: 10.1109/ACCESS.2023.3322358. Available: </a:t>
            </a:r>
            <a:r>
              <a:rPr lang="en-US" sz="1350" u="sng">
                <a:solidFill>
                  <a:schemeClr val="hlink"/>
                </a:solidFill>
                <a:latin typeface="Times New Roman"/>
                <a:ea typeface="Times New Roman"/>
                <a:cs typeface="Times New Roman"/>
                <a:sym typeface="Times New Roman"/>
                <a:hlinkClick r:id="rId7"/>
              </a:rPr>
              <a:t>https://ieeexplore.ieee.org/document/10272331</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32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SzPts val="2900"/>
              <a:buNone/>
            </a:pPr>
            <a:r>
              <a:t/>
            </a:r>
            <a:endParaRPr sz="1350">
              <a:latin typeface="Times New Roman"/>
              <a:ea typeface="Times New Roman"/>
              <a:cs typeface="Times New Roman"/>
              <a:sym typeface="Times New Roman"/>
            </a:endParaRPr>
          </a:p>
        </p:txBody>
      </p:sp>
      <p:sp>
        <p:nvSpPr>
          <p:cNvPr id="829" name="Google Shape;829;g37c4491bc67_11_11"/>
          <p:cNvSpPr txBox="1"/>
          <p:nvPr>
            <p:ph type="title"/>
          </p:nvPr>
        </p:nvSpPr>
        <p:spPr>
          <a:xfrm>
            <a:off x="1798552" y="408095"/>
            <a:ext cx="5706600" cy="103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References</a:t>
            </a:r>
            <a:endParaRPr b="1" sz="2800"/>
          </a:p>
        </p:txBody>
      </p:sp>
      <p:sp>
        <p:nvSpPr>
          <p:cNvPr id="830" name="Google Shape;830;g37c4491bc67_11_11"/>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831" name="Google Shape;831;g37c4491bc67_11_11"/>
          <p:cNvPicPr preferRelativeResize="0"/>
          <p:nvPr/>
        </p:nvPicPr>
        <p:blipFill rotWithShape="1">
          <a:blip r:embed="rId8">
            <a:alphaModFix/>
          </a:blip>
          <a:srcRect b="0" l="0" r="0" t="0"/>
          <a:stretch/>
        </p:blipFill>
        <p:spPr>
          <a:xfrm>
            <a:off x="8046888" y="209975"/>
            <a:ext cx="851975" cy="6223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g388758f81e8_5_16"/>
          <p:cNvSpPr txBox="1"/>
          <p:nvPr>
            <p:ph idx="1" type="body"/>
          </p:nvPr>
        </p:nvSpPr>
        <p:spPr>
          <a:xfrm>
            <a:off x="1005725" y="1193675"/>
            <a:ext cx="7681200" cy="5365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0"/>
              </a:spcBef>
              <a:spcAft>
                <a:spcPts val="0"/>
              </a:spcAft>
              <a:buSzPts val="2320"/>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320"/>
              <a:buFont typeface="Arial"/>
              <a:buNone/>
            </a:pPr>
            <a:r>
              <a:rPr lang="en-US" sz="1350">
                <a:latin typeface="Times New Roman"/>
                <a:ea typeface="Times New Roman"/>
                <a:cs typeface="Times New Roman"/>
                <a:sym typeface="Times New Roman"/>
              </a:rPr>
              <a:t> [13] A. Janosi, W. Steinbrunn, M. Pfisterer, and R. Detrano, "Heart Disease [Dataset]," UCI Machine Learning Repository, 1989, doi:10.24432/C52P4X. Available: </a:t>
            </a:r>
            <a:r>
              <a:rPr lang="en-US" sz="1350" u="sng">
                <a:solidFill>
                  <a:schemeClr val="hlink"/>
                </a:solidFill>
                <a:latin typeface="Times New Roman"/>
                <a:ea typeface="Times New Roman"/>
                <a:cs typeface="Times New Roman"/>
                <a:sym typeface="Times New Roman"/>
                <a:hlinkClick r:id="rId3"/>
              </a:rPr>
              <a:t>https://archive.ics.uci.edu/dataset/45/heart+disease</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32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Font typeface="Arial"/>
              <a:buNone/>
            </a:pPr>
            <a:r>
              <a:rPr lang="en-US" sz="1350">
                <a:latin typeface="Times New Roman"/>
                <a:ea typeface="Times New Roman"/>
                <a:cs typeface="Times New Roman"/>
                <a:sym typeface="Times New Roman"/>
              </a:rPr>
              <a:t>  [14] M. S. Al-Reshan, S. Amin, M. A. Zeb, A. Sulaiman, H. Alshahrani, and A. Shaikh, “A Robust Heart Disease Prediction System Using Hybrid Deep Neural Networks,” in IEEE Journals &amp; Magazine (IEEE Access), 2025, doi: 10.1109/ACCESS.2025.10302290. Available: </a:t>
            </a:r>
            <a:r>
              <a:rPr lang="en-US" sz="1350" u="sng">
                <a:solidFill>
                  <a:schemeClr val="hlink"/>
                </a:solidFill>
                <a:latin typeface="Times New Roman"/>
                <a:ea typeface="Times New Roman"/>
                <a:cs typeface="Times New Roman"/>
                <a:sym typeface="Times New Roman"/>
                <a:hlinkClick r:id="rId4"/>
              </a:rPr>
              <a:t>https://ieeexplore.ieee.org/document/10302290</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None/>
            </a:pPr>
            <a:r>
              <a:rPr lang="en-US" sz="1350">
                <a:latin typeface="Times New Roman"/>
                <a:ea typeface="Times New Roman"/>
                <a:cs typeface="Times New Roman"/>
                <a:sym typeface="Times New Roman"/>
              </a:rPr>
              <a:t>[15] </a:t>
            </a:r>
            <a:r>
              <a:rPr lang="en-US" sz="1400"/>
              <a:t> </a:t>
            </a:r>
            <a:r>
              <a:rPr lang="en-US" sz="1350">
                <a:latin typeface="Times New Roman"/>
                <a:ea typeface="Times New Roman"/>
                <a:cs typeface="Times New Roman"/>
                <a:sym typeface="Times New Roman"/>
              </a:rPr>
              <a:t>World Health Organization, “Cardiovascular diseases (CVDs),” WHO, 2025. Available: </a:t>
            </a:r>
            <a:r>
              <a:rPr lang="en-US" sz="1350" u="sng">
                <a:solidFill>
                  <a:schemeClr val="hlink"/>
                </a:solidFill>
                <a:latin typeface="Times New Roman"/>
                <a:ea typeface="Times New Roman"/>
                <a:cs typeface="Times New Roman"/>
                <a:sym typeface="Times New Roman"/>
                <a:hlinkClick r:id="rId5"/>
              </a:rPr>
              <a:t>https://www.who.int/health-topics/cardiovascular-diseases#tab=tab_1</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None/>
            </a:pPr>
            <a:r>
              <a:t/>
            </a:r>
            <a:endParaRPr sz="1400"/>
          </a:p>
          <a:p>
            <a:pPr indent="0" lvl="0" marL="0" rtl="0" algn="l">
              <a:lnSpc>
                <a:spcPct val="115000"/>
              </a:lnSpc>
              <a:spcBef>
                <a:spcPts val="0"/>
              </a:spcBef>
              <a:spcAft>
                <a:spcPts val="0"/>
              </a:spcAft>
              <a:buClr>
                <a:schemeClr val="dk1"/>
              </a:buClr>
              <a:buSzPts val="2900"/>
              <a:buNone/>
            </a:pPr>
            <a:r>
              <a:rPr lang="en-US" sz="1350">
                <a:latin typeface="Times New Roman"/>
                <a:ea typeface="Times New Roman"/>
                <a:cs typeface="Times New Roman"/>
                <a:sym typeface="Times New Roman"/>
              </a:rPr>
              <a:t>[16] S. Muniasamy, A. R. Rajeswari, and P. S. Satheesh, “Prediction of Heart Disease Using Machine Learning Algorithms,” in 2023 International Conference on Computer Communication and Informatics (ICCCI), Coimbatore, India, 2023, pp. 1–6, doi: 10.1109/ICCCI56946.2023.10122547. Available: </a:t>
            </a:r>
            <a:r>
              <a:rPr lang="en-US" sz="1350" u="sng">
                <a:solidFill>
                  <a:schemeClr val="hlink"/>
                </a:solidFill>
                <a:latin typeface="Times New Roman"/>
                <a:ea typeface="Times New Roman"/>
                <a:cs typeface="Times New Roman"/>
                <a:sym typeface="Times New Roman"/>
                <a:hlinkClick r:id="rId6"/>
              </a:rPr>
              <a:t>https://ieeexplore.ieee.org/document/10122547</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None/>
            </a:pPr>
            <a:r>
              <a:t/>
            </a:r>
            <a:endParaRPr sz="1400"/>
          </a:p>
          <a:p>
            <a:pPr indent="0" lvl="0" marL="0" rtl="0" algn="l">
              <a:lnSpc>
                <a:spcPct val="115000"/>
              </a:lnSpc>
              <a:spcBef>
                <a:spcPts val="0"/>
              </a:spcBef>
              <a:spcAft>
                <a:spcPts val="0"/>
              </a:spcAft>
              <a:buClr>
                <a:schemeClr val="dk1"/>
              </a:buClr>
              <a:buSzPts val="110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2900"/>
              <a:buFont typeface="Arial"/>
              <a:buNone/>
            </a:pPr>
            <a:r>
              <a:t/>
            </a:r>
            <a:endParaRPr sz="1350">
              <a:latin typeface="Times New Roman"/>
              <a:ea typeface="Times New Roman"/>
              <a:cs typeface="Times New Roman"/>
              <a:sym typeface="Times New Roman"/>
            </a:endParaRPr>
          </a:p>
          <a:p>
            <a:pPr indent="0" lvl="0" marL="0" rtl="0" algn="l">
              <a:lnSpc>
                <a:spcPct val="115000"/>
              </a:lnSpc>
              <a:spcBef>
                <a:spcPts val="0"/>
              </a:spcBef>
              <a:spcAft>
                <a:spcPts val="0"/>
              </a:spcAft>
              <a:buSzPts val="2900"/>
              <a:buNone/>
            </a:pPr>
            <a:r>
              <a:t/>
            </a:r>
            <a:endParaRPr sz="1350">
              <a:latin typeface="Times New Roman"/>
              <a:ea typeface="Times New Roman"/>
              <a:cs typeface="Times New Roman"/>
              <a:sym typeface="Times New Roman"/>
            </a:endParaRPr>
          </a:p>
        </p:txBody>
      </p:sp>
      <p:sp>
        <p:nvSpPr>
          <p:cNvPr id="841" name="Google Shape;841;g388758f81e8_5_16"/>
          <p:cNvSpPr txBox="1"/>
          <p:nvPr>
            <p:ph type="title"/>
          </p:nvPr>
        </p:nvSpPr>
        <p:spPr>
          <a:xfrm>
            <a:off x="1798552" y="271220"/>
            <a:ext cx="5706600" cy="103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onstantia"/>
              <a:buNone/>
            </a:pPr>
            <a:r>
              <a:rPr b="1" lang="en-US" sz="2800"/>
              <a:t>References</a:t>
            </a:r>
            <a:endParaRPr b="1" sz="2800"/>
          </a:p>
        </p:txBody>
      </p:sp>
      <p:sp>
        <p:nvSpPr>
          <p:cNvPr id="842" name="Google Shape;842;g388758f81e8_5_16"/>
          <p:cNvSpPr txBox="1"/>
          <p:nvPr>
            <p:ph idx="12" type="sldNum"/>
          </p:nvPr>
        </p:nvSpPr>
        <p:spPr>
          <a:xfrm>
            <a:off x="8258967" y="6108173"/>
            <a:ext cx="4278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843" name="Google Shape;843;g388758f81e8_5_16"/>
          <p:cNvPicPr preferRelativeResize="0"/>
          <p:nvPr/>
        </p:nvPicPr>
        <p:blipFill rotWithShape="1">
          <a:blip r:embed="rId7">
            <a:alphaModFix/>
          </a:blip>
          <a:srcRect b="0" l="0" r="0" t="0"/>
          <a:stretch/>
        </p:blipFill>
        <p:spPr>
          <a:xfrm>
            <a:off x="8046888" y="229025"/>
            <a:ext cx="851975" cy="6223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8"/>
          <p:cNvSpPr txBox="1"/>
          <p:nvPr>
            <p:ph idx="1" type="body"/>
          </p:nvPr>
        </p:nvSpPr>
        <p:spPr>
          <a:xfrm>
            <a:off x="671900" y="602400"/>
            <a:ext cx="7738500" cy="51435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040"/>
              <a:buNone/>
            </a:pPr>
            <a:r>
              <a:t/>
            </a:r>
            <a:endParaRPr b="1"/>
          </a:p>
          <a:p>
            <a:pPr indent="0" lvl="0" marL="0" rtl="0" algn="ctr">
              <a:lnSpc>
                <a:spcPct val="100000"/>
              </a:lnSpc>
              <a:spcBef>
                <a:spcPts val="480"/>
              </a:spcBef>
              <a:spcAft>
                <a:spcPts val="0"/>
              </a:spcAft>
              <a:buSzPts val="2040"/>
              <a:buNone/>
            </a:pPr>
            <a:r>
              <a:t/>
            </a:r>
            <a:endParaRPr b="1"/>
          </a:p>
          <a:p>
            <a:pPr indent="0" lvl="0" marL="0" rtl="0" algn="ctr">
              <a:lnSpc>
                <a:spcPct val="100000"/>
              </a:lnSpc>
              <a:spcBef>
                <a:spcPts val="480"/>
              </a:spcBef>
              <a:spcAft>
                <a:spcPts val="0"/>
              </a:spcAft>
              <a:buSzPts val="2040"/>
              <a:buNone/>
            </a:pPr>
            <a:r>
              <a:t/>
            </a:r>
            <a:endParaRPr b="1"/>
          </a:p>
          <a:p>
            <a:pPr indent="0" lvl="0" marL="0" rtl="0" algn="ctr">
              <a:lnSpc>
                <a:spcPct val="100000"/>
              </a:lnSpc>
              <a:spcBef>
                <a:spcPts val="800"/>
              </a:spcBef>
              <a:spcAft>
                <a:spcPts val="0"/>
              </a:spcAft>
              <a:buSzPts val="3400"/>
              <a:buNone/>
            </a:pPr>
            <a:r>
              <a:t/>
            </a:r>
            <a:endParaRPr b="1" sz="4000"/>
          </a:p>
          <a:p>
            <a:pPr indent="0" lvl="0" marL="0" rtl="0" algn="ctr">
              <a:lnSpc>
                <a:spcPct val="100000"/>
              </a:lnSpc>
              <a:spcBef>
                <a:spcPts val="800"/>
              </a:spcBef>
              <a:spcAft>
                <a:spcPts val="0"/>
              </a:spcAft>
              <a:buSzPts val="3400"/>
              <a:buNone/>
            </a:pPr>
            <a:r>
              <a:rPr b="1" lang="en-US" sz="4000">
                <a:solidFill>
                  <a:schemeClr val="dk1"/>
                </a:solidFill>
              </a:rPr>
              <a:t>THANK YOU</a:t>
            </a:r>
            <a:endParaRPr b="1"/>
          </a:p>
        </p:txBody>
      </p:sp>
      <p:sp>
        <p:nvSpPr>
          <p:cNvPr id="849" name="Google Shape;849;p18"/>
          <p:cNvSpPr txBox="1"/>
          <p:nvPr>
            <p:ph idx="12" type="sldNum"/>
          </p:nvPr>
        </p:nvSpPr>
        <p:spPr>
          <a:xfrm>
            <a:off x="8258967" y="6108173"/>
            <a:ext cx="427833"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000"/>
              <a:buFont typeface="Corbel"/>
              <a:buNone/>
            </a:pPr>
            <a:fld id="{00000000-1234-1234-1234-123412341234}" type="slidenum">
              <a:rPr lang="en-US">
                <a:solidFill>
                  <a:srgbClr val="000000"/>
                </a:solidFill>
              </a:rPr>
              <a:t>‹#›</a:t>
            </a:fld>
            <a:endParaRPr>
              <a:solidFill>
                <a:srgbClr val="000000"/>
              </a:solidFill>
            </a:endParaRPr>
          </a:p>
        </p:txBody>
      </p:sp>
      <p:pic>
        <p:nvPicPr>
          <p:cNvPr id="850" name="Google Shape;850;p18"/>
          <p:cNvPicPr preferRelativeResize="0"/>
          <p:nvPr/>
        </p:nvPicPr>
        <p:blipFill rotWithShape="1">
          <a:blip r:embed="rId3">
            <a:alphaModFix/>
          </a:blip>
          <a:srcRect b="0" l="0" r="0" t="0"/>
          <a:stretch/>
        </p:blipFill>
        <p:spPr>
          <a:xfrm>
            <a:off x="7700675" y="539100"/>
            <a:ext cx="851975" cy="622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Namratha</dc:creator>
</cp:coreProperties>
</file>